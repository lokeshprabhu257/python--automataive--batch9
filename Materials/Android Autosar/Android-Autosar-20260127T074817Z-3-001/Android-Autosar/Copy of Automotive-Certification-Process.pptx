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a:ln/>
        </p:spPr>
      </p:sp>
      <p:sp>
        <p:nvSpPr>
          <p:cNvPr id="3" name="Shape 1"/>
          <p:cNvSpPr/>
          <p:nvPr/>
        </p:nvSpPr>
        <p:spPr>
          <a:xfrm>
            <a:off x="0" y="0"/>
            <a:ext cx="14630400" cy="8229600"/>
          </a:xfrm>
          <a:prstGeom prst="rect">
            <a:avLst/>
          </a:prstGeom>
          <a:solidFill>
            <a:srgbClr val="F7F7F7"/>
          </a:solidFill>
          <a:ln/>
        </p:spPr>
      </p:sp>
      <p:pic>
        <p:nvPicPr>
          <p:cNvPr id="4" name="Image 0" descr="preencoded.png">    </p:cNvPr>
          <p:cNvPicPr>
            <a:picLocks noChangeAspect="1"/>
          </p:cNvPicPr>
          <p:nvPr/>
        </p:nvPicPr>
        <p:blipFill>
          <a:blip r:embed="rId1"/>
          <a:stretch>
            <a:fillRect/>
          </a:stretch>
        </p:blipFill>
        <p:spPr>
          <a:xfrm>
            <a:off x="-7620" y="0"/>
            <a:ext cx="5486400" cy="8229600"/>
          </a:xfrm>
          <a:prstGeom prst="rect">
            <a:avLst/>
          </a:prstGeom>
        </p:spPr>
      </p:pic>
      <p:sp>
        <p:nvSpPr>
          <p:cNvPr id="5" name="Text 2"/>
          <p:cNvSpPr/>
          <p:nvPr/>
        </p:nvSpPr>
        <p:spPr>
          <a:xfrm>
            <a:off x="6319599" y="2456855"/>
            <a:ext cx="7477601" cy="1916430"/>
          </a:xfrm>
          <a:prstGeom prst="rect">
            <a:avLst/>
          </a:prstGeom>
          <a:noFill/>
          <a:ln/>
        </p:spPr>
        <p:txBody>
          <a:bodyPr wrap="square" rtlCol="0" anchor="t"/>
          <a:lstStyle/>
          <a:p>
            <a:pPr indent="0" marL="0">
              <a:lnSpc>
                <a:spcPts val="7545"/>
              </a:lnSpc>
              <a:buNone/>
            </a:pPr>
            <a:r>
              <a:rPr lang="en-US" sz="6036" dirty="0">
                <a:solidFill>
                  <a:srgbClr val="383838"/>
                </a:solidFill>
                <a:latin typeface="Patrick Hand" pitchFamily="34" charset="0"/>
                <a:ea typeface="Patrick Hand" pitchFamily="34" charset="-122"/>
                <a:cs typeface="Patrick Hand" pitchFamily="34" charset="-120"/>
              </a:rPr>
              <a:t>Automotive Certification Process</a:t>
            </a:r>
            <a:endParaRPr lang="en-US" sz="6036" dirty="0"/>
          </a:p>
        </p:txBody>
      </p:sp>
      <p:sp>
        <p:nvSpPr>
          <p:cNvPr id="6" name="Text 3"/>
          <p:cNvSpPr/>
          <p:nvPr/>
        </p:nvSpPr>
        <p:spPr>
          <a:xfrm>
            <a:off x="6319599" y="4706541"/>
            <a:ext cx="7477601" cy="1066205"/>
          </a:xfrm>
          <a:prstGeom prst="rect">
            <a:avLst/>
          </a:prstGeom>
          <a:noFill/>
          <a:ln/>
        </p:spPr>
        <p:txBody>
          <a:bodyPr wrap="square" rtlCol="0" anchor="t"/>
          <a:lstStyle/>
          <a:p>
            <a:pPr indent="0" marL="0">
              <a:lnSpc>
                <a:spcPts val="2799"/>
              </a:lnSpc>
              <a:buNone/>
            </a:pPr>
            <a:r>
              <a:rPr lang="en-US" sz="1750" dirty="0">
                <a:solidFill>
                  <a:srgbClr val="383838"/>
                </a:solidFill>
                <a:latin typeface="Patrick Hand" pitchFamily="34" charset="0"/>
                <a:ea typeface="Patrick Hand" pitchFamily="34" charset="-122"/>
                <a:cs typeface="Patrick Hand" pitchFamily="34" charset="-120"/>
              </a:rPr>
              <a:t>The certification process for automotive applications involves thorough testing, validation, and documentation to ensure vehicles meet rigorous regulatory standards. This comprehensive process helps maintain safety, quality, and compliance in the industry.</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a:ln/>
        </p:spPr>
      </p:sp>
      <p:sp>
        <p:nvSpPr>
          <p:cNvPr id="3" name="Shape 1"/>
          <p:cNvSpPr/>
          <p:nvPr/>
        </p:nvSpPr>
        <p:spPr>
          <a:xfrm>
            <a:off x="0" y="0"/>
            <a:ext cx="14630400" cy="8229600"/>
          </a:xfrm>
          <a:prstGeom prst="rect">
            <a:avLst/>
          </a:prstGeom>
          <a:solidFill>
            <a:srgbClr val="F7F7F7"/>
          </a:solidFill>
          <a:ln/>
        </p:spPr>
      </p:sp>
      <p:pic>
        <p:nvPicPr>
          <p:cNvPr id="4" name="Image 0" descr="preencoded.png">    </p:cNvPr>
          <p:cNvPicPr>
            <a:picLocks noChangeAspect="1"/>
          </p:cNvPicPr>
          <p:nvPr/>
        </p:nvPicPr>
        <p:blipFill>
          <a:blip r:embed="rId1"/>
          <a:stretch>
            <a:fillRect/>
          </a:stretch>
        </p:blipFill>
        <p:spPr>
          <a:xfrm>
            <a:off x="10980420" y="0"/>
            <a:ext cx="3657600" cy="8229600"/>
          </a:xfrm>
          <a:prstGeom prst="rect">
            <a:avLst/>
          </a:prstGeom>
        </p:spPr>
      </p:pic>
      <p:sp>
        <p:nvSpPr>
          <p:cNvPr id="5" name="Text 2"/>
          <p:cNvSpPr/>
          <p:nvPr/>
        </p:nvSpPr>
        <p:spPr>
          <a:xfrm>
            <a:off x="1264563" y="2048708"/>
            <a:ext cx="8000405" cy="694373"/>
          </a:xfrm>
          <a:prstGeom prst="rect">
            <a:avLst/>
          </a:prstGeom>
          <a:noFill/>
          <a:ln/>
        </p:spPr>
        <p:txBody>
          <a:bodyPr wrap="none" rtlCol="0" anchor="t"/>
          <a:lstStyle/>
          <a:p>
            <a:pPr indent="0" marL="0">
              <a:lnSpc>
                <a:spcPts val="5468"/>
              </a:lnSpc>
              <a:buNone/>
            </a:pPr>
            <a:r>
              <a:rPr lang="en-US" sz="4374" dirty="0">
                <a:solidFill>
                  <a:srgbClr val="383838"/>
                </a:solidFill>
                <a:latin typeface="Patrick Hand" pitchFamily="34" charset="0"/>
                <a:ea typeface="Patrick Hand" pitchFamily="34" charset="-122"/>
                <a:cs typeface="Patrick Hand" pitchFamily="34" charset="-120"/>
              </a:rPr>
              <a:t>Regulatory Standards and Requirements</a:t>
            </a:r>
            <a:endParaRPr lang="en-US" sz="4374" dirty="0"/>
          </a:p>
        </p:txBody>
      </p:sp>
      <p:sp>
        <p:nvSpPr>
          <p:cNvPr id="6" name="Shape 3"/>
          <p:cNvSpPr/>
          <p:nvPr/>
        </p:nvSpPr>
        <p:spPr>
          <a:xfrm>
            <a:off x="1264563" y="3249930"/>
            <a:ext cx="499943" cy="499943"/>
          </a:xfrm>
          <a:prstGeom prst="roundRect">
            <a:avLst>
              <a:gd name="adj" fmla="val 20000"/>
            </a:avLst>
          </a:prstGeom>
          <a:solidFill>
            <a:srgbClr val="E6E6E6"/>
          </a:solidFill>
          <a:ln w="7620">
            <a:solidFill>
              <a:srgbClr val="CCCCCC"/>
            </a:solidFill>
            <a:prstDash val="solid"/>
          </a:ln>
        </p:spPr>
      </p:sp>
      <p:sp>
        <p:nvSpPr>
          <p:cNvPr id="7" name="Text 4"/>
          <p:cNvSpPr/>
          <p:nvPr/>
        </p:nvSpPr>
        <p:spPr>
          <a:xfrm>
            <a:off x="1453991" y="3291602"/>
            <a:ext cx="121087" cy="416481"/>
          </a:xfrm>
          <a:prstGeom prst="rect">
            <a:avLst/>
          </a:prstGeom>
          <a:noFill/>
          <a:ln/>
        </p:spPr>
        <p:txBody>
          <a:bodyPr wrap="none" rtlCol="0" anchor="t"/>
          <a:lstStyle/>
          <a:p>
            <a:pPr algn="ctr" indent="0" marL="0">
              <a:lnSpc>
                <a:spcPts val="3281"/>
              </a:lnSpc>
              <a:buNone/>
            </a:pPr>
            <a:r>
              <a:rPr lang="en-US" sz="2624" dirty="0">
                <a:solidFill>
                  <a:srgbClr val="383838"/>
                </a:solidFill>
                <a:latin typeface="Patrick Hand" pitchFamily="34" charset="0"/>
                <a:ea typeface="Patrick Hand" pitchFamily="34" charset="-122"/>
                <a:cs typeface="Patrick Hand" pitchFamily="34" charset="-120"/>
              </a:rPr>
              <a:t>1</a:t>
            </a:r>
            <a:endParaRPr lang="en-US" sz="2624" dirty="0"/>
          </a:p>
        </p:txBody>
      </p:sp>
      <p:sp>
        <p:nvSpPr>
          <p:cNvPr id="8" name="Text 5"/>
          <p:cNvSpPr/>
          <p:nvPr/>
        </p:nvSpPr>
        <p:spPr>
          <a:xfrm>
            <a:off x="1986677" y="3326249"/>
            <a:ext cx="2777490" cy="347186"/>
          </a:xfrm>
          <a:prstGeom prst="rect">
            <a:avLst/>
          </a:prstGeom>
          <a:noFill/>
          <a:ln/>
        </p:spPr>
        <p:txBody>
          <a:bodyPr wrap="none" rtlCol="0" anchor="t"/>
          <a:lstStyle/>
          <a:p>
            <a:pPr indent="0" marL="0">
              <a:lnSpc>
                <a:spcPts val="2734"/>
              </a:lnSpc>
              <a:buNone/>
            </a:pPr>
            <a:r>
              <a:rPr lang="en-US" sz="2187" dirty="0">
                <a:solidFill>
                  <a:srgbClr val="383838"/>
                </a:solidFill>
                <a:latin typeface="Patrick Hand" pitchFamily="34" charset="0"/>
                <a:ea typeface="Patrick Hand" pitchFamily="34" charset="-122"/>
                <a:cs typeface="Patrick Hand" pitchFamily="34" charset="-120"/>
              </a:rPr>
              <a:t>Safety Standards</a:t>
            </a:r>
            <a:endParaRPr lang="en-US" sz="2187" dirty="0"/>
          </a:p>
        </p:txBody>
      </p:sp>
      <p:sp>
        <p:nvSpPr>
          <p:cNvPr id="9" name="Text 6"/>
          <p:cNvSpPr/>
          <p:nvPr/>
        </p:nvSpPr>
        <p:spPr>
          <a:xfrm>
            <a:off x="1986677" y="3806666"/>
            <a:ext cx="3388638" cy="1066205"/>
          </a:xfrm>
          <a:prstGeom prst="rect">
            <a:avLst/>
          </a:prstGeom>
          <a:noFill/>
          <a:ln/>
        </p:spPr>
        <p:txBody>
          <a:bodyPr wrap="square" rtlCol="0" anchor="t"/>
          <a:lstStyle/>
          <a:p>
            <a:pPr indent="0" marL="0">
              <a:lnSpc>
                <a:spcPts val="2799"/>
              </a:lnSpc>
              <a:buNone/>
            </a:pPr>
            <a:r>
              <a:rPr lang="en-US" sz="1750" dirty="0">
                <a:solidFill>
                  <a:srgbClr val="383838"/>
                </a:solidFill>
                <a:latin typeface="Patrick Hand" pitchFamily="34" charset="0"/>
                <a:ea typeface="Patrick Hand" pitchFamily="34" charset="-122"/>
                <a:cs typeface="Patrick Hand" pitchFamily="34" charset="-120"/>
              </a:rPr>
              <a:t>Strict guidelines for occupant protection, crash performance, and active/passive safety features.</a:t>
            </a:r>
            <a:endParaRPr lang="en-US" sz="1750" dirty="0"/>
          </a:p>
        </p:txBody>
      </p:sp>
      <p:sp>
        <p:nvSpPr>
          <p:cNvPr id="10" name="Shape 7"/>
          <p:cNvSpPr/>
          <p:nvPr/>
        </p:nvSpPr>
        <p:spPr>
          <a:xfrm>
            <a:off x="5597485" y="3249930"/>
            <a:ext cx="499943" cy="499943"/>
          </a:xfrm>
          <a:prstGeom prst="roundRect">
            <a:avLst>
              <a:gd name="adj" fmla="val 20000"/>
            </a:avLst>
          </a:prstGeom>
          <a:solidFill>
            <a:srgbClr val="E6E6E6"/>
          </a:solidFill>
          <a:ln w="7620">
            <a:solidFill>
              <a:srgbClr val="CCCCCC"/>
            </a:solidFill>
            <a:prstDash val="solid"/>
          </a:ln>
        </p:spPr>
      </p:sp>
      <p:sp>
        <p:nvSpPr>
          <p:cNvPr id="11" name="Text 8"/>
          <p:cNvSpPr/>
          <p:nvPr/>
        </p:nvSpPr>
        <p:spPr>
          <a:xfrm>
            <a:off x="5769412" y="3291602"/>
            <a:ext cx="155972" cy="416481"/>
          </a:xfrm>
          <a:prstGeom prst="rect">
            <a:avLst/>
          </a:prstGeom>
          <a:noFill/>
          <a:ln/>
        </p:spPr>
        <p:txBody>
          <a:bodyPr wrap="none" rtlCol="0" anchor="t"/>
          <a:lstStyle/>
          <a:p>
            <a:pPr algn="ctr" indent="0" marL="0">
              <a:lnSpc>
                <a:spcPts val="3281"/>
              </a:lnSpc>
              <a:buNone/>
            </a:pPr>
            <a:r>
              <a:rPr lang="en-US" sz="2624" dirty="0">
                <a:solidFill>
                  <a:srgbClr val="383838"/>
                </a:solidFill>
                <a:latin typeface="Patrick Hand" pitchFamily="34" charset="0"/>
                <a:ea typeface="Patrick Hand" pitchFamily="34" charset="-122"/>
                <a:cs typeface="Patrick Hand" pitchFamily="34" charset="-120"/>
              </a:rPr>
              <a:t>2</a:t>
            </a:r>
            <a:endParaRPr lang="en-US" sz="2624" dirty="0"/>
          </a:p>
        </p:txBody>
      </p:sp>
      <p:sp>
        <p:nvSpPr>
          <p:cNvPr id="12" name="Text 9"/>
          <p:cNvSpPr/>
          <p:nvPr/>
        </p:nvSpPr>
        <p:spPr>
          <a:xfrm>
            <a:off x="6319599" y="3326249"/>
            <a:ext cx="2777490" cy="347186"/>
          </a:xfrm>
          <a:prstGeom prst="rect">
            <a:avLst/>
          </a:prstGeom>
          <a:noFill/>
          <a:ln/>
        </p:spPr>
        <p:txBody>
          <a:bodyPr wrap="none" rtlCol="0" anchor="t"/>
          <a:lstStyle/>
          <a:p>
            <a:pPr indent="0" marL="0">
              <a:lnSpc>
                <a:spcPts val="2734"/>
              </a:lnSpc>
              <a:buNone/>
            </a:pPr>
            <a:r>
              <a:rPr lang="en-US" sz="2187" dirty="0">
                <a:solidFill>
                  <a:srgbClr val="383838"/>
                </a:solidFill>
                <a:latin typeface="Patrick Hand" pitchFamily="34" charset="0"/>
                <a:ea typeface="Patrick Hand" pitchFamily="34" charset="-122"/>
                <a:cs typeface="Patrick Hand" pitchFamily="34" charset="-120"/>
              </a:rPr>
              <a:t>Emissions Regulations</a:t>
            </a:r>
            <a:endParaRPr lang="en-US" sz="2187" dirty="0"/>
          </a:p>
        </p:txBody>
      </p:sp>
      <p:sp>
        <p:nvSpPr>
          <p:cNvPr id="13" name="Text 10"/>
          <p:cNvSpPr/>
          <p:nvPr/>
        </p:nvSpPr>
        <p:spPr>
          <a:xfrm>
            <a:off x="6319599" y="3806666"/>
            <a:ext cx="3388638" cy="1066205"/>
          </a:xfrm>
          <a:prstGeom prst="rect">
            <a:avLst/>
          </a:prstGeom>
          <a:noFill/>
          <a:ln/>
        </p:spPr>
        <p:txBody>
          <a:bodyPr wrap="square" rtlCol="0" anchor="t"/>
          <a:lstStyle/>
          <a:p>
            <a:pPr indent="0" marL="0">
              <a:lnSpc>
                <a:spcPts val="2799"/>
              </a:lnSpc>
              <a:buNone/>
            </a:pPr>
            <a:r>
              <a:rPr lang="en-US" sz="1750" dirty="0">
                <a:solidFill>
                  <a:srgbClr val="383838"/>
                </a:solidFill>
                <a:latin typeface="Patrick Hand" pitchFamily="34" charset="0"/>
                <a:ea typeface="Patrick Hand" pitchFamily="34" charset="-122"/>
                <a:cs typeface="Patrick Hand" pitchFamily="34" charset="-120"/>
              </a:rPr>
              <a:t>Compliance with environmental regulations for exhaust and greenhouse gas emissions.</a:t>
            </a:r>
            <a:endParaRPr lang="en-US" sz="1750" dirty="0"/>
          </a:p>
        </p:txBody>
      </p:sp>
      <p:sp>
        <p:nvSpPr>
          <p:cNvPr id="14" name="Shape 11"/>
          <p:cNvSpPr/>
          <p:nvPr/>
        </p:nvSpPr>
        <p:spPr>
          <a:xfrm>
            <a:off x="1264563" y="5268635"/>
            <a:ext cx="499943" cy="499943"/>
          </a:xfrm>
          <a:prstGeom prst="roundRect">
            <a:avLst>
              <a:gd name="adj" fmla="val 20000"/>
            </a:avLst>
          </a:prstGeom>
          <a:solidFill>
            <a:srgbClr val="E6E6E6"/>
          </a:solidFill>
          <a:ln w="7620">
            <a:solidFill>
              <a:srgbClr val="CCCCCC"/>
            </a:solidFill>
            <a:prstDash val="solid"/>
          </a:ln>
        </p:spPr>
      </p:sp>
      <p:sp>
        <p:nvSpPr>
          <p:cNvPr id="15" name="Text 12"/>
          <p:cNvSpPr/>
          <p:nvPr/>
        </p:nvSpPr>
        <p:spPr>
          <a:xfrm>
            <a:off x="1439823" y="5310307"/>
            <a:ext cx="149304" cy="416481"/>
          </a:xfrm>
          <a:prstGeom prst="rect">
            <a:avLst/>
          </a:prstGeom>
          <a:noFill/>
          <a:ln/>
        </p:spPr>
        <p:txBody>
          <a:bodyPr wrap="none" rtlCol="0" anchor="t"/>
          <a:lstStyle/>
          <a:p>
            <a:pPr algn="ctr" indent="0" marL="0">
              <a:lnSpc>
                <a:spcPts val="3281"/>
              </a:lnSpc>
              <a:buNone/>
            </a:pPr>
            <a:r>
              <a:rPr lang="en-US" sz="2624" dirty="0">
                <a:solidFill>
                  <a:srgbClr val="383838"/>
                </a:solidFill>
                <a:latin typeface="Patrick Hand" pitchFamily="34" charset="0"/>
                <a:ea typeface="Patrick Hand" pitchFamily="34" charset="-122"/>
                <a:cs typeface="Patrick Hand" pitchFamily="34" charset="-120"/>
              </a:rPr>
              <a:t>3</a:t>
            </a:r>
            <a:endParaRPr lang="en-US" sz="2624" dirty="0"/>
          </a:p>
        </p:txBody>
      </p:sp>
      <p:sp>
        <p:nvSpPr>
          <p:cNvPr id="16" name="Text 13"/>
          <p:cNvSpPr/>
          <p:nvPr/>
        </p:nvSpPr>
        <p:spPr>
          <a:xfrm>
            <a:off x="1986677" y="5344954"/>
            <a:ext cx="2777490" cy="347186"/>
          </a:xfrm>
          <a:prstGeom prst="rect">
            <a:avLst/>
          </a:prstGeom>
          <a:noFill/>
          <a:ln/>
        </p:spPr>
        <p:txBody>
          <a:bodyPr wrap="none" rtlCol="0" anchor="t"/>
          <a:lstStyle/>
          <a:p>
            <a:pPr indent="0" marL="0">
              <a:lnSpc>
                <a:spcPts val="2734"/>
              </a:lnSpc>
              <a:buNone/>
            </a:pPr>
            <a:r>
              <a:rPr lang="en-US" sz="2187" dirty="0">
                <a:solidFill>
                  <a:srgbClr val="383838"/>
                </a:solidFill>
                <a:latin typeface="Patrick Hand" pitchFamily="34" charset="0"/>
                <a:ea typeface="Patrick Hand" pitchFamily="34" charset="-122"/>
                <a:cs typeface="Patrick Hand" pitchFamily="34" charset="-120"/>
              </a:rPr>
              <a:t>Quality Criteria</a:t>
            </a:r>
            <a:endParaRPr lang="en-US" sz="2187" dirty="0"/>
          </a:p>
        </p:txBody>
      </p:sp>
      <p:sp>
        <p:nvSpPr>
          <p:cNvPr id="17" name="Text 14"/>
          <p:cNvSpPr/>
          <p:nvPr/>
        </p:nvSpPr>
        <p:spPr>
          <a:xfrm>
            <a:off x="1986677" y="5825371"/>
            <a:ext cx="7721441" cy="355402"/>
          </a:xfrm>
          <a:prstGeom prst="rect">
            <a:avLst/>
          </a:prstGeom>
          <a:noFill/>
          <a:ln/>
        </p:spPr>
        <p:txBody>
          <a:bodyPr wrap="none" rtlCol="0" anchor="t"/>
          <a:lstStyle/>
          <a:p>
            <a:pPr indent="0" marL="0">
              <a:lnSpc>
                <a:spcPts val="2799"/>
              </a:lnSpc>
              <a:buNone/>
            </a:pPr>
            <a:r>
              <a:rPr lang="en-US" sz="1750" dirty="0">
                <a:solidFill>
                  <a:srgbClr val="383838"/>
                </a:solidFill>
                <a:latin typeface="Patrick Hand" pitchFamily="34" charset="0"/>
                <a:ea typeface="Patrick Hand" pitchFamily="34" charset="-122"/>
                <a:cs typeface="Patrick Hand" pitchFamily="34" charset="-120"/>
              </a:rPr>
              <a:t>Detailed specifications for materials, components, and manufacturing processes.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a:ln/>
        </p:spPr>
      </p:sp>
      <p:sp>
        <p:nvSpPr>
          <p:cNvPr id="3" name="Shape 1"/>
          <p:cNvSpPr/>
          <p:nvPr/>
        </p:nvSpPr>
        <p:spPr>
          <a:xfrm>
            <a:off x="0" y="0"/>
            <a:ext cx="14630400" cy="8229600"/>
          </a:xfrm>
          <a:prstGeom prst="rect">
            <a:avLst/>
          </a:prstGeom>
          <a:solidFill>
            <a:srgbClr val="F7F7F7"/>
          </a:solidFill>
          <a:ln/>
        </p:spPr>
      </p:sp>
      <p:pic>
        <p:nvPicPr>
          <p:cNvPr id="4" name="Image 0" descr="preencoded.png">    </p:cNvPr>
          <p:cNvPicPr>
            <a:picLocks noChangeAspect="1"/>
          </p:cNvPicPr>
          <p:nvPr/>
        </p:nvPicPr>
        <p:blipFill>
          <a:blip r:embed="rId1"/>
          <a:stretch>
            <a:fillRect/>
          </a:stretch>
        </p:blipFill>
        <p:spPr>
          <a:xfrm>
            <a:off x="10980420" y="0"/>
            <a:ext cx="3657600" cy="8229600"/>
          </a:xfrm>
          <a:prstGeom prst="rect">
            <a:avLst/>
          </a:prstGeom>
        </p:spPr>
      </p:pic>
      <p:sp>
        <p:nvSpPr>
          <p:cNvPr id="5" name="Text 2"/>
          <p:cNvSpPr/>
          <p:nvPr/>
        </p:nvSpPr>
        <p:spPr>
          <a:xfrm>
            <a:off x="1264563" y="1280874"/>
            <a:ext cx="6832878" cy="694373"/>
          </a:xfrm>
          <a:prstGeom prst="rect">
            <a:avLst/>
          </a:prstGeom>
          <a:noFill/>
          <a:ln/>
        </p:spPr>
        <p:txBody>
          <a:bodyPr wrap="none" rtlCol="0" anchor="t"/>
          <a:lstStyle/>
          <a:p>
            <a:pPr indent="0" marL="0">
              <a:lnSpc>
                <a:spcPts val="5468"/>
              </a:lnSpc>
              <a:buNone/>
            </a:pPr>
            <a:r>
              <a:rPr lang="en-US" sz="4374" dirty="0">
                <a:solidFill>
                  <a:srgbClr val="383838"/>
                </a:solidFill>
                <a:latin typeface="Patrick Hand" pitchFamily="34" charset="0"/>
                <a:ea typeface="Patrick Hand" pitchFamily="34" charset="-122"/>
                <a:cs typeface="Patrick Hand" pitchFamily="34" charset="-120"/>
              </a:rPr>
              <a:t>Testing and Validation Procedures</a:t>
            </a:r>
            <a:endParaRPr lang="en-US" sz="4374" dirty="0"/>
          </a:p>
        </p:txBody>
      </p:sp>
      <p:sp>
        <p:nvSpPr>
          <p:cNvPr id="6" name="Shape 3"/>
          <p:cNvSpPr/>
          <p:nvPr/>
        </p:nvSpPr>
        <p:spPr>
          <a:xfrm>
            <a:off x="1575673" y="2308503"/>
            <a:ext cx="44410" cy="4640223"/>
          </a:xfrm>
          <a:prstGeom prst="roundRect">
            <a:avLst>
              <a:gd name="adj" fmla="val 225151"/>
            </a:avLst>
          </a:prstGeom>
          <a:solidFill>
            <a:srgbClr val="CCCCCC"/>
          </a:solidFill>
          <a:ln/>
        </p:spPr>
      </p:sp>
      <p:sp>
        <p:nvSpPr>
          <p:cNvPr id="7" name="Shape 4"/>
          <p:cNvSpPr/>
          <p:nvPr/>
        </p:nvSpPr>
        <p:spPr>
          <a:xfrm>
            <a:off x="1847790" y="2709803"/>
            <a:ext cx="777597" cy="44410"/>
          </a:xfrm>
          <a:prstGeom prst="roundRect">
            <a:avLst>
              <a:gd name="adj" fmla="val 225151"/>
            </a:avLst>
          </a:prstGeom>
          <a:solidFill>
            <a:srgbClr val="CCCCCC"/>
          </a:solidFill>
          <a:ln/>
        </p:spPr>
      </p:sp>
      <p:sp>
        <p:nvSpPr>
          <p:cNvPr id="8" name="Shape 5"/>
          <p:cNvSpPr/>
          <p:nvPr/>
        </p:nvSpPr>
        <p:spPr>
          <a:xfrm>
            <a:off x="1347847" y="2482096"/>
            <a:ext cx="499943" cy="499943"/>
          </a:xfrm>
          <a:prstGeom prst="roundRect">
            <a:avLst>
              <a:gd name="adj" fmla="val 20000"/>
            </a:avLst>
          </a:prstGeom>
          <a:solidFill>
            <a:srgbClr val="E6E6E6"/>
          </a:solidFill>
          <a:ln w="7620">
            <a:solidFill>
              <a:srgbClr val="CCCCCC"/>
            </a:solidFill>
            <a:prstDash val="solid"/>
          </a:ln>
        </p:spPr>
      </p:sp>
      <p:sp>
        <p:nvSpPr>
          <p:cNvPr id="9" name="Text 6"/>
          <p:cNvSpPr/>
          <p:nvPr/>
        </p:nvSpPr>
        <p:spPr>
          <a:xfrm>
            <a:off x="1537275" y="2523768"/>
            <a:ext cx="121087" cy="416481"/>
          </a:xfrm>
          <a:prstGeom prst="rect">
            <a:avLst/>
          </a:prstGeom>
          <a:noFill/>
          <a:ln/>
        </p:spPr>
        <p:txBody>
          <a:bodyPr wrap="none" rtlCol="0" anchor="t"/>
          <a:lstStyle/>
          <a:p>
            <a:pPr algn="ctr" indent="0" marL="0">
              <a:lnSpc>
                <a:spcPts val="3281"/>
              </a:lnSpc>
              <a:buNone/>
            </a:pPr>
            <a:r>
              <a:rPr lang="en-US" sz="2624" dirty="0">
                <a:solidFill>
                  <a:srgbClr val="383838"/>
                </a:solidFill>
                <a:latin typeface="Patrick Hand" pitchFamily="34" charset="0"/>
                <a:ea typeface="Patrick Hand" pitchFamily="34" charset="-122"/>
                <a:cs typeface="Patrick Hand" pitchFamily="34" charset="-120"/>
              </a:rPr>
              <a:t>1</a:t>
            </a:r>
            <a:endParaRPr lang="en-US" sz="2624" dirty="0"/>
          </a:p>
        </p:txBody>
      </p:sp>
      <p:sp>
        <p:nvSpPr>
          <p:cNvPr id="10" name="Text 7"/>
          <p:cNvSpPr/>
          <p:nvPr/>
        </p:nvSpPr>
        <p:spPr>
          <a:xfrm>
            <a:off x="2819876" y="2530673"/>
            <a:ext cx="2777490" cy="347186"/>
          </a:xfrm>
          <a:prstGeom prst="rect">
            <a:avLst/>
          </a:prstGeom>
          <a:noFill/>
          <a:ln/>
        </p:spPr>
        <p:txBody>
          <a:bodyPr wrap="none" rtlCol="0" anchor="t"/>
          <a:lstStyle/>
          <a:p>
            <a:pPr algn="l" indent="0" marL="0">
              <a:lnSpc>
                <a:spcPts val="2734"/>
              </a:lnSpc>
              <a:buNone/>
            </a:pPr>
            <a:r>
              <a:rPr lang="en-US" sz="2187" dirty="0">
                <a:solidFill>
                  <a:srgbClr val="383838"/>
                </a:solidFill>
                <a:latin typeface="Patrick Hand" pitchFamily="34" charset="0"/>
                <a:ea typeface="Patrick Hand" pitchFamily="34" charset="-122"/>
                <a:cs typeface="Patrick Hand" pitchFamily="34" charset="-120"/>
              </a:rPr>
              <a:t>Design Validation</a:t>
            </a:r>
            <a:endParaRPr lang="en-US" sz="2187" dirty="0"/>
          </a:p>
        </p:txBody>
      </p:sp>
      <p:sp>
        <p:nvSpPr>
          <p:cNvPr id="11" name="Text 8"/>
          <p:cNvSpPr/>
          <p:nvPr/>
        </p:nvSpPr>
        <p:spPr>
          <a:xfrm>
            <a:off x="2819876" y="3011091"/>
            <a:ext cx="6888242" cy="355402"/>
          </a:xfrm>
          <a:prstGeom prst="rect">
            <a:avLst/>
          </a:prstGeom>
          <a:noFill/>
          <a:ln/>
        </p:spPr>
        <p:txBody>
          <a:bodyPr wrap="none" rtlCol="0" anchor="t"/>
          <a:lstStyle/>
          <a:p>
            <a:pPr algn="l" indent="0" marL="0">
              <a:lnSpc>
                <a:spcPts val="2799"/>
              </a:lnSpc>
              <a:buNone/>
            </a:pPr>
            <a:r>
              <a:rPr lang="en-US" sz="1750" dirty="0">
                <a:solidFill>
                  <a:srgbClr val="383838"/>
                </a:solidFill>
                <a:latin typeface="Patrick Hand" pitchFamily="34" charset="0"/>
                <a:ea typeface="Patrick Hand" pitchFamily="34" charset="-122"/>
                <a:cs typeface="Patrick Hand" pitchFamily="34" charset="-120"/>
              </a:rPr>
              <a:t>Extensive computer simulations and prototyping to verify design integrity.</a:t>
            </a:r>
            <a:endParaRPr lang="en-US" sz="1750" dirty="0"/>
          </a:p>
        </p:txBody>
      </p:sp>
      <p:sp>
        <p:nvSpPr>
          <p:cNvPr id="12" name="Shape 9"/>
          <p:cNvSpPr/>
          <p:nvPr/>
        </p:nvSpPr>
        <p:spPr>
          <a:xfrm>
            <a:off x="1847790" y="4212134"/>
            <a:ext cx="777597" cy="44410"/>
          </a:xfrm>
          <a:prstGeom prst="roundRect">
            <a:avLst>
              <a:gd name="adj" fmla="val 225151"/>
            </a:avLst>
          </a:prstGeom>
          <a:solidFill>
            <a:srgbClr val="CCCCCC"/>
          </a:solidFill>
          <a:ln/>
        </p:spPr>
      </p:sp>
      <p:sp>
        <p:nvSpPr>
          <p:cNvPr id="13" name="Shape 10"/>
          <p:cNvSpPr/>
          <p:nvPr/>
        </p:nvSpPr>
        <p:spPr>
          <a:xfrm>
            <a:off x="1347847" y="3984427"/>
            <a:ext cx="499943" cy="499943"/>
          </a:xfrm>
          <a:prstGeom prst="roundRect">
            <a:avLst>
              <a:gd name="adj" fmla="val 20000"/>
            </a:avLst>
          </a:prstGeom>
          <a:solidFill>
            <a:srgbClr val="E6E6E6"/>
          </a:solidFill>
          <a:ln w="7620">
            <a:solidFill>
              <a:srgbClr val="CCCCCC"/>
            </a:solidFill>
            <a:prstDash val="solid"/>
          </a:ln>
        </p:spPr>
      </p:sp>
      <p:sp>
        <p:nvSpPr>
          <p:cNvPr id="14" name="Text 11"/>
          <p:cNvSpPr/>
          <p:nvPr/>
        </p:nvSpPr>
        <p:spPr>
          <a:xfrm>
            <a:off x="1519773" y="4026098"/>
            <a:ext cx="155972" cy="416481"/>
          </a:xfrm>
          <a:prstGeom prst="rect">
            <a:avLst/>
          </a:prstGeom>
          <a:noFill/>
          <a:ln/>
        </p:spPr>
        <p:txBody>
          <a:bodyPr wrap="none" rtlCol="0" anchor="t"/>
          <a:lstStyle/>
          <a:p>
            <a:pPr algn="ctr" indent="0" marL="0">
              <a:lnSpc>
                <a:spcPts val="3281"/>
              </a:lnSpc>
              <a:buNone/>
            </a:pPr>
            <a:r>
              <a:rPr lang="en-US" sz="2624" dirty="0">
                <a:solidFill>
                  <a:srgbClr val="383838"/>
                </a:solidFill>
                <a:latin typeface="Patrick Hand" pitchFamily="34" charset="0"/>
                <a:ea typeface="Patrick Hand" pitchFamily="34" charset="-122"/>
                <a:cs typeface="Patrick Hand" pitchFamily="34" charset="-120"/>
              </a:rPr>
              <a:t>2</a:t>
            </a:r>
            <a:endParaRPr lang="en-US" sz="2624" dirty="0"/>
          </a:p>
        </p:txBody>
      </p:sp>
      <p:sp>
        <p:nvSpPr>
          <p:cNvPr id="15" name="Text 12"/>
          <p:cNvSpPr/>
          <p:nvPr/>
        </p:nvSpPr>
        <p:spPr>
          <a:xfrm>
            <a:off x="2819876" y="4033004"/>
            <a:ext cx="2777490" cy="347186"/>
          </a:xfrm>
          <a:prstGeom prst="rect">
            <a:avLst/>
          </a:prstGeom>
          <a:noFill/>
          <a:ln/>
        </p:spPr>
        <p:txBody>
          <a:bodyPr wrap="none" rtlCol="0" anchor="t"/>
          <a:lstStyle/>
          <a:p>
            <a:pPr algn="l" indent="0" marL="0">
              <a:lnSpc>
                <a:spcPts val="2734"/>
              </a:lnSpc>
              <a:buNone/>
            </a:pPr>
            <a:r>
              <a:rPr lang="en-US" sz="2187" dirty="0">
                <a:solidFill>
                  <a:srgbClr val="383838"/>
                </a:solidFill>
                <a:latin typeface="Patrick Hand" pitchFamily="34" charset="0"/>
                <a:ea typeface="Patrick Hand" pitchFamily="34" charset="-122"/>
                <a:cs typeface="Patrick Hand" pitchFamily="34" charset="-120"/>
              </a:rPr>
              <a:t>Performance Testing</a:t>
            </a:r>
            <a:endParaRPr lang="en-US" sz="2187" dirty="0"/>
          </a:p>
        </p:txBody>
      </p:sp>
      <p:sp>
        <p:nvSpPr>
          <p:cNvPr id="16" name="Text 13"/>
          <p:cNvSpPr/>
          <p:nvPr/>
        </p:nvSpPr>
        <p:spPr>
          <a:xfrm>
            <a:off x="2819876" y="4513421"/>
            <a:ext cx="6888242" cy="710803"/>
          </a:xfrm>
          <a:prstGeom prst="rect">
            <a:avLst/>
          </a:prstGeom>
          <a:noFill/>
          <a:ln/>
        </p:spPr>
        <p:txBody>
          <a:bodyPr wrap="square" rtlCol="0" anchor="t"/>
          <a:lstStyle/>
          <a:p>
            <a:pPr algn="l" indent="0" marL="0">
              <a:lnSpc>
                <a:spcPts val="2799"/>
              </a:lnSpc>
              <a:buNone/>
            </a:pPr>
            <a:r>
              <a:rPr lang="en-US" sz="1750" dirty="0">
                <a:solidFill>
                  <a:srgbClr val="383838"/>
                </a:solidFill>
                <a:latin typeface="Patrick Hand" pitchFamily="34" charset="0"/>
                <a:ea typeface="Patrick Hand" pitchFamily="34" charset="-122"/>
                <a:cs typeface="Patrick Hand" pitchFamily="34" charset="-120"/>
              </a:rPr>
              <a:t>Real-world trials to assess handling, braking, acceleration, and other dynamic characteristics.</a:t>
            </a:r>
            <a:endParaRPr lang="en-US" sz="1750" dirty="0"/>
          </a:p>
        </p:txBody>
      </p:sp>
      <p:sp>
        <p:nvSpPr>
          <p:cNvPr id="17" name="Shape 14"/>
          <p:cNvSpPr/>
          <p:nvPr/>
        </p:nvSpPr>
        <p:spPr>
          <a:xfrm>
            <a:off x="1847790" y="6069866"/>
            <a:ext cx="777597" cy="44410"/>
          </a:xfrm>
          <a:prstGeom prst="roundRect">
            <a:avLst>
              <a:gd name="adj" fmla="val 225151"/>
            </a:avLst>
          </a:prstGeom>
          <a:solidFill>
            <a:srgbClr val="CCCCCC"/>
          </a:solidFill>
          <a:ln/>
        </p:spPr>
      </p:sp>
      <p:sp>
        <p:nvSpPr>
          <p:cNvPr id="18" name="Shape 15"/>
          <p:cNvSpPr/>
          <p:nvPr/>
        </p:nvSpPr>
        <p:spPr>
          <a:xfrm>
            <a:off x="1347847" y="5842159"/>
            <a:ext cx="499943" cy="499943"/>
          </a:xfrm>
          <a:prstGeom prst="roundRect">
            <a:avLst>
              <a:gd name="adj" fmla="val 20000"/>
            </a:avLst>
          </a:prstGeom>
          <a:solidFill>
            <a:srgbClr val="E6E6E6"/>
          </a:solidFill>
          <a:ln w="7620">
            <a:solidFill>
              <a:srgbClr val="CCCCCC"/>
            </a:solidFill>
            <a:prstDash val="solid"/>
          </a:ln>
        </p:spPr>
      </p:sp>
      <p:sp>
        <p:nvSpPr>
          <p:cNvPr id="19" name="Text 16"/>
          <p:cNvSpPr/>
          <p:nvPr/>
        </p:nvSpPr>
        <p:spPr>
          <a:xfrm>
            <a:off x="1523107" y="5883831"/>
            <a:ext cx="149304" cy="416481"/>
          </a:xfrm>
          <a:prstGeom prst="rect">
            <a:avLst/>
          </a:prstGeom>
          <a:noFill/>
          <a:ln/>
        </p:spPr>
        <p:txBody>
          <a:bodyPr wrap="none" rtlCol="0" anchor="t"/>
          <a:lstStyle/>
          <a:p>
            <a:pPr algn="ctr" indent="0" marL="0">
              <a:lnSpc>
                <a:spcPts val="3281"/>
              </a:lnSpc>
              <a:buNone/>
            </a:pPr>
            <a:r>
              <a:rPr lang="en-US" sz="2624" dirty="0">
                <a:solidFill>
                  <a:srgbClr val="383838"/>
                </a:solidFill>
                <a:latin typeface="Patrick Hand" pitchFamily="34" charset="0"/>
                <a:ea typeface="Patrick Hand" pitchFamily="34" charset="-122"/>
                <a:cs typeface="Patrick Hand" pitchFamily="34" charset="-120"/>
              </a:rPr>
              <a:t>3</a:t>
            </a:r>
            <a:endParaRPr lang="en-US" sz="2624" dirty="0"/>
          </a:p>
        </p:txBody>
      </p:sp>
      <p:sp>
        <p:nvSpPr>
          <p:cNvPr id="20" name="Text 17"/>
          <p:cNvSpPr/>
          <p:nvPr/>
        </p:nvSpPr>
        <p:spPr>
          <a:xfrm>
            <a:off x="2819876" y="5890736"/>
            <a:ext cx="2777490" cy="347186"/>
          </a:xfrm>
          <a:prstGeom prst="rect">
            <a:avLst/>
          </a:prstGeom>
          <a:noFill/>
          <a:ln/>
        </p:spPr>
        <p:txBody>
          <a:bodyPr wrap="none" rtlCol="0" anchor="t"/>
          <a:lstStyle/>
          <a:p>
            <a:pPr algn="l" indent="0" marL="0">
              <a:lnSpc>
                <a:spcPts val="2734"/>
              </a:lnSpc>
              <a:buNone/>
            </a:pPr>
            <a:r>
              <a:rPr lang="en-US" sz="2187" dirty="0">
                <a:solidFill>
                  <a:srgbClr val="383838"/>
                </a:solidFill>
                <a:latin typeface="Patrick Hand" pitchFamily="34" charset="0"/>
                <a:ea typeface="Patrick Hand" pitchFamily="34" charset="-122"/>
                <a:cs typeface="Patrick Hand" pitchFamily="34" charset="-120"/>
              </a:rPr>
              <a:t>Durability Evaluation</a:t>
            </a:r>
            <a:endParaRPr lang="en-US" sz="2187" dirty="0"/>
          </a:p>
        </p:txBody>
      </p:sp>
      <p:sp>
        <p:nvSpPr>
          <p:cNvPr id="21" name="Text 18"/>
          <p:cNvSpPr/>
          <p:nvPr/>
        </p:nvSpPr>
        <p:spPr>
          <a:xfrm>
            <a:off x="2819876" y="6371153"/>
            <a:ext cx="6888242" cy="355402"/>
          </a:xfrm>
          <a:prstGeom prst="rect">
            <a:avLst/>
          </a:prstGeom>
          <a:noFill/>
          <a:ln/>
        </p:spPr>
        <p:txBody>
          <a:bodyPr wrap="none" rtlCol="0" anchor="t"/>
          <a:lstStyle/>
          <a:p>
            <a:pPr algn="l" indent="0" marL="0">
              <a:lnSpc>
                <a:spcPts val="2799"/>
              </a:lnSpc>
              <a:buNone/>
            </a:pPr>
            <a:r>
              <a:rPr lang="en-US" sz="1750" dirty="0">
                <a:solidFill>
                  <a:srgbClr val="383838"/>
                </a:solidFill>
                <a:latin typeface="Patrick Hand" pitchFamily="34" charset="0"/>
                <a:ea typeface="Patrick Hand" pitchFamily="34" charset="-122"/>
                <a:cs typeface="Patrick Hand" pitchFamily="34" charset="-120"/>
              </a:rPr>
              <a:t>Rigorous endurance tests to ensure components can withstand long-term use.</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a:ln/>
        </p:spPr>
      </p:sp>
      <p:sp>
        <p:nvSpPr>
          <p:cNvPr id="3" name="Shape 1"/>
          <p:cNvSpPr/>
          <p:nvPr/>
        </p:nvSpPr>
        <p:spPr>
          <a:xfrm>
            <a:off x="0" y="0"/>
            <a:ext cx="14630400" cy="8229600"/>
          </a:xfrm>
          <a:prstGeom prst="rect">
            <a:avLst/>
          </a:prstGeom>
          <a:solidFill>
            <a:srgbClr val="F7F7F7"/>
          </a:solidFill>
          <a:ln/>
        </p:spPr>
      </p:sp>
      <p:sp>
        <p:nvSpPr>
          <p:cNvPr id="4" name="Text 2"/>
          <p:cNvSpPr/>
          <p:nvPr/>
        </p:nvSpPr>
        <p:spPr>
          <a:xfrm>
            <a:off x="3093363" y="2220873"/>
            <a:ext cx="8417004" cy="694373"/>
          </a:xfrm>
          <a:prstGeom prst="rect">
            <a:avLst/>
          </a:prstGeom>
          <a:noFill/>
          <a:ln/>
        </p:spPr>
        <p:txBody>
          <a:bodyPr wrap="none" rtlCol="0" anchor="t"/>
          <a:lstStyle/>
          <a:p>
            <a:pPr indent="0" marL="0">
              <a:lnSpc>
                <a:spcPts val="5468"/>
              </a:lnSpc>
              <a:buNone/>
            </a:pPr>
            <a:r>
              <a:rPr lang="en-US" sz="4374" dirty="0">
                <a:solidFill>
                  <a:srgbClr val="383838"/>
                </a:solidFill>
                <a:latin typeface="Patrick Hand" pitchFamily="34" charset="0"/>
                <a:ea typeface="Patrick Hand" pitchFamily="34" charset="-122"/>
                <a:cs typeface="Patrick Hand" pitchFamily="34" charset="-120"/>
              </a:rPr>
              <a:t>Certification Documentation and Approval</a:t>
            </a:r>
            <a:endParaRPr lang="en-US" sz="4374" dirty="0"/>
          </a:p>
        </p:txBody>
      </p:sp>
      <p:sp>
        <p:nvSpPr>
          <p:cNvPr id="5" name="Text 3"/>
          <p:cNvSpPr/>
          <p:nvPr/>
        </p:nvSpPr>
        <p:spPr>
          <a:xfrm>
            <a:off x="3093363" y="3470672"/>
            <a:ext cx="2452807" cy="694373"/>
          </a:xfrm>
          <a:prstGeom prst="rect">
            <a:avLst/>
          </a:prstGeom>
          <a:noFill/>
          <a:ln/>
        </p:spPr>
        <p:txBody>
          <a:bodyPr wrap="square" rtlCol="0" anchor="t"/>
          <a:lstStyle/>
          <a:p>
            <a:pPr indent="0" marL="0">
              <a:lnSpc>
                <a:spcPts val="2734"/>
              </a:lnSpc>
              <a:buNone/>
            </a:pPr>
            <a:r>
              <a:rPr lang="en-US" sz="2187" dirty="0">
                <a:solidFill>
                  <a:srgbClr val="383838"/>
                </a:solidFill>
                <a:latin typeface="Patrick Hand" pitchFamily="34" charset="0"/>
                <a:ea typeface="Patrick Hand" pitchFamily="34" charset="-122"/>
                <a:cs typeface="Patrick Hand" pitchFamily="34" charset="-120"/>
              </a:rPr>
              <a:t>Comprehensive Documentation</a:t>
            </a:r>
            <a:endParaRPr lang="en-US" sz="2187" dirty="0"/>
          </a:p>
        </p:txBody>
      </p:sp>
      <p:sp>
        <p:nvSpPr>
          <p:cNvPr id="6" name="Text 4"/>
          <p:cNvSpPr/>
          <p:nvPr/>
        </p:nvSpPr>
        <p:spPr>
          <a:xfrm>
            <a:off x="3093363" y="4387215"/>
            <a:ext cx="2452807" cy="1421606"/>
          </a:xfrm>
          <a:prstGeom prst="rect">
            <a:avLst/>
          </a:prstGeom>
          <a:noFill/>
          <a:ln/>
        </p:spPr>
        <p:txBody>
          <a:bodyPr wrap="square" rtlCol="0" anchor="t"/>
          <a:lstStyle/>
          <a:p>
            <a:pPr indent="0" marL="0">
              <a:lnSpc>
                <a:spcPts val="2799"/>
              </a:lnSpc>
              <a:buNone/>
            </a:pPr>
            <a:r>
              <a:rPr lang="en-US" sz="1750" dirty="0">
                <a:solidFill>
                  <a:srgbClr val="383838"/>
                </a:solidFill>
                <a:latin typeface="Patrick Hand" pitchFamily="34" charset="0"/>
                <a:ea typeface="Patrick Hand" pitchFamily="34" charset="-122"/>
                <a:cs typeface="Patrick Hand" pitchFamily="34" charset="-120"/>
              </a:rPr>
              <a:t>Detailed reports, test data, and technical specifications are compiled to demonstrate compliance.</a:t>
            </a:r>
            <a:endParaRPr lang="en-US" sz="1750" dirty="0"/>
          </a:p>
        </p:txBody>
      </p:sp>
      <p:sp>
        <p:nvSpPr>
          <p:cNvPr id="7" name="Text 5"/>
          <p:cNvSpPr/>
          <p:nvPr/>
        </p:nvSpPr>
        <p:spPr>
          <a:xfrm>
            <a:off x="6095762" y="3470672"/>
            <a:ext cx="2452807" cy="347186"/>
          </a:xfrm>
          <a:prstGeom prst="rect">
            <a:avLst/>
          </a:prstGeom>
          <a:noFill/>
          <a:ln/>
        </p:spPr>
        <p:txBody>
          <a:bodyPr wrap="none" rtlCol="0" anchor="t"/>
          <a:lstStyle/>
          <a:p>
            <a:pPr indent="0" marL="0">
              <a:lnSpc>
                <a:spcPts val="2734"/>
              </a:lnSpc>
              <a:buNone/>
            </a:pPr>
            <a:r>
              <a:rPr lang="en-US" sz="2187" dirty="0">
                <a:solidFill>
                  <a:srgbClr val="383838"/>
                </a:solidFill>
                <a:latin typeface="Patrick Hand" pitchFamily="34" charset="0"/>
                <a:ea typeface="Patrick Hand" pitchFamily="34" charset="-122"/>
                <a:cs typeface="Patrick Hand" pitchFamily="34" charset="-120"/>
              </a:rPr>
              <a:t>Regulatory Review</a:t>
            </a:r>
            <a:endParaRPr lang="en-US" sz="2187" dirty="0"/>
          </a:p>
        </p:txBody>
      </p:sp>
      <p:sp>
        <p:nvSpPr>
          <p:cNvPr id="8" name="Text 6"/>
          <p:cNvSpPr/>
          <p:nvPr/>
        </p:nvSpPr>
        <p:spPr>
          <a:xfrm>
            <a:off x="6095762" y="4040029"/>
            <a:ext cx="2452807" cy="1421606"/>
          </a:xfrm>
          <a:prstGeom prst="rect">
            <a:avLst/>
          </a:prstGeom>
          <a:noFill/>
          <a:ln/>
        </p:spPr>
        <p:txBody>
          <a:bodyPr wrap="square" rtlCol="0" anchor="t"/>
          <a:lstStyle/>
          <a:p>
            <a:pPr indent="0" marL="0">
              <a:lnSpc>
                <a:spcPts val="2799"/>
              </a:lnSpc>
              <a:buNone/>
            </a:pPr>
            <a:r>
              <a:rPr lang="en-US" sz="1750" dirty="0">
                <a:solidFill>
                  <a:srgbClr val="383838"/>
                </a:solidFill>
                <a:latin typeface="Patrick Hand" pitchFamily="34" charset="0"/>
                <a:ea typeface="Patrick Hand" pitchFamily="34" charset="-122"/>
                <a:cs typeface="Patrick Hand" pitchFamily="34" charset="-120"/>
              </a:rPr>
              <a:t>Government agencies thoroughly review the documentation and may conduct additional inspections.</a:t>
            </a:r>
            <a:endParaRPr lang="en-US" sz="1750" dirty="0"/>
          </a:p>
        </p:txBody>
      </p:sp>
      <p:sp>
        <p:nvSpPr>
          <p:cNvPr id="9" name="Text 7"/>
          <p:cNvSpPr/>
          <p:nvPr/>
        </p:nvSpPr>
        <p:spPr>
          <a:xfrm>
            <a:off x="9098161" y="3470672"/>
            <a:ext cx="2452807" cy="347186"/>
          </a:xfrm>
          <a:prstGeom prst="rect">
            <a:avLst/>
          </a:prstGeom>
          <a:noFill/>
          <a:ln/>
        </p:spPr>
        <p:txBody>
          <a:bodyPr wrap="none" rtlCol="0" anchor="t"/>
          <a:lstStyle/>
          <a:p>
            <a:pPr indent="0" marL="0">
              <a:lnSpc>
                <a:spcPts val="2734"/>
              </a:lnSpc>
              <a:buNone/>
            </a:pPr>
            <a:r>
              <a:rPr lang="en-US" sz="2187" dirty="0">
                <a:solidFill>
                  <a:srgbClr val="383838"/>
                </a:solidFill>
                <a:latin typeface="Patrick Hand" pitchFamily="34" charset="0"/>
                <a:ea typeface="Patrick Hand" pitchFamily="34" charset="-122"/>
                <a:cs typeface="Patrick Hand" pitchFamily="34" charset="-120"/>
              </a:rPr>
              <a:t>Final Approval</a:t>
            </a:r>
            <a:endParaRPr lang="en-US" sz="2187" dirty="0"/>
          </a:p>
        </p:txBody>
      </p:sp>
      <p:sp>
        <p:nvSpPr>
          <p:cNvPr id="10" name="Text 8"/>
          <p:cNvSpPr/>
          <p:nvPr/>
        </p:nvSpPr>
        <p:spPr>
          <a:xfrm>
            <a:off x="9098161" y="4040029"/>
            <a:ext cx="2452807" cy="1421606"/>
          </a:xfrm>
          <a:prstGeom prst="rect">
            <a:avLst/>
          </a:prstGeom>
          <a:noFill/>
          <a:ln/>
        </p:spPr>
        <p:txBody>
          <a:bodyPr wrap="square" rtlCol="0" anchor="t"/>
          <a:lstStyle/>
          <a:p>
            <a:pPr indent="0" marL="0">
              <a:lnSpc>
                <a:spcPts val="2799"/>
              </a:lnSpc>
              <a:buNone/>
            </a:pPr>
            <a:r>
              <a:rPr lang="en-US" sz="1750" dirty="0">
                <a:solidFill>
                  <a:srgbClr val="383838"/>
                </a:solidFill>
                <a:latin typeface="Patrick Hand" pitchFamily="34" charset="0"/>
                <a:ea typeface="Patrick Hand" pitchFamily="34" charset="-122"/>
                <a:cs typeface="Patrick Hand" pitchFamily="34" charset="-120"/>
              </a:rPr>
              <a:t>Once all requirements are met, the vehicle or component receives the necessary certifications.</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2024-05-27T08:42:37Z</dcterms:created>
  <dcterms:modified xsi:type="dcterms:W3CDTF">2024-05-27T08:42:37Z</dcterms:modified>
</cp:coreProperties>
</file>