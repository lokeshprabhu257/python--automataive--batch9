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ato"/>
      <p:regular r:id="rId17"/>
    </p:embeddedFont>
    <p:embeddedFont>
      <p:font typeface="Lato"/>
      <p:regular r:id="rId18"/>
    </p:embeddedFont>
    <p:embeddedFont>
      <p:font typeface="Lato"/>
      <p:regular r:id="rId19"/>
    </p:embeddedFont>
    <p:embeddedFont>
      <p:font typeface="Lato"/>
      <p:regular r:id="rId20"/>
    </p:embeddedFont>
    <p:embeddedFont>
      <p:font typeface="Lato"/>
      <p:regular r:id="rId21"/>
    </p:embeddedFont>
    <p:embeddedFont>
      <p:font typeface="Lato"/>
      <p:regular r:id="rId22"/>
    </p:embeddedFont>
    <p:embeddedFont>
      <p:font typeface="Lato"/>
      <p:regular r:id="rId23"/>
    </p:embeddedFont>
    <p:embeddedFont>
      <p:font typeface="La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Getting Started with Python: Pre-requisites, Setup, and Basics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comprehensive guide to launching your Python programming journey with confidence and clarity.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350" y="611029"/>
            <a:ext cx="7729299" cy="1263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Hardware &amp; Software Pre-requisites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7350" y="2177415"/>
            <a:ext cx="3763566" cy="2942868"/>
          </a:xfrm>
          <a:prstGeom prst="roundRect">
            <a:avLst>
              <a:gd name="adj" fmla="val 1030"/>
            </a:avLst>
          </a:prstGeom>
          <a:solidFill>
            <a:srgbClr val="E5DFD2"/>
          </a:solidFill>
          <a:ln/>
        </p:spPr>
      </p:sp>
      <p:sp>
        <p:nvSpPr>
          <p:cNvPr id="5" name="Shape 2"/>
          <p:cNvSpPr/>
          <p:nvPr/>
        </p:nvSpPr>
        <p:spPr>
          <a:xfrm>
            <a:off x="909399" y="2379464"/>
            <a:ext cx="606266" cy="606266"/>
          </a:xfrm>
          <a:prstGeom prst="roundRect">
            <a:avLst>
              <a:gd name="adj" fmla="val 15080980"/>
            </a:avLst>
          </a:prstGeom>
          <a:solidFill>
            <a:srgbClr val="28282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087" y="2546152"/>
            <a:ext cx="272772" cy="2727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399" y="3187779"/>
            <a:ext cx="2782848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Hardware Requirements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09399" y="3624739"/>
            <a:ext cx="3359468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Minimum 4GB RAM and 5GB free disk space. Desktop or laptop with a modern processor ensures smooth development experience.</a:t>
            </a:r>
            <a:endParaRPr lang="en-US" sz="1550" dirty="0"/>
          </a:p>
        </p:txBody>
      </p:sp>
      <p:sp>
        <p:nvSpPr>
          <p:cNvPr id="9" name="Shape 5"/>
          <p:cNvSpPr/>
          <p:nvPr/>
        </p:nvSpPr>
        <p:spPr>
          <a:xfrm>
            <a:off x="4672965" y="2177415"/>
            <a:ext cx="3763685" cy="2942868"/>
          </a:xfrm>
          <a:prstGeom prst="roundRect">
            <a:avLst>
              <a:gd name="adj" fmla="val 1030"/>
            </a:avLst>
          </a:prstGeom>
          <a:solidFill>
            <a:srgbClr val="E5DFD2"/>
          </a:solidFill>
          <a:ln/>
        </p:spPr>
      </p:sp>
      <p:sp>
        <p:nvSpPr>
          <p:cNvPr id="10" name="Shape 6"/>
          <p:cNvSpPr/>
          <p:nvPr/>
        </p:nvSpPr>
        <p:spPr>
          <a:xfrm>
            <a:off x="4875014" y="2379464"/>
            <a:ext cx="606266" cy="606266"/>
          </a:xfrm>
          <a:prstGeom prst="roundRect">
            <a:avLst>
              <a:gd name="adj" fmla="val 15080980"/>
            </a:avLst>
          </a:prstGeom>
          <a:solidFill>
            <a:srgbClr val="2828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1702" y="2546152"/>
            <a:ext cx="272772" cy="2727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75014" y="3187779"/>
            <a:ext cx="2526387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Operating Systems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4875014" y="3624739"/>
            <a:ext cx="3359587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macOS, Linux, or Windows supported. Linux and macOS offer native UNIX compatibility for seamless development workflows.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707350" y="5322332"/>
            <a:ext cx="7729299" cy="2296120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</p:sp>
      <p:sp>
        <p:nvSpPr>
          <p:cNvPr id="15" name="Shape 10"/>
          <p:cNvSpPr/>
          <p:nvPr/>
        </p:nvSpPr>
        <p:spPr>
          <a:xfrm>
            <a:off x="909399" y="5524381"/>
            <a:ext cx="606266" cy="606266"/>
          </a:xfrm>
          <a:prstGeom prst="roundRect">
            <a:avLst>
              <a:gd name="adj" fmla="val 15080980"/>
            </a:avLst>
          </a:prstGeom>
          <a:solidFill>
            <a:srgbClr val="28282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087" y="5691068"/>
            <a:ext cx="272772" cy="2727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9399" y="6332696"/>
            <a:ext cx="2526387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UNIX Matters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909399" y="6769656"/>
            <a:ext cx="7325201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production servers run Linux. Learning UNIX-based systems early helps you build skills that align with real-world deployment environments.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710" y="424101"/>
            <a:ext cx="5374719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Installing Python: Your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9710" y="1291471"/>
            <a:ext cx="2473881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Easy Installation Routes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39710" y="1754029"/>
            <a:ext cx="154186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9710" y="1993225"/>
            <a:ext cx="658737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539710" y="2115979"/>
            <a:ext cx="2326958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Microsoft Store (Windows)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9710" y="2511028"/>
            <a:ext cx="658737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Quick install with automatic updates for latest Python 3 version.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710" y="3027521"/>
            <a:ext cx="154186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710" y="3266718"/>
            <a:ext cx="658737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8"/>
          <p:cNvSpPr/>
          <p:nvPr/>
        </p:nvSpPr>
        <p:spPr>
          <a:xfrm>
            <a:off x="539710" y="3389471"/>
            <a:ext cx="1927860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Official Installer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710" y="3784521"/>
            <a:ext cx="6587371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 from python.org for precise version control across macOS, Linux, and Windows.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710" y="4301014"/>
            <a:ext cx="154186" cy="19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710" y="4540210"/>
            <a:ext cx="6587371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710" y="4662964"/>
            <a:ext cx="2141577" cy="240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Specialized Distributions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710" y="5058013"/>
            <a:ext cx="6587371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Anaconda for data science, WinPython for portable environments, MicroPython for embedded systems.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0939" y="1310759"/>
            <a:ext cx="6587371" cy="6587371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510939" y="8071604"/>
            <a:ext cx="6587371" cy="901779"/>
          </a:xfrm>
          <a:prstGeom prst="roundRect">
            <a:avLst>
              <a:gd name="adj" fmla="val 2565"/>
            </a:avLst>
          </a:prstGeom>
          <a:solidFill>
            <a:srgbClr val="DBDBD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125" y="8312110"/>
            <a:ext cx="192762" cy="1541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012073" y="8264247"/>
            <a:ext cx="5932051" cy="49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 Tip: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Beginners should start with the official installer or Microsoft Store for a straightforward setup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4106" y="549950"/>
            <a:ext cx="7748588" cy="124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Setting Up Your Python Environment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106" y="2094786"/>
            <a:ext cx="996791" cy="14678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80208" y="2294096"/>
            <a:ext cx="2492097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Install Python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380208" y="2725102"/>
            <a:ext cx="655248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 and run the installer, ensuring you check "Add Python to PATH" during installation.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106" y="3562588"/>
            <a:ext cx="996791" cy="14678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80208" y="3761899"/>
            <a:ext cx="2492097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Install VS Code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7380208" y="4192905"/>
            <a:ext cx="655248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 Visual Studio Code and add the Python extension for enhanced editing capabilities.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06" y="5030391"/>
            <a:ext cx="996791" cy="14678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80208" y="5229701"/>
            <a:ext cx="2492097" cy="311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Verify Installation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380208" y="5660708"/>
            <a:ext cx="655248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terminal or PowerShell and run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confirm successful setup.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6184106" y="6722388"/>
            <a:ext cx="7748588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Option: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Windows users can leverage Microsoft's WinGet configuration file to install Python and essential tools with a single command, streamlining the entire setup process.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8163" y="542211"/>
            <a:ext cx="5387816" cy="48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Choosing and Setting Up an IDE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38163" y="1483995"/>
            <a:ext cx="8067675" cy="1385649"/>
          </a:xfrm>
          <a:prstGeom prst="roundRect">
            <a:avLst>
              <a:gd name="adj" fmla="val 7919"/>
            </a:avLst>
          </a:prstGeom>
          <a:solidFill>
            <a:srgbClr val="EFECE6"/>
          </a:solidFill>
          <a:ln/>
        </p:spPr>
      </p:sp>
      <p:sp>
        <p:nvSpPr>
          <p:cNvPr id="5" name="Shape 2"/>
          <p:cNvSpPr/>
          <p:nvPr/>
        </p:nvSpPr>
        <p:spPr>
          <a:xfrm>
            <a:off x="538163" y="1461135"/>
            <a:ext cx="8067675" cy="91440"/>
          </a:xfrm>
          <a:prstGeom prst="roundRect">
            <a:avLst>
              <a:gd name="adj" fmla="val 25227"/>
            </a:avLst>
          </a:prstGeom>
          <a:solidFill>
            <a:srgbClr val="282824"/>
          </a:solidFill>
          <a:ln/>
        </p:spPr>
      </p:sp>
      <p:sp>
        <p:nvSpPr>
          <p:cNvPr id="6" name="Shape 3"/>
          <p:cNvSpPr/>
          <p:nvPr/>
        </p:nvSpPr>
        <p:spPr>
          <a:xfrm>
            <a:off x="4341376" y="1253371"/>
            <a:ext cx="461248" cy="461248"/>
          </a:xfrm>
          <a:prstGeom prst="roundRect">
            <a:avLst>
              <a:gd name="adj" fmla="val 198245"/>
            </a:avLst>
          </a:prstGeom>
          <a:solidFill>
            <a:srgbClr val="28282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9727" y="1391722"/>
            <a:ext cx="184428" cy="1844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4732" y="1868448"/>
            <a:ext cx="3055858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Visual Studio Code (Recommended)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14732" y="2200870"/>
            <a:ext cx="7714536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Free, cross-platform editor with rich Python support. Install the Python extension for syntax highlighting, debugging, linting, and intelligent code completion (IntelliSense).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38163" y="3253978"/>
            <a:ext cx="8067675" cy="1385649"/>
          </a:xfrm>
          <a:prstGeom prst="roundRect">
            <a:avLst>
              <a:gd name="adj" fmla="val 7919"/>
            </a:avLst>
          </a:prstGeom>
          <a:solidFill>
            <a:srgbClr val="EFECE6"/>
          </a:solidFill>
          <a:ln/>
        </p:spPr>
      </p:sp>
      <p:sp>
        <p:nvSpPr>
          <p:cNvPr id="11" name="Shape 7"/>
          <p:cNvSpPr/>
          <p:nvPr/>
        </p:nvSpPr>
        <p:spPr>
          <a:xfrm>
            <a:off x="538163" y="3231118"/>
            <a:ext cx="8067675" cy="91440"/>
          </a:xfrm>
          <a:prstGeom prst="roundRect">
            <a:avLst>
              <a:gd name="adj" fmla="val 25227"/>
            </a:avLst>
          </a:prstGeom>
          <a:solidFill>
            <a:srgbClr val="282824"/>
          </a:solidFill>
          <a:ln/>
        </p:spPr>
      </p:sp>
      <p:sp>
        <p:nvSpPr>
          <p:cNvPr id="12" name="Shape 8"/>
          <p:cNvSpPr/>
          <p:nvPr/>
        </p:nvSpPr>
        <p:spPr>
          <a:xfrm>
            <a:off x="4341376" y="3023354"/>
            <a:ext cx="461248" cy="461248"/>
          </a:xfrm>
          <a:prstGeom prst="roundRect">
            <a:avLst>
              <a:gd name="adj" fmla="val 198245"/>
            </a:avLst>
          </a:prstGeom>
          <a:solidFill>
            <a:srgbClr val="2828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9727" y="3161705"/>
            <a:ext cx="184428" cy="1844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4732" y="3638431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PyCharm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14732" y="3970853"/>
            <a:ext cx="7714536" cy="49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Professional-grade IDE with advanced features. Community edition is free and perfect for dedicated Python development.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38163" y="5023961"/>
            <a:ext cx="8067675" cy="1139547"/>
          </a:xfrm>
          <a:prstGeom prst="roundRect">
            <a:avLst>
              <a:gd name="adj" fmla="val 9629"/>
            </a:avLst>
          </a:prstGeom>
          <a:solidFill>
            <a:srgbClr val="EFECE6"/>
          </a:solidFill>
          <a:ln/>
        </p:spPr>
      </p:sp>
      <p:sp>
        <p:nvSpPr>
          <p:cNvPr id="17" name="Shape 12"/>
          <p:cNvSpPr/>
          <p:nvPr/>
        </p:nvSpPr>
        <p:spPr>
          <a:xfrm>
            <a:off x="538163" y="5001101"/>
            <a:ext cx="8067675" cy="91440"/>
          </a:xfrm>
          <a:prstGeom prst="roundRect">
            <a:avLst>
              <a:gd name="adj" fmla="val 25227"/>
            </a:avLst>
          </a:prstGeom>
          <a:solidFill>
            <a:srgbClr val="282824"/>
          </a:solidFill>
          <a:ln/>
        </p:spPr>
      </p:sp>
      <p:sp>
        <p:nvSpPr>
          <p:cNvPr id="18" name="Shape 13"/>
          <p:cNvSpPr/>
          <p:nvPr/>
        </p:nvSpPr>
        <p:spPr>
          <a:xfrm>
            <a:off x="4341376" y="4793337"/>
            <a:ext cx="461248" cy="461248"/>
          </a:xfrm>
          <a:prstGeom prst="roundRect">
            <a:avLst>
              <a:gd name="adj" fmla="val 198245"/>
            </a:avLst>
          </a:prstGeom>
          <a:solidFill>
            <a:srgbClr val="28282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9727" y="4931688"/>
            <a:ext cx="184428" cy="1844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4732" y="5408414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14732" y="5740837"/>
            <a:ext cx="7714536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environment ideal for data science, exploration, and sharing code with visualizations inline.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38163" y="6547842"/>
            <a:ext cx="8067675" cy="1139547"/>
          </a:xfrm>
          <a:prstGeom prst="roundRect">
            <a:avLst>
              <a:gd name="adj" fmla="val 9629"/>
            </a:avLst>
          </a:prstGeom>
          <a:solidFill>
            <a:srgbClr val="EFECE6"/>
          </a:solidFill>
          <a:ln/>
        </p:spPr>
      </p:sp>
      <p:sp>
        <p:nvSpPr>
          <p:cNvPr id="23" name="Shape 17"/>
          <p:cNvSpPr/>
          <p:nvPr/>
        </p:nvSpPr>
        <p:spPr>
          <a:xfrm>
            <a:off x="538163" y="6524982"/>
            <a:ext cx="8067675" cy="91440"/>
          </a:xfrm>
          <a:prstGeom prst="roundRect">
            <a:avLst>
              <a:gd name="adj" fmla="val 25227"/>
            </a:avLst>
          </a:prstGeom>
          <a:solidFill>
            <a:srgbClr val="282824"/>
          </a:solidFill>
          <a:ln/>
        </p:spPr>
      </p:sp>
      <p:sp>
        <p:nvSpPr>
          <p:cNvPr id="24" name="Shape 18"/>
          <p:cNvSpPr/>
          <p:nvPr/>
        </p:nvSpPr>
        <p:spPr>
          <a:xfrm>
            <a:off x="4341376" y="6317218"/>
            <a:ext cx="461248" cy="461248"/>
          </a:xfrm>
          <a:prstGeom prst="roundRect">
            <a:avLst>
              <a:gd name="adj" fmla="val 198245"/>
            </a:avLst>
          </a:prstGeom>
          <a:solidFill>
            <a:srgbClr val="28282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79727" y="6455569"/>
            <a:ext cx="184428" cy="1844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4732" y="6932295"/>
            <a:ext cx="1922264" cy="240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IDLE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4732" y="7264718"/>
            <a:ext cx="7714536" cy="246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Simple IDE bundled with Python installation. Great for quick scripts and learning the basics without extra setup.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083" y="370880"/>
            <a:ext cx="4629745" cy="421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Basics: Your First Steps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083" y="1129427"/>
            <a:ext cx="2453402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Welcome to Python Syntax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72083" y="1516975"/>
            <a:ext cx="5977771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Python's design philosophy emphasizes code readability with clean, English-like syntax that makes programming accessible to beginners.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083" y="2069782"/>
            <a:ext cx="597777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First Program: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2083" y="2437209"/>
            <a:ext cx="5977771" cy="417909"/>
          </a:xfrm>
          <a:prstGeom prst="roundRect">
            <a:avLst>
              <a:gd name="adj" fmla="val 4842"/>
            </a:avLst>
          </a:prstGeom>
          <a:solidFill>
            <a:srgbClr val="E2DFD9"/>
          </a:solidFill>
          <a:ln/>
        </p:spPr>
      </p:sp>
      <p:sp>
        <p:nvSpPr>
          <p:cNvPr id="7" name="Shape 5"/>
          <p:cNvSpPr/>
          <p:nvPr/>
        </p:nvSpPr>
        <p:spPr>
          <a:xfrm>
            <a:off x="465415" y="2437209"/>
            <a:ext cx="5991106" cy="417909"/>
          </a:xfrm>
          <a:prstGeom prst="roundRect">
            <a:avLst>
              <a:gd name="adj" fmla="val 4842"/>
            </a:avLst>
          </a:prstGeom>
          <a:solidFill>
            <a:srgbClr val="E2DFD9"/>
          </a:solidFill>
          <a:ln/>
        </p:spPr>
      </p:sp>
      <p:sp>
        <p:nvSpPr>
          <p:cNvPr id="8" name="Text 6"/>
          <p:cNvSpPr/>
          <p:nvPr/>
        </p:nvSpPr>
        <p:spPr>
          <a:xfrm>
            <a:off x="600194" y="2538293"/>
            <a:ext cx="5721548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083" y="3006804"/>
            <a:ext cx="597777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single line displays text output to the console—simple yet powerful!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6563" y="1146334"/>
            <a:ext cx="7379256" cy="73792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86563" y="8677275"/>
            <a:ext cx="7379256" cy="861298"/>
          </a:xfrm>
          <a:prstGeom prst="roundRect">
            <a:avLst>
              <a:gd name="adj" fmla="val 2349"/>
            </a:avLst>
          </a:prstGeom>
          <a:solidFill>
            <a:srgbClr val="EFECE6"/>
          </a:solidFill>
          <a:ln w="15240">
            <a:solidFill>
              <a:srgbClr val="CBC5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36581" y="8827294"/>
            <a:ext cx="168604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Indentation Matters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936581" y="9172813"/>
            <a:ext cx="7079218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uses whitespace (spaces or tabs) to define code blocks. No curly braces needed—clean and readable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1812"/>
            <a:ext cx="86404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Understanding Python Data Types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7421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provides several built-in data types that form the foundation of all programs. Mastering these core types is essential for effective programming.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38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Integers (int)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029081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Whole numbers without decimals, positive or negative. Examples: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538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Floats (float)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502908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Numbers with decimal points for precision. Examples: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3.14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-0.001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538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Strings (str)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502908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Text data enclosed in quotes, single or double. Examples: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'Hello!'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538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Booleans (bool)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502908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Logical values representing truth. Only two values: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519" y="1226939"/>
            <a:ext cx="7687866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Working with Integers and Floats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26519" y="2394466"/>
            <a:ext cx="3592235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Integers: The Counting Numbers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26519" y="3380184"/>
            <a:ext cx="359223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Perfect for discrete values like counting items, indexing lists, or loop iterations.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6519" y="4278035"/>
            <a:ext cx="3592235" cy="1307783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</p:sp>
      <p:sp>
        <p:nvSpPr>
          <p:cNvPr id="7" name="Shape 4"/>
          <p:cNvSpPr/>
          <p:nvPr/>
        </p:nvSpPr>
        <p:spPr>
          <a:xfrm>
            <a:off x="716161" y="4278035"/>
            <a:ext cx="3612952" cy="1307783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</p:sp>
      <p:sp>
        <p:nvSpPr>
          <p:cNvPr id="8" name="Text 5"/>
          <p:cNvSpPr/>
          <p:nvPr/>
        </p:nvSpPr>
        <p:spPr>
          <a:xfrm>
            <a:off x="923687" y="4433649"/>
            <a:ext cx="3197900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42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-1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6519" y="5819299"/>
            <a:ext cx="3592235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handles arbitrarily large integers without overflow—no limits on size!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32866" y="2394466"/>
            <a:ext cx="3495556" cy="389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Floats: Decimal Precision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832866" y="2991088"/>
            <a:ext cx="3592235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Essential for measurements, scientific calculations, and any math requiring decimal accuracy.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32866" y="4221123"/>
            <a:ext cx="3592235" cy="1307783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</p:sp>
      <p:sp>
        <p:nvSpPr>
          <p:cNvPr id="13" name="Shape 10"/>
          <p:cNvSpPr/>
          <p:nvPr/>
        </p:nvSpPr>
        <p:spPr>
          <a:xfrm>
            <a:off x="4822508" y="4221123"/>
            <a:ext cx="3612952" cy="1307783"/>
          </a:xfrm>
          <a:prstGeom prst="roundRect">
            <a:avLst>
              <a:gd name="adj" fmla="val 2381"/>
            </a:avLst>
          </a:prstGeom>
          <a:solidFill>
            <a:srgbClr val="E2DFD9"/>
          </a:solidFill>
          <a:ln/>
        </p:spPr>
      </p:sp>
      <p:sp>
        <p:nvSpPr>
          <p:cNvPr id="14" name="Text 11"/>
          <p:cNvSpPr/>
          <p:nvPr/>
        </p:nvSpPr>
        <p:spPr>
          <a:xfrm>
            <a:off x="5030033" y="4376738"/>
            <a:ext cx="3197900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 = 3.5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3.14159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-0.5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32866" y="5762387"/>
            <a:ext cx="3592235" cy="996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manages floating-point precision automatically, though rounding may occur in extreme cases.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5066" y="933926"/>
            <a:ext cx="7535347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Strings and Booleans Explained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5066" y="1936552"/>
            <a:ext cx="7626667" cy="2571155"/>
          </a:xfrm>
          <a:prstGeom prst="roundRect">
            <a:avLst>
              <a:gd name="adj" fmla="val 1265"/>
            </a:avLst>
          </a:prstGeom>
          <a:solidFill>
            <a:srgbClr val="282824"/>
          </a:solidFill>
          <a:ln/>
        </p:spPr>
      </p:sp>
      <p:sp>
        <p:nvSpPr>
          <p:cNvPr id="5" name="Text 2"/>
          <p:cNvSpPr/>
          <p:nvPr/>
        </p:nvSpPr>
        <p:spPr>
          <a:xfrm>
            <a:off x="6461760" y="2153245"/>
            <a:ext cx="3174087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Strings: Text Manipulation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61760" y="2621994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Sequences of characters supporting powerful operations: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61760" y="3098840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Concatenation: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"Hello" + " World"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61760" y="3521512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Slicing: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"Python"[0:3]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"Pyt"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61760" y="3944183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Methods: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"text".upper()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5066" y="4724400"/>
            <a:ext cx="7626667" cy="2571155"/>
          </a:xfrm>
          <a:prstGeom prst="roundRect">
            <a:avLst>
              <a:gd name="adj" fmla="val 1265"/>
            </a:avLst>
          </a:prstGeom>
          <a:solidFill>
            <a:srgbClr val="282824"/>
          </a:solidFill>
          <a:ln/>
        </p:spPr>
      </p:sp>
      <p:sp>
        <p:nvSpPr>
          <p:cNvPr id="11" name="Text 8"/>
          <p:cNvSpPr/>
          <p:nvPr/>
        </p:nvSpPr>
        <p:spPr>
          <a:xfrm>
            <a:off x="6461760" y="4941094"/>
            <a:ext cx="3103007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Booleans: Logic &amp; Control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61760" y="5409843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Result from comparisons and logical operations: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461760" y="5886688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Comparison: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61760" y="6309360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Logical AND: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61760" y="6732032"/>
            <a:ext cx="7193280" cy="346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Logical OR: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→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385" y="615434"/>
            <a:ext cx="5154216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Type Conversion in Python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6385" y="1503283"/>
            <a:ext cx="1341762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Converting between data types is essential for handling user input, processing data, and preventing errors. Python provides built-in functions for seamless type conversion.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6385" y="4329232"/>
            <a:ext cx="13417629" cy="22860"/>
          </a:xfrm>
          <a:prstGeom prst="roundRect">
            <a:avLst>
              <a:gd name="adj" fmla="val 113697"/>
            </a:avLst>
          </a:prstGeom>
          <a:solidFill>
            <a:srgbClr val="CBC5B8"/>
          </a:solidFill>
          <a:ln/>
        </p:spPr>
      </p:sp>
      <p:sp>
        <p:nvSpPr>
          <p:cNvPr id="5" name="Shape 3"/>
          <p:cNvSpPr/>
          <p:nvPr/>
        </p:nvSpPr>
        <p:spPr>
          <a:xfrm>
            <a:off x="3213497" y="3809524"/>
            <a:ext cx="22860" cy="519708"/>
          </a:xfrm>
          <a:prstGeom prst="roundRect">
            <a:avLst>
              <a:gd name="adj" fmla="val 113697"/>
            </a:avLst>
          </a:prstGeom>
          <a:solidFill>
            <a:srgbClr val="CBC5B8"/>
          </a:solidFill>
          <a:ln/>
        </p:spPr>
      </p:sp>
      <p:sp>
        <p:nvSpPr>
          <p:cNvPr id="6" name="Shape 4"/>
          <p:cNvSpPr/>
          <p:nvPr/>
        </p:nvSpPr>
        <p:spPr>
          <a:xfrm>
            <a:off x="3030022" y="4134326"/>
            <a:ext cx="389811" cy="38981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7" name="Text 5"/>
          <p:cNvSpPr/>
          <p:nvPr/>
        </p:nvSpPr>
        <p:spPr>
          <a:xfrm>
            <a:off x="3095030" y="4166830"/>
            <a:ext cx="25979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1934" y="1975366"/>
            <a:ext cx="216586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int()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9621" y="2349937"/>
            <a:ext cx="489061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 to integer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9621" y="2822019"/>
            <a:ext cx="4890611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11" name="Shape 9"/>
          <p:cNvSpPr/>
          <p:nvPr/>
        </p:nvSpPr>
        <p:spPr>
          <a:xfrm>
            <a:off x="771049" y="2822019"/>
            <a:ext cx="4907756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12" name="Text 10"/>
          <p:cNvSpPr/>
          <p:nvPr/>
        </p:nvSpPr>
        <p:spPr>
          <a:xfrm>
            <a:off x="944285" y="2951917"/>
            <a:ext cx="4561284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int("123") → 123</a:t>
            </a:r>
            <a:endParaRPr lang="en-US" sz="1350" dirty="0"/>
          </a:p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int(3.9) → 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0266" y="4329232"/>
            <a:ext cx="22860" cy="519708"/>
          </a:xfrm>
          <a:prstGeom prst="roundRect">
            <a:avLst>
              <a:gd name="adj" fmla="val 113697"/>
            </a:avLst>
          </a:prstGeom>
          <a:solidFill>
            <a:srgbClr val="CBC5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56791" y="4134326"/>
            <a:ext cx="389811" cy="38981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5" name="Text 13"/>
          <p:cNvSpPr/>
          <p:nvPr/>
        </p:nvSpPr>
        <p:spPr>
          <a:xfrm>
            <a:off x="5821799" y="4166830"/>
            <a:ext cx="25979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68704" y="5022294"/>
            <a:ext cx="216586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float()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06391" y="5396865"/>
            <a:ext cx="489061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 to float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06391" y="5868948"/>
            <a:ext cx="4890611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497818" y="5868948"/>
            <a:ext cx="4907756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20" name="Text 18"/>
          <p:cNvSpPr/>
          <p:nvPr/>
        </p:nvSpPr>
        <p:spPr>
          <a:xfrm>
            <a:off x="3671054" y="5998845"/>
            <a:ext cx="4561284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float("3.14") → 3.14</a:t>
            </a:r>
            <a:endParaRPr lang="en-US" sz="1350" dirty="0"/>
          </a:p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float(5) → 5.0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67155" y="3809524"/>
            <a:ext cx="22860" cy="519708"/>
          </a:xfrm>
          <a:prstGeom prst="roundRect">
            <a:avLst>
              <a:gd name="adj" fmla="val 113697"/>
            </a:avLst>
          </a:prstGeom>
          <a:solidFill>
            <a:srgbClr val="CBC5B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83679" y="4134326"/>
            <a:ext cx="389811" cy="38981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23" name="Text 21"/>
          <p:cNvSpPr/>
          <p:nvPr/>
        </p:nvSpPr>
        <p:spPr>
          <a:xfrm>
            <a:off x="8548688" y="4166830"/>
            <a:ext cx="25979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95592" y="1975366"/>
            <a:ext cx="216586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str()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233279" y="2349937"/>
            <a:ext cx="489061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 to string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33279" y="2822019"/>
            <a:ext cx="4890611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24707" y="2822019"/>
            <a:ext cx="4907756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28" name="Text 26"/>
          <p:cNvSpPr/>
          <p:nvPr/>
        </p:nvSpPr>
        <p:spPr>
          <a:xfrm>
            <a:off x="6397943" y="2951917"/>
            <a:ext cx="4561284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str(123) → "123"</a:t>
            </a:r>
            <a:endParaRPr lang="en-US" sz="1350" dirty="0"/>
          </a:p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str(3.14) → "3.14"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393924" y="4329232"/>
            <a:ext cx="22860" cy="519708"/>
          </a:xfrm>
          <a:prstGeom prst="roundRect">
            <a:avLst>
              <a:gd name="adj" fmla="val 113697"/>
            </a:avLst>
          </a:prstGeom>
          <a:solidFill>
            <a:srgbClr val="CBC5B8"/>
          </a:solidFill>
          <a:ln/>
        </p:spPr>
      </p:sp>
      <p:sp>
        <p:nvSpPr>
          <p:cNvPr id="30" name="Shape 28"/>
          <p:cNvSpPr/>
          <p:nvPr/>
        </p:nvSpPr>
        <p:spPr>
          <a:xfrm>
            <a:off x="11210449" y="4134326"/>
            <a:ext cx="389811" cy="389811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31" name="Text 29"/>
          <p:cNvSpPr/>
          <p:nvPr/>
        </p:nvSpPr>
        <p:spPr>
          <a:xfrm>
            <a:off x="11275457" y="4166830"/>
            <a:ext cx="259794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322362" y="5022294"/>
            <a:ext cx="216586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bool()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960048" y="5396865"/>
            <a:ext cx="4890611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Convert to boolean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960048" y="5868948"/>
            <a:ext cx="4890611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35" name="Shape 33"/>
          <p:cNvSpPr/>
          <p:nvPr/>
        </p:nvSpPr>
        <p:spPr>
          <a:xfrm>
            <a:off x="8951476" y="5868948"/>
            <a:ext cx="4907756" cy="814149"/>
          </a:xfrm>
          <a:prstGeom prst="roundRect">
            <a:avLst>
              <a:gd name="adj" fmla="val 3192"/>
            </a:avLst>
          </a:prstGeom>
          <a:solidFill>
            <a:srgbClr val="E2DFD9"/>
          </a:solidFill>
          <a:ln/>
        </p:spPr>
      </p:sp>
      <p:sp>
        <p:nvSpPr>
          <p:cNvPr id="36" name="Text 34"/>
          <p:cNvSpPr/>
          <p:nvPr/>
        </p:nvSpPr>
        <p:spPr>
          <a:xfrm>
            <a:off x="9124712" y="5998845"/>
            <a:ext cx="4561284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bool(1) → True</a:t>
            </a:r>
            <a:endParaRPr lang="en-US" sz="1350" dirty="0"/>
          </a:p>
          <a:p>
            <a:pPr algn="ctr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bool(0) → False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06385" y="6878003"/>
            <a:ext cx="13417629" cy="736044"/>
          </a:xfrm>
          <a:prstGeom prst="roundRect">
            <a:avLst>
              <a:gd name="adj" fmla="val 3531"/>
            </a:avLst>
          </a:prstGeom>
          <a:solidFill>
            <a:srgbClr val="DBDBD7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621" y="7140893"/>
            <a:ext cx="216575" cy="17323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169432" y="7094458"/>
            <a:ext cx="12681347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Watch Out: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Invalid conversions raise errors. For example,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int("hello")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fails because "hello" isn't a valid number. Always validate data before converting!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2025-12-08T06:48:17Z</dcterms:created>
  <dcterms:modified xsi:type="dcterms:W3CDTF">2025-12-08T06:48:17Z</dcterms:modified>
</cp:coreProperties>
</file>