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Lato" panose="020F0502020204030203" pitchFamily="34" charset="0"/>
      <p:regular r:id="rId16"/>
      <p:bold r:id="rId17"/>
    </p:embeddedFont>
    <p:embeddedFont>
      <p:font typeface="Lato Light" panose="020F0502020204030203" pitchFamily="3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6785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 Introduction to Python: Your First Step into Programming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Welcome to the exciting world of Python programming. Whether you're a complete beginner or exploring a new language, Python offers an accessible and powerful gateway to coding mastery.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2934"/>
            <a:ext cx="5572601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What is Python?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844278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is a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high-level, interpreted programming language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created by Guido van Rossum in 1991. Designed with philosophy emphasizing code readability, it uses significant indentation and clean syntax.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80098" y="3114556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Known for its simple, readable syntax that resembles natural English, making it one of the most approachable languages for beginners while remaining powerful enough for expert developers.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80098" y="4384834"/>
            <a:ext cx="6943844" cy="106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is widely used across diverse domains including web development, data science, artificial intelligence, automation, scientific computing, and game development.</a:t>
            </a:r>
            <a:endParaRPr lang="en-US" sz="1750" dirty="0"/>
          </a:p>
        </p:txBody>
      </p:sp>
      <p:pic>
        <p:nvPicPr>
          <p:cNvPr id="1026" name="Picture 2" descr="Guido van Rossum | Python Creator | Bio | Programmer - Interesting  Engineering">
            <a:extLst>
              <a:ext uri="{FF2B5EF4-FFF2-40B4-BE49-F238E27FC236}">
                <a16:creationId xmlns:a16="http://schemas.microsoft.com/office/drawing/2014/main" id="{6478AA4E-E6CC-50E9-E818-A8399AAF3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968" y="1352948"/>
            <a:ext cx="4546179" cy="4983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6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Why Use Python?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24038"/>
            <a:ext cx="6407944" cy="2940010"/>
          </a:xfrm>
          <a:prstGeom prst="roundRect">
            <a:avLst>
              <a:gd name="adj" fmla="val 1157"/>
            </a:avLst>
          </a:prstGeom>
          <a:solidFill>
            <a:srgbClr val="E5DFD2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23789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Beginner-Friendly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448526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Easy to learn for newcomers with intuitive syntax, yet powerful enough for experts building complex applications.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24038"/>
            <a:ext cx="6408063" cy="2940010"/>
          </a:xfrm>
          <a:prstGeom prst="roundRect">
            <a:avLst>
              <a:gd name="adj" fmla="val 1157"/>
            </a:avLst>
          </a:prstGeom>
          <a:solidFill>
            <a:srgbClr val="E5DFD2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05085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237899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2958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Rich Ecosystem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448526"/>
            <a:ext cx="59544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Extensive libraries and frameworks including Django for web, NumPy for science, TensorFlow for AI, and thousands more.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990862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Cross-Platform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615351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Runs seamlessly on Windows, macOS, and Linux without requiring code changes or modifications.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990862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5DFD2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21767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Strong Community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615351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Millions of developers worldwide provide support, tutorials, documentation, and open-source contributions.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770" y="1050488"/>
            <a:ext cx="6563678" cy="56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Importance of Python Today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3770" y="1978462"/>
            <a:ext cx="2474595" cy="59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#1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78656" y="2802255"/>
            <a:ext cx="2384703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Programming Language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33770" y="3193733"/>
            <a:ext cx="2474595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Consistently ranked as one of the top programming languages globally on indices like TIOBE and Stack Overflow.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34703" y="1978462"/>
            <a:ext cx="2474595" cy="59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100M+</a:t>
            </a:r>
            <a:endParaRPr lang="en-US" sz="4700" dirty="0"/>
          </a:p>
        </p:txBody>
      </p:sp>
      <p:sp>
        <p:nvSpPr>
          <p:cNvPr id="8" name="Text 5"/>
          <p:cNvSpPr/>
          <p:nvPr/>
        </p:nvSpPr>
        <p:spPr>
          <a:xfrm>
            <a:off x="3440073" y="2802255"/>
            <a:ext cx="226385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Lines of Code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334703" y="3193733"/>
            <a:ext cx="2474595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Powers major tech giants including Google, Instagram, Spotify, Netflix, and NASA's space missions.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35635" y="1978462"/>
            <a:ext cx="2474595" cy="59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3</a:t>
            </a:r>
            <a:endParaRPr lang="en-US" sz="4700" dirty="0"/>
          </a:p>
        </p:txBody>
      </p:sp>
      <p:sp>
        <p:nvSpPr>
          <p:cNvPr id="11" name="Text 8"/>
          <p:cNvSpPr/>
          <p:nvPr/>
        </p:nvSpPr>
        <p:spPr>
          <a:xfrm>
            <a:off x="6141006" y="2802255"/>
            <a:ext cx="226385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Key Fields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035635" y="3193733"/>
            <a:ext cx="2474595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Essential language in emerging domains: machine learning, data analysis, and intelligent automation systems.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334703" y="4805124"/>
            <a:ext cx="2474595" cy="59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50%</a:t>
            </a:r>
            <a:endParaRPr lang="en-US" sz="4700" dirty="0"/>
          </a:p>
        </p:txBody>
      </p:sp>
      <p:sp>
        <p:nvSpPr>
          <p:cNvPr id="14" name="Text 11"/>
          <p:cNvSpPr/>
          <p:nvPr/>
        </p:nvSpPr>
        <p:spPr>
          <a:xfrm>
            <a:off x="3440073" y="5628918"/>
            <a:ext cx="2263854" cy="28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Faster Development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3334703" y="6020395"/>
            <a:ext cx="2474595" cy="1158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Enables rapid prototyping and development cycles, significantly saving time and organizational resources.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8366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vs Other Programming Languages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682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Python Advantages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4203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Shorter, cleaner code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compared to Java or C++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22540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manual memory management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required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0305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Simple, readable syntax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that's easy to understand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8356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Faster development cycles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prototyping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64071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Ideal for scripting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automation, and data tasks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76820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Trade-offs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342721" y="3420308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Slower execution speed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than compiled languages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422540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Not ideal for system-level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programming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50305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Higher memory consumption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some cases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583561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Less suitable for mobile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app development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462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4848" y="2984421"/>
            <a:ext cx="8897660" cy="611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How to Write Your First Python Program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4848" y="3889415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4848" y="4198977"/>
            <a:ext cx="6532483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6" name="Text 3"/>
          <p:cNvSpPr/>
          <p:nvPr/>
        </p:nvSpPr>
        <p:spPr>
          <a:xfrm>
            <a:off x="684848" y="4342448"/>
            <a:ext cx="2446258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Install Python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4848" y="4765596"/>
            <a:ext cx="6532483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 Python from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python.org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run the installer. Make sure to check "Add Python to PATH" during installation for easy command-line access.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12950" y="3889415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12950" y="4198977"/>
            <a:ext cx="6532602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0" name="Text 7"/>
          <p:cNvSpPr/>
          <p:nvPr/>
        </p:nvSpPr>
        <p:spPr>
          <a:xfrm>
            <a:off x="7412950" y="4342448"/>
            <a:ext cx="2446258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Choose VS Code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412950" y="4765596"/>
            <a:ext cx="6532602" cy="939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Download Visual Studio Code from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code.visualstudio.com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It's a free, powerful code editor with excellent Python support and debugging capabilities.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4848" y="6047303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4848" y="6356866"/>
            <a:ext cx="6532483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4" name="Text 11"/>
          <p:cNvSpPr/>
          <p:nvPr/>
        </p:nvSpPr>
        <p:spPr>
          <a:xfrm>
            <a:off x="684848" y="6500336"/>
            <a:ext cx="2655094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Install Python Extension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84848" y="6923484"/>
            <a:ext cx="6532483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VS Code, click the Extensions icon, search for "Python" by Microsoft, and install it for syntax highlighting, IntelliSense, and debugging features.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12950" y="6047303"/>
            <a:ext cx="195620" cy="24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 Light" pitchFamily="34" charset="0"/>
                <a:ea typeface="Lato Light" pitchFamily="34" charset="-122"/>
                <a:cs typeface="Lato Light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412950" y="6356866"/>
            <a:ext cx="6532602" cy="22860"/>
          </a:xfrm>
          <a:prstGeom prst="rect">
            <a:avLst/>
          </a:prstGeom>
          <a:solidFill>
            <a:srgbClr val="282824"/>
          </a:solidFill>
          <a:ln/>
        </p:spPr>
      </p:sp>
      <p:sp>
        <p:nvSpPr>
          <p:cNvPr id="18" name="Text 15"/>
          <p:cNvSpPr/>
          <p:nvPr/>
        </p:nvSpPr>
        <p:spPr>
          <a:xfrm>
            <a:off x="7412950" y="6500336"/>
            <a:ext cx="2446258" cy="305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Create Your File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7412950" y="6923484"/>
            <a:ext cx="6532602" cy="626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 new file with a </a:t>
            </a:r>
            <a:r>
              <a:rPr lang="en-US" sz="150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.py</a:t>
            </a:r>
            <a:r>
              <a:rPr lang="en-US" sz="150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extension (e.g., hello.py). This tells your system and editor that the file contains Python code.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1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4023" y="3285649"/>
            <a:ext cx="10381893" cy="673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Coding "Hello World" in Visual Studio Code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54023" y="4497467"/>
            <a:ext cx="3231833" cy="403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Step-by-Step Process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54023" y="5116711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VS Code and create a file named </a:t>
            </a:r>
            <a:r>
              <a:rPr lang="en-US" sz="16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hello.py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4023" y="5536883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 the code: </a:t>
            </a:r>
            <a:r>
              <a:rPr lang="en-US" sz="16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World!")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4023" y="5957054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Save the file using Ctrl+S (Windows) or Cmd+S (Mac)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54023" y="6377226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 the integrated terminal (View → Terminal)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4023" y="6797397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Type: </a:t>
            </a:r>
            <a:r>
              <a:rPr lang="en-US" sz="16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hello.py</a:t>
            </a: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press Enter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54023" y="7217569"/>
            <a:ext cx="561594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Font typeface="+mj-lt"/>
              <a:buAutoNum type="arabicPeriod" startAt="6"/>
            </a:pPr>
            <a:r>
              <a:rPr lang="en-US" sz="16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 the output: </a:t>
            </a:r>
            <a:r>
              <a:rPr lang="en-US" sz="16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Hello, World!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6903125" y="4524375"/>
            <a:ext cx="6980753" cy="2391966"/>
          </a:xfrm>
          <a:prstGeom prst="roundRect">
            <a:avLst>
              <a:gd name="adj" fmla="val 1351"/>
            </a:avLst>
          </a:prstGeom>
          <a:solidFill>
            <a:srgbClr val="E2DFD9"/>
          </a:solidFill>
          <a:ln/>
        </p:spPr>
      </p:sp>
      <p:sp>
        <p:nvSpPr>
          <p:cNvPr id="12" name="Shape 9"/>
          <p:cNvSpPr/>
          <p:nvPr/>
        </p:nvSpPr>
        <p:spPr>
          <a:xfrm>
            <a:off x="6892409" y="4524375"/>
            <a:ext cx="7002185" cy="2391966"/>
          </a:xfrm>
          <a:prstGeom prst="roundRect">
            <a:avLst>
              <a:gd name="adj" fmla="val 1351"/>
            </a:avLst>
          </a:prstGeom>
          <a:solidFill>
            <a:srgbClr val="E2DFD9"/>
          </a:solidFill>
          <a:ln/>
        </p:spPr>
      </p:sp>
      <p:sp>
        <p:nvSpPr>
          <p:cNvPr id="13" name="Text 10"/>
          <p:cNvSpPr/>
          <p:nvPr/>
        </p:nvSpPr>
        <p:spPr>
          <a:xfrm>
            <a:off x="7107793" y="4685943"/>
            <a:ext cx="6571417" cy="206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Your first Python program
print("Hello, World!")
# Output:
# Hello, World!
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5024"/>
            <a:ext cx="124553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Full Details: Your First Python Program Explained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7431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0743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The print() Function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055144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a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built-in Python function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that outputs text or data to the screen. It's one of the most commonly used functions for displaying results and debugging code.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307431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307431"/>
            <a:ext cx="121920" cy="2093714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5647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String Literals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055144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Text inside quotes </a:t>
            </a:r>
            <a:r>
              <a:rPr lang="en-US" sz="175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World!"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is called a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string literal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Strings can use single quotes ('text') or double quotes ("text") interchangeably in Python.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627959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627959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885253"/>
            <a:ext cx="29010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Line-by-Line Execution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375672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Python executes code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sequentially, line by line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interpreting commands immediately. This interpreted nature allows for rapid testing and immediate feedback during development.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627959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627959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28282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885253"/>
            <a:ext cx="32201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A4A45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Simple Syntax Advantage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375672"/>
            <a:ext cx="58020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simple program perfectly demonstrates Python's </a:t>
            </a:r>
            <a:r>
              <a:rPr lang="en-US" sz="1750" b="1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straightforward syntax</a:t>
            </a:r>
            <a:r>
              <a:rPr lang="en-US" sz="1750" dirty="0">
                <a:solidFill>
                  <a:srgbClr val="4A4A4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philosophy: readable code that does exactly what it says without complex boilerplate or ceremony.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7187" y="457914"/>
            <a:ext cx="5351621" cy="51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More Python Code Examples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067187" y="1391245"/>
            <a:ext cx="278344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Variables and Data Types</a:t>
            </a:r>
            <a:endParaRPr lang="en-US" sz="1950" dirty="0"/>
          </a:p>
        </p:txBody>
      </p:sp>
      <p:sp>
        <p:nvSpPr>
          <p:cNvPr id="5" name="Shape 2"/>
          <p:cNvSpPr/>
          <p:nvPr/>
        </p:nvSpPr>
        <p:spPr>
          <a:xfrm>
            <a:off x="6067187" y="1889046"/>
            <a:ext cx="3788807" cy="2638425"/>
          </a:xfrm>
          <a:prstGeom prst="roundRect">
            <a:avLst>
              <a:gd name="adj" fmla="val 944"/>
            </a:avLst>
          </a:prstGeom>
          <a:solidFill>
            <a:srgbClr val="E2DFD9"/>
          </a:solidFill>
          <a:ln/>
        </p:spPr>
      </p:sp>
      <p:sp>
        <p:nvSpPr>
          <p:cNvPr id="6" name="Shape 3"/>
          <p:cNvSpPr/>
          <p:nvPr/>
        </p:nvSpPr>
        <p:spPr>
          <a:xfrm>
            <a:off x="6058972" y="1889046"/>
            <a:ext cx="3805237" cy="2638425"/>
          </a:xfrm>
          <a:prstGeom prst="roundRect">
            <a:avLst>
              <a:gd name="adj" fmla="val 944"/>
            </a:avLst>
          </a:prstGeom>
          <a:solidFill>
            <a:srgbClr val="E2DFD9"/>
          </a:solidFill>
          <a:ln/>
        </p:spPr>
      </p:sp>
      <p:sp>
        <p:nvSpPr>
          <p:cNvPr id="7" name="Text 4"/>
          <p:cNvSpPr/>
          <p:nvPr/>
        </p:nvSpPr>
        <p:spPr>
          <a:xfrm>
            <a:off x="6224826" y="2013466"/>
            <a:ext cx="3473529" cy="238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Variables store data
name = "Alice"
age = 25
height = 5.6
is_student = True
print(name)
print(age)
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67187" y="4714161"/>
            <a:ext cx="2703552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Simple Math Operations</a:t>
            </a:r>
            <a:endParaRPr lang="en-US" sz="1950" dirty="0"/>
          </a:p>
        </p:txBody>
      </p:sp>
      <p:sp>
        <p:nvSpPr>
          <p:cNvPr id="9" name="Shape 6"/>
          <p:cNvSpPr/>
          <p:nvPr/>
        </p:nvSpPr>
        <p:spPr>
          <a:xfrm>
            <a:off x="6067187" y="5211961"/>
            <a:ext cx="3788807" cy="2372916"/>
          </a:xfrm>
          <a:prstGeom prst="roundRect">
            <a:avLst>
              <a:gd name="adj" fmla="val 1049"/>
            </a:avLst>
          </a:prstGeom>
          <a:solidFill>
            <a:srgbClr val="E2DFD9"/>
          </a:solidFill>
          <a:ln/>
        </p:spPr>
      </p:sp>
      <p:sp>
        <p:nvSpPr>
          <p:cNvPr id="10" name="Shape 7"/>
          <p:cNvSpPr/>
          <p:nvPr/>
        </p:nvSpPr>
        <p:spPr>
          <a:xfrm>
            <a:off x="6058972" y="5211961"/>
            <a:ext cx="3805237" cy="2372916"/>
          </a:xfrm>
          <a:prstGeom prst="roundRect">
            <a:avLst>
              <a:gd name="adj" fmla="val 1049"/>
            </a:avLst>
          </a:prstGeom>
          <a:solidFill>
            <a:srgbClr val="E2DFD9"/>
          </a:solidFill>
          <a:ln/>
        </p:spPr>
      </p:sp>
      <p:sp>
        <p:nvSpPr>
          <p:cNvPr id="11" name="Text 8"/>
          <p:cNvSpPr/>
          <p:nvPr/>
        </p:nvSpPr>
        <p:spPr>
          <a:xfrm>
            <a:off x="6224826" y="5336381"/>
            <a:ext cx="3473529" cy="2124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calculations
x = 10
y = 3
print(x + y)  # Addition: 13
print(x * y)  # Multiplication: 30
print(x / y)  # Division: 3.33
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268426" y="1391245"/>
            <a:ext cx="2489478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Lists and Loops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10268426" y="1889046"/>
            <a:ext cx="3788807" cy="1841897"/>
          </a:xfrm>
          <a:prstGeom prst="roundRect">
            <a:avLst>
              <a:gd name="adj" fmla="val 1352"/>
            </a:avLst>
          </a:prstGeom>
          <a:solidFill>
            <a:srgbClr val="E2DFD9"/>
          </a:solidFill>
          <a:ln/>
        </p:spPr>
      </p:sp>
      <p:sp>
        <p:nvSpPr>
          <p:cNvPr id="14" name="Shape 11"/>
          <p:cNvSpPr/>
          <p:nvPr/>
        </p:nvSpPr>
        <p:spPr>
          <a:xfrm>
            <a:off x="10260211" y="1889046"/>
            <a:ext cx="3805237" cy="1841897"/>
          </a:xfrm>
          <a:prstGeom prst="roundRect">
            <a:avLst>
              <a:gd name="adj" fmla="val 1352"/>
            </a:avLst>
          </a:prstGeom>
          <a:solidFill>
            <a:srgbClr val="E2DFD9"/>
          </a:solidFill>
          <a:ln/>
        </p:spPr>
      </p:sp>
      <p:sp>
        <p:nvSpPr>
          <p:cNvPr id="15" name="Text 12"/>
          <p:cNvSpPr/>
          <p:nvPr/>
        </p:nvSpPr>
        <p:spPr>
          <a:xfrm>
            <a:off x="10426065" y="2013466"/>
            <a:ext cx="3473529" cy="1593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Working with lists
fruits = ["apple", "banana", "orange"]
for fruit in fruits:
    print(fruit)
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68426" y="3917633"/>
            <a:ext cx="2629972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82824"/>
                </a:solidFill>
                <a:latin typeface="Lato Bold" pitchFamily="34" charset="0"/>
                <a:ea typeface="Lato Bold" pitchFamily="34" charset="-122"/>
                <a:cs typeface="Lato Bold" pitchFamily="34" charset="-120"/>
              </a:rPr>
              <a:t>Conditional Statements</a:t>
            </a:r>
            <a:endParaRPr lang="en-US" sz="1950" dirty="0"/>
          </a:p>
        </p:txBody>
      </p:sp>
      <p:sp>
        <p:nvSpPr>
          <p:cNvPr id="17" name="Shape 14"/>
          <p:cNvSpPr/>
          <p:nvPr/>
        </p:nvSpPr>
        <p:spPr>
          <a:xfrm>
            <a:off x="10268426" y="4415433"/>
            <a:ext cx="3788807" cy="2903934"/>
          </a:xfrm>
          <a:prstGeom prst="roundRect">
            <a:avLst>
              <a:gd name="adj" fmla="val 857"/>
            </a:avLst>
          </a:prstGeom>
          <a:solidFill>
            <a:srgbClr val="E2DFD9"/>
          </a:solidFill>
          <a:ln/>
        </p:spPr>
      </p:sp>
      <p:sp>
        <p:nvSpPr>
          <p:cNvPr id="18" name="Shape 15"/>
          <p:cNvSpPr/>
          <p:nvPr/>
        </p:nvSpPr>
        <p:spPr>
          <a:xfrm>
            <a:off x="10260211" y="4415433"/>
            <a:ext cx="3805237" cy="2903934"/>
          </a:xfrm>
          <a:prstGeom prst="roundRect">
            <a:avLst>
              <a:gd name="adj" fmla="val 857"/>
            </a:avLst>
          </a:prstGeom>
          <a:solidFill>
            <a:srgbClr val="E2DFD9"/>
          </a:solidFill>
          <a:ln/>
        </p:spPr>
      </p:sp>
      <p:sp>
        <p:nvSpPr>
          <p:cNvPr id="19" name="Text 16"/>
          <p:cNvSpPr/>
          <p:nvPr/>
        </p:nvSpPr>
        <p:spPr>
          <a:xfrm>
            <a:off x="10426065" y="4539853"/>
            <a:ext cx="3473529" cy="2655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dirty="0">
                <a:solidFill>
                  <a:srgbClr val="4A4A45"/>
                </a:solidFill>
                <a:highlight>
                  <a:srgbClr val="E2DFD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Making decisions
temperature = 75
if temperature &gt; 80:
 print("It's hot!")
elif temperature &gt; 60:
 print("It's nice!")
else:
 print("It's cold!")
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918</Words>
  <Application>Microsoft Office PowerPoint</Application>
  <PresentationFormat>Custom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Lato</vt:lpstr>
      <vt:lpstr>Lato Light</vt:lpstr>
      <vt:lpstr>Arial</vt:lpstr>
      <vt:lpstr>Consolas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Ankan Rishav Dey</dc:creator>
  <cp:lastModifiedBy>Ankan Rishav Dey</cp:lastModifiedBy>
  <cp:revision>2</cp:revision>
  <dcterms:created xsi:type="dcterms:W3CDTF">2025-12-10T06:05:31Z</dcterms:created>
  <dcterms:modified xsi:type="dcterms:W3CDTF">2025-12-10T06:17:44Z</dcterms:modified>
</cp:coreProperties>
</file>