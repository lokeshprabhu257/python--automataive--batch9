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92000"/>
  <p:notesSz cx="6858000" cy="9144000"/>
  <p:embeddedFontLst>
    <p:embeddedFont>
      <p:font typeface="Libre Franklin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ACB759-7699-4AEA-A5C5-1DA52B9AF746}">
  <a:tblStyle styleId="{E7ACB759-7699-4AEA-A5C5-1DA52B9AF7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LibreFranklin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LibreFranklin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ibreFranklin-boldItalic.fntdata"/><Relationship Id="rId30" Type="http://schemas.openxmlformats.org/officeDocument/2006/relationships/font" Target="fonts/LibreFranklin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Bookman Old Style"/>
              <a:buNone/>
              <a:defRPr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21" name="Google Shape;21;p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60" name="Google Shape;60;p8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0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" name="Google Shape;92;p12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3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8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4" name="Google Shape;104;p13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A close up of a piece of paper with a pencil laying on top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8" name="Google Shape;118;p15"/>
          <p:cNvSpPr txBox="1"/>
          <p:nvPr>
            <p:ph type="ctrTitle"/>
          </p:nvPr>
        </p:nvSpPr>
        <p:spPr>
          <a:xfrm>
            <a:off x="8123416" y="1475234"/>
            <a:ext cx="3214307" cy="2901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ookman Old Style"/>
              <a:buNone/>
            </a:pPr>
            <a:r>
              <a:rPr lang="en-US" sz="4400">
                <a:solidFill>
                  <a:schemeClr val="lt1"/>
                </a:solidFill>
              </a:rPr>
              <a:t>Python</a:t>
            </a:r>
            <a:endParaRPr/>
          </a:p>
        </p:txBody>
      </p:sp>
      <p:sp>
        <p:nvSpPr>
          <p:cNvPr id="119" name="Google Shape;119;p15"/>
          <p:cNvSpPr txBox="1"/>
          <p:nvPr>
            <p:ph idx="1" type="subTitle"/>
          </p:nvPr>
        </p:nvSpPr>
        <p:spPr>
          <a:xfrm>
            <a:off x="8127750" y="4608576"/>
            <a:ext cx="3205640" cy="774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ANKAN</a:t>
            </a:r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8176090" y="4508519"/>
            <a:ext cx="31089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Some Question Before We Start…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 Why Python? / We have Java, .Net, C++, etc programming language Among these options why we choose Python?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Q.2 Why Python is most liking language in the world?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Q.3 Why is Python the first choice for developers and researchers nowadays? / Why it is popular in Industries?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Q.4 Which Companies are using Python?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Q.5 What are the features &amp; characteristic of python? 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Python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1097280" y="2108201"/>
            <a:ext cx="5179695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Python is the simplest language in the world.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Nowdays you can use python as a beginning language.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Program: Collection of Instructions.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Software: Collection of Programs.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6572250" y="2104810"/>
            <a:ext cx="4343400" cy="2743416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657975" y="2234320"/>
            <a:ext cx="3335978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Types of Software: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6210D"/>
              </a:buClr>
              <a:buSzPts val="2400"/>
              <a:buFont typeface="Libre Franklin"/>
              <a:buAutoNum type="arabicPeriod"/>
            </a:pPr>
            <a:r>
              <a:rPr lang="en-US" sz="2400">
                <a:solidFill>
                  <a:srgbClr val="76210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System Software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6210D"/>
              </a:buClr>
              <a:buSzPts val="2400"/>
              <a:buFont typeface="Libre Franklin"/>
              <a:buAutoNum type="arabicPeriod"/>
            </a:pPr>
            <a:r>
              <a:rPr lang="en-US" sz="2400">
                <a:solidFill>
                  <a:srgbClr val="76210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Application Software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6210D"/>
              </a:buClr>
              <a:buSzPts val="2400"/>
              <a:buFont typeface="Libre Franklin"/>
              <a:buAutoNum type="arabicPeriod"/>
            </a:pPr>
            <a:r>
              <a:rPr lang="en-US" sz="2400">
                <a:solidFill>
                  <a:srgbClr val="76210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Web Application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6210D"/>
              </a:buClr>
              <a:buSzPts val="2400"/>
              <a:buFont typeface="Libre Franklin"/>
              <a:buAutoNum type="arabicPeriod"/>
            </a:pPr>
            <a:r>
              <a:rPr lang="en-US" sz="2400">
                <a:solidFill>
                  <a:srgbClr val="76210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Device Application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6210D"/>
              </a:buClr>
              <a:buSzPts val="2400"/>
              <a:buFont typeface="Libre Franklin"/>
              <a:buAutoNum type="arabicPeriod"/>
            </a:pPr>
            <a:r>
              <a:rPr lang="en-US" sz="2400">
                <a:solidFill>
                  <a:srgbClr val="76210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AI/IOT Device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" y="190500"/>
            <a:ext cx="8975973" cy="601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Area of Python / Real-world APP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1097279" y="2120900"/>
            <a:ext cx="647509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Application Software / Desktop Application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Web app / Internet Based Application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AI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IOT (Internet of Things)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Gaming Application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Database Application (PDBC- Python Database Connectivity)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Machine learning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6868369" y="2120900"/>
            <a:ext cx="3971081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Network Application / Cyber Security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Data Science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Data Analytics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7707630" y="5222761"/>
            <a:ext cx="39710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Note* You are not using python in Mobile Application.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7707630" y="5222762"/>
            <a:ext cx="3448050" cy="646331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Define Python in One Line…</a:t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Python is an open source, freeware, procedure, function, oops, platform independent language.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Open source: Anyone can see the source code of python./All methods are openly available. Anyone can see the source code of Python.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Founder &amp; Developer of python create source code file which is fully available that’s why it’s called open source programming language.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Freeware: In market two types of Software available 1. Licence Software like MS Office, .Net, Oracle 2. Freeware Software like Python.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Platform Independent: WORA- Write Once Run Anywhere 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Platform Independent</a:t>
            </a:r>
            <a:endParaRPr/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Q.6 What do you mean by platform independent? / What makes python platform independent?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Q.7 Difference between Platform Dependent and Platform Independency concept? </a:t>
            </a:r>
            <a:endParaRPr/>
          </a:p>
        </p:txBody>
      </p:sp>
      <p:grpSp>
        <p:nvGrpSpPr>
          <p:cNvPr id="162" name="Google Shape;162;p21"/>
          <p:cNvGrpSpPr/>
          <p:nvPr/>
        </p:nvGrpSpPr>
        <p:grpSpPr>
          <a:xfrm>
            <a:off x="3435667" y="3283796"/>
            <a:ext cx="4943475" cy="2238375"/>
            <a:chOff x="7131367" y="169121"/>
            <a:chExt cx="4943475" cy="2238375"/>
          </a:xfrm>
        </p:grpSpPr>
        <p:sp>
          <p:nvSpPr>
            <p:cNvPr id="163" name="Google Shape;163;p21"/>
            <p:cNvSpPr/>
            <p:nvPr/>
          </p:nvSpPr>
          <p:spPr>
            <a:xfrm>
              <a:off x="7131367" y="169121"/>
              <a:ext cx="4943475" cy="2238375"/>
            </a:xfrm>
            <a:prstGeom prst="rect">
              <a:avLst/>
            </a:prstGeom>
            <a:gradFill>
              <a:gsLst>
                <a:gs pos="0">
                  <a:srgbClr val="F5A58D"/>
                </a:gs>
                <a:gs pos="45000">
                  <a:srgbClr val="F9B5A0"/>
                </a:gs>
                <a:gs pos="100000">
                  <a:srgbClr val="FFB9A4"/>
                </a:gs>
              </a:gsLst>
              <a:path path="circle">
                <a:fillToRect b="50%" l="50%" r="50%" t="50%"/>
              </a:path>
              <a:tileRect/>
            </a:gradFill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4" name="Google Shape;164;p21"/>
            <p:cNvSpPr txBox="1"/>
            <p:nvPr/>
          </p:nvSpPr>
          <p:spPr>
            <a:xfrm>
              <a:off x="8953500" y="210952"/>
              <a:ext cx="15183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Python</a:t>
              </a: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7858125" y="1205655"/>
              <a:ext cx="67140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.py</a:t>
              </a:r>
              <a:endPara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10742295" y="1205654"/>
              <a:ext cx="85715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.pyc</a:t>
              </a:r>
              <a:endParaRPr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cxnSp>
          <p:nvCxnSpPr>
            <p:cNvPr id="167" name="Google Shape;167;p21"/>
            <p:cNvCxnSpPr/>
            <p:nvPr/>
          </p:nvCxnSpPr>
          <p:spPr>
            <a:xfrm flipH="1">
              <a:off x="8529527" y="857283"/>
              <a:ext cx="1183155" cy="431025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" name="Google Shape;168;p21"/>
            <p:cNvCxnSpPr>
              <a:stCxn id="164" idx="2"/>
            </p:cNvCxnSpPr>
            <p:nvPr/>
          </p:nvCxnSpPr>
          <p:spPr>
            <a:xfrm>
              <a:off x="9712682" y="857283"/>
              <a:ext cx="1029600" cy="4311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9" name="Google Shape;169;p21"/>
            <p:cNvSpPr txBox="1"/>
            <p:nvPr/>
          </p:nvSpPr>
          <p:spPr>
            <a:xfrm>
              <a:off x="7510233" y="1791939"/>
              <a:ext cx="14171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Source Code</a:t>
              </a:r>
              <a:endParaRPr/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10589208" y="1791938"/>
              <a:ext cx="11633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Byte Code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Code processing on Python</a:t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1097280" y="3067050"/>
            <a:ext cx="1512570" cy="7239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Source Code</a:t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3596640" y="3067050"/>
            <a:ext cx="1512570" cy="7239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JIT Compiler</a:t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096000" y="3067050"/>
            <a:ext cx="1512570" cy="7239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Byte Code</a:t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8650605" y="3979545"/>
            <a:ext cx="1512570" cy="7239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Mac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PVM</a:t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8650605" y="3067050"/>
            <a:ext cx="1512570" cy="7239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Linux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PVM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8650605" y="2192655"/>
            <a:ext cx="1512570" cy="7239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Windows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PVM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2247900" y="4196715"/>
            <a:ext cx="4400550" cy="1847850"/>
          </a:xfrm>
          <a:prstGeom prst="rect">
            <a:avLst/>
          </a:prstGeom>
          <a:gradFill>
            <a:gsLst>
              <a:gs pos="0">
                <a:srgbClr val="E0B594"/>
              </a:gs>
              <a:gs pos="45000">
                <a:srgbClr val="E6C2A6"/>
              </a:gs>
              <a:gs pos="100000">
                <a:srgbClr val="EFC8AC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090862" y="4703445"/>
            <a:ext cx="2524125" cy="109728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3886199" y="4842510"/>
            <a:ext cx="933450" cy="409575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41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PVM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6648450" y="5675233"/>
            <a:ext cx="1055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Windows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2848762" y="4218980"/>
            <a:ext cx="30083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 Runtime Environment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730880" y="4947106"/>
            <a:ext cx="563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.pyc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3930372" y="5320248"/>
            <a:ext cx="845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390651" y="2661285"/>
            <a:ext cx="89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.py file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393505" y="2673786"/>
            <a:ext cx="9175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.pyc file</a:t>
            </a:r>
            <a:endParaRPr/>
          </a:p>
        </p:txBody>
      </p:sp>
      <p:cxnSp>
        <p:nvCxnSpPr>
          <p:cNvPr id="191" name="Google Shape;191;p22"/>
          <p:cNvCxnSpPr>
            <a:stCxn id="176" idx="3"/>
          </p:cNvCxnSpPr>
          <p:nvPr/>
        </p:nvCxnSpPr>
        <p:spPr>
          <a:xfrm>
            <a:off x="2609850" y="3429000"/>
            <a:ext cx="904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22"/>
          <p:cNvCxnSpPr/>
          <p:nvPr/>
        </p:nvCxnSpPr>
        <p:spPr>
          <a:xfrm>
            <a:off x="5109210" y="3429000"/>
            <a:ext cx="9048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22"/>
          <p:cNvCxnSpPr/>
          <p:nvPr/>
        </p:nvCxnSpPr>
        <p:spPr>
          <a:xfrm>
            <a:off x="7703739" y="3448050"/>
            <a:ext cx="9048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22"/>
          <p:cNvCxnSpPr/>
          <p:nvPr/>
        </p:nvCxnSpPr>
        <p:spPr>
          <a:xfrm flipH="1" rot="10800000">
            <a:off x="7703738" y="2554605"/>
            <a:ext cx="809707" cy="8743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7703739" y="3467100"/>
            <a:ext cx="809706" cy="8743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Features of Python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02552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1. Simple &amp; Easy to Learn.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2. Freeware &amp; Open source.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3. Python is High level Language.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4. Python is Platform Independent Language (WORA).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5. Function &amp; OOPs language.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6. Python is Expandable with other language. / Flavors of Python – Ruby python, Pypy python, Jython, Cpython, Anaconda python.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7. python is portable language.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8. Python is Interpreted language.</a:t>
            </a:r>
            <a:endParaRPr/>
          </a:p>
          <a:p>
            <a:pPr indent="-102552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9. Provide reach libraries.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Some Questions…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Q.8 Name of any two languages which is freeware and procedure-oriented language?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Q.9 Name of the language apart of Python which is platform independent language &amp; why describe it?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Q.10 Name of any 2 language apart from C++, Python which has OOPs Concept?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Q.11 What do you mean by procedure-oriented language or function-oriented language?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Q.12 What is the difference between Compilation &amp; interpretation?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Q.13 What is the difference between Compiler &amp; Interpreter?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History</a:t>
            </a:r>
            <a:endParaRPr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Python Launched in 1989 (Beta/trial version).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The official version of python was launched in 1991 in Netherland.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Founder of Python: Guido van Rossum a Dutch Programmer.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Q.14 Why the Name “PYTHON”?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🡪 Guido van Rossum named the language after his favorite British comedy series, </a:t>
            </a:r>
            <a:r>
              <a:rPr b="1" lang="en-US"/>
              <a:t>"Monty Python's Flying Circus"</a:t>
            </a:r>
            <a:r>
              <a:rPr lang="en-US"/>
              <a:t>.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Develop of Python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1173480" y="2131182"/>
            <a:ext cx="7574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1991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Python 1.0 was released.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Python 2.0 added new features but retained legacy support.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2008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Python 3.0 was introduced as the future of Python.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End of Python 2.x support, pushing the world towards Python 3. </a:t>
            </a:r>
            <a:endParaRPr/>
          </a:p>
        </p:txBody>
      </p:sp>
      <p:sp>
        <p:nvSpPr>
          <p:cNvPr id="220" name="Google Shape;220;p26"/>
          <p:cNvSpPr txBox="1"/>
          <p:nvPr/>
        </p:nvSpPr>
        <p:spPr>
          <a:xfrm>
            <a:off x="1097280" y="3429000"/>
            <a:ext cx="1029462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Current Status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 has become one of the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most popular programming languages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in the world.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It is widely used for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web development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science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machine learning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automation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more.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Its large community and open-source nature have led to the growth of frameworks and libraries like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TensorFlow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Django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</a:t>
            </a: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Pandas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1097280" y="5257800"/>
            <a:ext cx="328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Latest Version of Python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3.13.1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Some commands in cmd</a:t>
            </a:r>
            <a:endParaRPr/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python –version 🡪 To check the version of python in your machine.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python 🡪 To open PRE (Python Runtime Environment).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You can also use python IDLE (</a:t>
            </a:r>
            <a:r>
              <a:rPr b="1" lang="en-US"/>
              <a:t>I</a:t>
            </a:r>
            <a:r>
              <a:rPr lang="en-US"/>
              <a:t>ntegrated </a:t>
            </a:r>
            <a:r>
              <a:rPr b="1" lang="en-US"/>
              <a:t>D</a:t>
            </a:r>
            <a:r>
              <a:rPr lang="en-US"/>
              <a:t>evelopment and </a:t>
            </a:r>
            <a:r>
              <a:rPr b="1" lang="en-US"/>
              <a:t>L</a:t>
            </a:r>
            <a:r>
              <a:rPr lang="en-US"/>
              <a:t>earning </a:t>
            </a:r>
            <a:r>
              <a:rPr b="1" lang="en-US"/>
              <a:t>E</a:t>
            </a:r>
            <a:r>
              <a:rPr lang="en-US"/>
              <a:t>nvironment):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900"/>
              <a:buNone/>
            </a:pPr>
            <a:r>
              <a:rPr lang="en-US"/>
              <a:t>🡪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IDLE is Python's default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lightweight IDE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(Integrated Development Environment).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comes bundled with the standard Python installation.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allows users to write, edit, debug, and run Python programs easily. 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/>
          <p:nvPr/>
        </p:nvSpPr>
        <p:spPr>
          <a:xfrm>
            <a:off x="8143875" y="2854301"/>
            <a:ext cx="2369408" cy="3460757"/>
          </a:xfrm>
          <a:prstGeom prst="rect">
            <a:avLst/>
          </a:prstGeom>
          <a:solidFill>
            <a:schemeClr val="accent4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1838325" y="2855805"/>
            <a:ext cx="8171019" cy="1292013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4" name="Google Shape;234;p2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Code Execution</a:t>
            </a:r>
            <a:endParaRPr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Q.14 What is the Difference between Source code and Byte code &amp; the extension of Python Source code(.py) file and Byte code(.pyc) file?</a:t>
            </a:r>
            <a:endParaRPr/>
          </a:p>
        </p:txBody>
      </p:sp>
      <p:sp>
        <p:nvSpPr>
          <p:cNvPr id="236" name="Google Shape;236;p28"/>
          <p:cNvSpPr/>
          <p:nvPr/>
        </p:nvSpPr>
        <p:spPr>
          <a:xfrm>
            <a:off x="2182654" y="3226646"/>
            <a:ext cx="1466850" cy="7620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Source Code</a:t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5287565" y="3226646"/>
            <a:ext cx="1466850" cy="7620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JIT Compiler</a:t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8392477" y="3226646"/>
            <a:ext cx="1466850" cy="7620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Byte Code</a:t>
            </a: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8392477" y="5363628"/>
            <a:ext cx="1466850" cy="7620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</a:t>
            </a:r>
            <a:endParaRPr/>
          </a:p>
        </p:txBody>
      </p:sp>
      <p:sp>
        <p:nvSpPr>
          <p:cNvPr id="240" name="Google Shape;240;p28"/>
          <p:cNvSpPr/>
          <p:nvPr/>
        </p:nvSpPr>
        <p:spPr>
          <a:xfrm>
            <a:off x="8392477" y="4295137"/>
            <a:ext cx="1466850" cy="7620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32F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41" name="Google Shape;241;p28"/>
          <p:cNvCxnSpPr>
            <a:stCxn id="236" idx="3"/>
          </p:cNvCxnSpPr>
          <p:nvPr/>
        </p:nvCxnSpPr>
        <p:spPr>
          <a:xfrm>
            <a:off x="3649504" y="3607646"/>
            <a:ext cx="15225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28"/>
          <p:cNvCxnSpPr/>
          <p:nvPr/>
        </p:nvCxnSpPr>
        <p:spPr>
          <a:xfrm>
            <a:off x="6754415" y="3607646"/>
            <a:ext cx="1522571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28"/>
          <p:cNvCxnSpPr/>
          <p:nvPr/>
        </p:nvCxnSpPr>
        <p:spPr>
          <a:xfrm>
            <a:off x="9029700" y="3988646"/>
            <a:ext cx="0" cy="306491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28"/>
          <p:cNvCxnSpPr>
            <a:stCxn id="240" idx="2"/>
            <a:endCxn id="239" idx="0"/>
          </p:cNvCxnSpPr>
          <p:nvPr/>
        </p:nvCxnSpPr>
        <p:spPr>
          <a:xfrm>
            <a:off x="9125902" y="5057137"/>
            <a:ext cx="0" cy="306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28"/>
          <p:cNvSpPr/>
          <p:nvPr/>
        </p:nvSpPr>
        <p:spPr>
          <a:xfrm>
            <a:off x="8810625" y="4653282"/>
            <a:ext cx="628640" cy="294637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41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PVM</a:t>
            </a:r>
            <a:endParaRPr/>
          </a:p>
        </p:txBody>
      </p:sp>
      <p:cxnSp>
        <p:nvCxnSpPr>
          <p:cNvPr id="246" name="Google Shape;246;p28"/>
          <p:cNvCxnSpPr>
            <a:stCxn id="236" idx="2"/>
          </p:cNvCxnSpPr>
          <p:nvPr/>
        </p:nvCxnSpPr>
        <p:spPr>
          <a:xfrm>
            <a:off x="2916079" y="3988646"/>
            <a:ext cx="0" cy="306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28"/>
          <p:cNvSpPr txBox="1"/>
          <p:nvPr/>
        </p:nvSpPr>
        <p:spPr>
          <a:xfrm>
            <a:off x="2686593" y="2857314"/>
            <a:ext cx="458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.py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8747924" y="2855805"/>
            <a:ext cx="563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.pyc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649492" y="2854301"/>
            <a:ext cx="27429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Compile time Environment</a:t>
            </a:r>
            <a:endParaRPr/>
          </a:p>
        </p:txBody>
      </p:sp>
      <p:sp>
        <p:nvSpPr>
          <p:cNvPr id="250" name="Google Shape;250;p28"/>
          <p:cNvSpPr txBox="1"/>
          <p:nvPr/>
        </p:nvSpPr>
        <p:spPr>
          <a:xfrm rot="5400000">
            <a:off x="9088819" y="4468616"/>
            <a:ext cx="2383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Run Time Environment</a:t>
            </a:r>
            <a:endParaRPr/>
          </a:p>
        </p:txBody>
      </p:sp>
      <p:sp>
        <p:nvSpPr>
          <p:cNvPr id="251" name="Google Shape;251;p28"/>
          <p:cNvSpPr txBox="1"/>
          <p:nvPr/>
        </p:nvSpPr>
        <p:spPr>
          <a:xfrm>
            <a:off x="4580083" y="4091420"/>
            <a:ext cx="22463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Compile/Syntax Error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 rot="5400000">
            <a:off x="7172837" y="5025716"/>
            <a:ext cx="1651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Exception Error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2196726" y="4295137"/>
            <a:ext cx="211775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Editor: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Notepad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IDLE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VS Code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Pycharm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Jupiter Notebook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Some Questions…</a:t>
            </a:r>
            <a:endParaRPr/>
          </a:p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Q.14 What is the difference between simple compiler &amp; JIT Compiler?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Q.15 Is Python Compiled language or Interpreted language?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Q.16 How many Files are in Python?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Q.17 How many Environments are used by Python?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First Python Program using Notepad…</a:t>
            </a:r>
            <a:endParaRPr/>
          </a:p>
        </p:txBody>
      </p:sp>
      <p:pic>
        <p:nvPicPr>
          <p:cNvPr id="265" name="Google Shape;2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8" y="2147648"/>
            <a:ext cx="5129624" cy="4019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2709" y="2137183"/>
            <a:ext cx="5963482" cy="4029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Create .pyc file using cmd</a:t>
            </a:r>
            <a:endParaRPr/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49" y="1941083"/>
            <a:ext cx="4248151" cy="42535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/>
        </p:nvSpPr>
        <p:spPr>
          <a:xfrm>
            <a:off x="6743700" y="3124200"/>
            <a:ext cx="308411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 –m py_compile first.py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dir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cd __pycache__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dir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One-line code in cmd PRE</a:t>
            </a:r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862" y="2047596"/>
            <a:ext cx="8602275" cy="400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Python Program using IDLE</a:t>
            </a:r>
            <a:endParaRPr/>
          </a:p>
        </p:txBody>
      </p:sp>
      <p:pic>
        <p:nvPicPr>
          <p:cNvPr id="285" name="Google Shape;2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43" y="2138062"/>
            <a:ext cx="5539137" cy="363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3768" y="2138062"/>
            <a:ext cx="5508657" cy="363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Title Lorem Ipsum </a:t>
            </a:r>
            <a:endParaRPr/>
          </a:p>
        </p:txBody>
      </p:sp>
      <p:graphicFrame>
        <p:nvGraphicFramePr>
          <p:cNvPr id="292" name="Google Shape;292;p34"/>
          <p:cNvGraphicFramePr/>
          <p:nvPr/>
        </p:nvGraphicFramePr>
        <p:xfrm>
          <a:off x="1096963" y="22168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{E7ACB759-7699-4AEA-A5C5-1DA52B9AF746}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1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lt1"/>
                          </a:solidFill>
                        </a:rPr>
                        <a:t>Q1</a:t>
                      </a:r>
                      <a:endParaRPr/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cap="none">
                          <a:solidFill>
                            <a:schemeClr val="lt1"/>
                          </a:solidFill>
                        </a:rPr>
                        <a:t>Q2</a:t>
                      </a:r>
                      <a:endParaRPr/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cap="none">
                          <a:solidFill>
                            <a:schemeClr val="lt1"/>
                          </a:solidFill>
                        </a:rPr>
                        <a:t>Q3</a:t>
                      </a:r>
                      <a:endParaRPr/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cap="none">
                          <a:solidFill>
                            <a:schemeClr val="lt1"/>
                          </a:solidFill>
                        </a:rPr>
                        <a:t>Q4</a:t>
                      </a:r>
                      <a:endParaRPr/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7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7450"/>
                      </a:srgbClr>
                    </a:solidFill>
                  </a:tcPr>
                </a:tc>
              </a:tr>
              <a:tr h="97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rPr lang="en-US" sz="1400" cap="none">
                          <a:solidFill>
                            <a:schemeClr val="dk1"/>
                          </a:solidFill>
                        </a:rPr>
                        <a:t>Lorem ipsum et tula lorem ipsum et lorem ipsum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cap="none">
                        <a:solidFill>
                          <a:schemeClr val="dk1"/>
                        </a:solidFill>
                      </a:endParaRPr>
                    </a:p>
                  </a:txBody>
                  <a:tcPr marT="151050" marB="151050" marR="151050" marL="1510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34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