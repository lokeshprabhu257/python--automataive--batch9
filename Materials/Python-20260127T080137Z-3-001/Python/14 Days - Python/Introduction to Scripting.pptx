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Lato"/>
      <p:regular r:id="rId17"/>
    </p:embeddedFont>
    <p:embeddedFont>
      <p:font typeface="Lato"/>
      <p:regular r:id="rId18"/>
    </p:embeddedFont>
    <p:embeddedFont>
      <p:font typeface="Lato"/>
      <p:regular r:id="rId19"/>
    </p:embeddedFont>
    <p:embeddedFont>
      <p:font typeface="Lato"/>
      <p:regular r:id="rId20"/>
    </p:embeddedFont>
    <p:embeddedFont>
      <p:font typeface="Lato"/>
      <p:regular r:id="rId21"/>
    </p:embeddedFont>
    <p:embeddedFont>
      <p:font typeface="Lato"/>
      <p:regular r:id="rId22"/>
    </p:embeddedFont>
    <p:embeddedFont>
      <p:font typeface="Lato"/>
      <p:regular r:id="rId23"/>
    </p:embeddedFont>
    <p:embeddedFont>
      <p:font typeface="Lat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9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3719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Introduction to Scripting and Python: From Basics to Evolution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0369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Discover the world of scripting languages and explore how Python evolved from a hobby project to one of the most powerful and beloved programming languages in the world.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6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What is Scripting?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45625"/>
            <a:ext cx="760428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Scripting is the art of automating repetitive tasks by writing small, focused programs called scripts. Unlike traditional compiled programs, scripts are typically interpreted and executed line-by-line, making them perfect for quick solutions and rapid development.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824049"/>
            <a:ext cx="39853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Common Scripting Applications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405193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Automating system administration tasks and file operations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847392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Enhancing web page behavior and interactivity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289590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Processing and transforming data efficiently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731788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Connecting different software components together</a:t>
            </a:r>
            <a:endParaRPr lang="en-US" sz="17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9096" y="2196703"/>
            <a:ext cx="4885015" cy="48850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9757"/>
            <a:ext cx="125693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Scripting vs Programming: What's the Difference?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72164"/>
            <a:ext cx="4196358" cy="3665815"/>
          </a:xfrm>
          <a:prstGeom prst="roundRect">
            <a:avLst>
              <a:gd name="adj" fmla="val 928"/>
            </a:avLst>
          </a:prstGeom>
          <a:solidFill>
            <a:srgbClr val="E5DFD2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229897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8282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7770" y="2486025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2062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Execution Model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3696653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Scripting languages are typically interpreted and run immediately, while programming languages are often compiled into machine code before execution.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072164"/>
            <a:ext cx="4196358" cy="3665815"/>
          </a:xfrm>
          <a:prstGeom prst="roundRect">
            <a:avLst>
              <a:gd name="adj" fmla="val 928"/>
            </a:avLst>
          </a:prstGeom>
          <a:solidFill>
            <a:srgbClr val="E5DFD2"/>
          </a:solidFill>
          <a:ln/>
        </p:spPr>
      </p:sp>
      <p:sp>
        <p:nvSpPr>
          <p:cNvPr id="9" name="Shape 6"/>
          <p:cNvSpPr/>
          <p:nvPr/>
        </p:nvSpPr>
        <p:spPr>
          <a:xfrm>
            <a:off x="5443776" y="229897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8282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0942" y="2486025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3776" y="32062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Primary Purpose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43776" y="3696653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Scripts often glue together existing software components and automate workflows, while programs build complex, standalone systems from scratch.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072164"/>
            <a:ext cx="4196358" cy="3665815"/>
          </a:xfrm>
          <a:prstGeom prst="roundRect">
            <a:avLst>
              <a:gd name="adj" fmla="val 928"/>
            </a:avLst>
          </a:prstGeom>
          <a:solidFill>
            <a:srgbClr val="E5DFD2"/>
          </a:solidFill>
          <a:ln/>
        </p:spPr>
      </p:sp>
      <p:sp>
        <p:nvSpPr>
          <p:cNvPr id="14" name="Shape 10"/>
          <p:cNvSpPr/>
          <p:nvPr/>
        </p:nvSpPr>
        <p:spPr>
          <a:xfrm>
            <a:off x="9866948" y="229897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8282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54114" y="2486025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6948" y="32062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Design Philosophy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66948" y="3696653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Scripting emphasizes ease of use and development speed, while programming prioritizes performance, scalability, and system-level control.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93790" y="5993130"/>
            <a:ext cx="13042821" cy="1326713"/>
          </a:xfrm>
          <a:prstGeom prst="roundRect">
            <a:avLst>
              <a:gd name="adj" fmla="val 2565"/>
            </a:avLst>
          </a:prstGeom>
          <a:solidFill>
            <a:srgbClr val="DBDBD7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604" y="6344841"/>
            <a:ext cx="283488" cy="22681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30906" y="6276618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Example: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JavaScript (scripting) adds interactive features to websites, while C++ (programming) builds operating systems and game engines.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6993" y="762000"/>
            <a:ext cx="7730014" cy="1262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The Birth of Python: A Scripting Language with a Vision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934164" y="2327553"/>
            <a:ext cx="22860" cy="4266248"/>
          </a:xfrm>
          <a:prstGeom prst="roundRect">
            <a:avLst>
              <a:gd name="adj" fmla="val 132556"/>
            </a:avLst>
          </a:prstGeom>
          <a:solidFill>
            <a:srgbClr val="CBC5B8"/>
          </a:solidFill>
          <a:ln/>
        </p:spPr>
      </p:sp>
      <p:sp>
        <p:nvSpPr>
          <p:cNvPr id="5" name="Shape 2"/>
          <p:cNvSpPr/>
          <p:nvPr/>
        </p:nvSpPr>
        <p:spPr>
          <a:xfrm>
            <a:off x="1138535" y="2543294"/>
            <a:ext cx="606028" cy="22860"/>
          </a:xfrm>
          <a:prstGeom prst="roundRect">
            <a:avLst>
              <a:gd name="adj" fmla="val 132556"/>
            </a:avLst>
          </a:prstGeom>
          <a:solidFill>
            <a:srgbClr val="CBC5B8"/>
          </a:solidFill>
          <a:ln/>
        </p:spPr>
      </p:sp>
      <p:sp>
        <p:nvSpPr>
          <p:cNvPr id="6" name="Shape 3"/>
          <p:cNvSpPr/>
          <p:nvPr/>
        </p:nvSpPr>
        <p:spPr>
          <a:xfrm>
            <a:off x="706934" y="2327553"/>
            <a:ext cx="454462" cy="454462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</p:sp>
      <p:sp>
        <p:nvSpPr>
          <p:cNvPr id="7" name="Text 4"/>
          <p:cNvSpPr/>
          <p:nvPr/>
        </p:nvSpPr>
        <p:spPr>
          <a:xfrm>
            <a:off x="782598" y="2365355"/>
            <a:ext cx="303014" cy="378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</a:t>
            </a:r>
            <a:endParaRPr lang="en-US" sz="2350" dirty="0"/>
          </a:p>
        </p:txBody>
      </p:sp>
      <p:sp>
        <p:nvSpPr>
          <p:cNvPr id="8" name="Text 5"/>
          <p:cNvSpPr/>
          <p:nvPr/>
        </p:nvSpPr>
        <p:spPr>
          <a:xfrm>
            <a:off x="1944291" y="2396966"/>
            <a:ext cx="2525078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1989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944291" y="2833807"/>
            <a:ext cx="6492716" cy="646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Guido van Rossum begins Python as a hobby project at CWI in the Netherlands during Christmas break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1138535" y="4100036"/>
            <a:ext cx="606028" cy="22860"/>
          </a:xfrm>
          <a:prstGeom prst="roundRect">
            <a:avLst>
              <a:gd name="adj" fmla="val 132556"/>
            </a:avLst>
          </a:prstGeom>
          <a:solidFill>
            <a:srgbClr val="CBC5B8"/>
          </a:solidFill>
          <a:ln/>
        </p:spPr>
      </p:sp>
      <p:sp>
        <p:nvSpPr>
          <p:cNvPr id="11" name="Shape 8"/>
          <p:cNvSpPr/>
          <p:nvPr/>
        </p:nvSpPr>
        <p:spPr>
          <a:xfrm>
            <a:off x="706934" y="3884295"/>
            <a:ext cx="454462" cy="454462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</p:sp>
      <p:sp>
        <p:nvSpPr>
          <p:cNvPr id="12" name="Text 9"/>
          <p:cNvSpPr/>
          <p:nvPr/>
        </p:nvSpPr>
        <p:spPr>
          <a:xfrm>
            <a:off x="782598" y="3922097"/>
            <a:ext cx="303014" cy="378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</a:t>
            </a:r>
            <a:endParaRPr lang="en-US" sz="2350" dirty="0"/>
          </a:p>
        </p:txBody>
      </p:sp>
      <p:sp>
        <p:nvSpPr>
          <p:cNvPr id="13" name="Text 10"/>
          <p:cNvSpPr/>
          <p:nvPr/>
        </p:nvSpPr>
        <p:spPr>
          <a:xfrm>
            <a:off x="1944291" y="3953708"/>
            <a:ext cx="2525078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The Name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1944291" y="4390549"/>
            <a:ext cx="6492716" cy="646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Named after "Monty Python's Flying Circus" to reflect fun, simplicity, and a playful approach to programming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1138535" y="5656778"/>
            <a:ext cx="606028" cy="22860"/>
          </a:xfrm>
          <a:prstGeom prst="roundRect">
            <a:avLst>
              <a:gd name="adj" fmla="val 132556"/>
            </a:avLst>
          </a:prstGeom>
          <a:solidFill>
            <a:srgbClr val="CBC5B8"/>
          </a:solidFill>
          <a:ln/>
        </p:spPr>
      </p:sp>
      <p:sp>
        <p:nvSpPr>
          <p:cNvPr id="16" name="Shape 13"/>
          <p:cNvSpPr/>
          <p:nvPr/>
        </p:nvSpPr>
        <p:spPr>
          <a:xfrm>
            <a:off x="706934" y="5441037"/>
            <a:ext cx="454462" cy="454462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</p:sp>
      <p:sp>
        <p:nvSpPr>
          <p:cNvPr id="17" name="Text 14"/>
          <p:cNvSpPr/>
          <p:nvPr/>
        </p:nvSpPr>
        <p:spPr>
          <a:xfrm>
            <a:off x="782598" y="5478840"/>
            <a:ext cx="303014" cy="378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</a:t>
            </a:r>
            <a:endParaRPr lang="en-US" sz="2350" dirty="0"/>
          </a:p>
        </p:txBody>
      </p:sp>
      <p:sp>
        <p:nvSpPr>
          <p:cNvPr id="18" name="Text 15"/>
          <p:cNvSpPr/>
          <p:nvPr/>
        </p:nvSpPr>
        <p:spPr>
          <a:xfrm>
            <a:off x="1944291" y="5510451"/>
            <a:ext cx="2525078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1991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1944291" y="5947291"/>
            <a:ext cx="6492716" cy="646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First public release focuses on code readability and requires fewer lines than C++ or Java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706993" y="6820972"/>
            <a:ext cx="7730014" cy="646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Python was born from a desire to create a language that would bridge the gap between shell scripting and systems programming, offering both simplicity and power.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6033"/>
            <a:ext cx="1026545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Python's Early Features That Set It Apart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808440"/>
            <a:ext cx="6407944" cy="2774156"/>
          </a:xfrm>
          <a:prstGeom prst="roundRect">
            <a:avLst>
              <a:gd name="adj" fmla="val 1226"/>
            </a:avLst>
          </a:prstGeom>
          <a:solidFill>
            <a:srgbClr val="EFECE6"/>
          </a:solidFill>
          <a:ln w="30480">
            <a:solidFill>
              <a:srgbClr val="CBC5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1838920"/>
            <a:ext cx="6346984" cy="680442"/>
          </a:xfrm>
          <a:prstGeom prst="rect">
            <a:avLst/>
          </a:prstGeom>
          <a:solidFill>
            <a:srgbClr val="E5DFD2"/>
          </a:solidFill>
          <a:ln/>
        </p:spPr>
      </p:sp>
      <p:sp>
        <p:nvSpPr>
          <p:cNvPr id="5" name="Text 3"/>
          <p:cNvSpPr/>
          <p:nvPr/>
        </p:nvSpPr>
        <p:spPr>
          <a:xfrm>
            <a:off x="3827621" y="196643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051084" y="2746177"/>
            <a:ext cx="39408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Object-Oriented from Day One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084" y="3236595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Supported classes with inheritance, enabling organized and reusable code structures right from the initial release.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1808440"/>
            <a:ext cx="6408063" cy="2774156"/>
          </a:xfrm>
          <a:prstGeom prst="roundRect">
            <a:avLst>
              <a:gd name="adj" fmla="val 1226"/>
            </a:avLst>
          </a:prstGeom>
          <a:solidFill>
            <a:srgbClr val="EFECE6"/>
          </a:solidFill>
          <a:ln w="30480">
            <a:solidFill>
              <a:srgbClr val="CBC5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59027" y="1838920"/>
            <a:ext cx="6347103" cy="680442"/>
          </a:xfrm>
          <a:prstGeom prst="rect">
            <a:avLst/>
          </a:prstGeom>
          <a:solidFill>
            <a:srgbClr val="E5DFD2"/>
          </a:solidFill>
          <a:ln/>
        </p:spPr>
      </p:sp>
      <p:sp>
        <p:nvSpPr>
          <p:cNvPr id="10" name="Text 8"/>
          <p:cNvSpPr/>
          <p:nvPr/>
        </p:nvSpPr>
        <p:spPr>
          <a:xfrm>
            <a:off x="10462498" y="196643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7685842" y="2746177"/>
            <a:ext cx="30193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Rich Built-in Data Types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85842" y="3236595"/>
            <a:ext cx="58934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Included powerful core data structures like lists, dictionaries, and tuples, plus comprehensive exception handling for robust error management.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4809411"/>
            <a:ext cx="6407944" cy="2774156"/>
          </a:xfrm>
          <a:prstGeom prst="roundRect">
            <a:avLst>
              <a:gd name="adj" fmla="val 1226"/>
            </a:avLst>
          </a:prstGeom>
          <a:solidFill>
            <a:srgbClr val="EFECE6"/>
          </a:solidFill>
          <a:ln w="30480">
            <a:solidFill>
              <a:srgbClr val="CBC5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4270" y="4839891"/>
            <a:ext cx="6346984" cy="680442"/>
          </a:xfrm>
          <a:prstGeom prst="rect">
            <a:avLst/>
          </a:prstGeom>
          <a:solidFill>
            <a:srgbClr val="E5DFD2"/>
          </a:solidFill>
          <a:ln/>
        </p:spPr>
      </p:sp>
      <p:sp>
        <p:nvSpPr>
          <p:cNvPr id="15" name="Text 13"/>
          <p:cNvSpPr/>
          <p:nvPr/>
        </p:nvSpPr>
        <p:spPr>
          <a:xfrm>
            <a:off x="3827621" y="496740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</a:t>
            </a:r>
            <a:endParaRPr lang="en-US" sz="2650" dirty="0"/>
          </a:p>
        </p:txBody>
      </p:sp>
      <p:sp>
        <p:nvSpPr>
          <p:cNvPr id="16" name="Text 14"/>
          <p:cNvSpPr/>
          <p:nvPr/>
        </p:nvSpPr>
        <p:spPr>
          <a:xfrm>
            <a:off x="1051084" y="5747147"/>
            <a:ext cx="38360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Functional Programming Tools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084" y="6237565"/>
            <a:ext cx="58933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Early introduction of lambda functions, map, filter, and reduce brought functional programming paradigms to an accessible scripting language.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428548" y="4809411"/>
            <a:ext cx="6408063" cy="2774156"/>
          </a:xfrm>
          <a:prstGeom prst="roundRect">
            <a:avLst>
              <a:gd name="adj" fmla="val 1226"/>
            </a:avLst>
          </a:prstGeom>
          <a:solidFill>
            <a:srgbClr val="EFECE6"/>
          </a:solidFill>
          <a:ln w="30480">
            <a:solidFill>
              <a:srgbClr val="CBC5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59027" y="4839891"/>
            <a:ext cx="6347103" cy="680442"/>
          </a:xfrm>
          <a:prstGeom prst="rect">
            <a:avLst/>
          </a:prstGeom>
          <a:solidFill>
            <a:srgbClr val="E5DFD2"/>
          </a:solidFill>
          <a:ln/>
        </p:spPr>
      </p:sp>
      <p:sp>
        <p:nvSpPr>
          <p:cNvPr id="20" name="Text 18"/>
          <p:cNvSpPr/>
          <p:nvPr/>
        </p:nvSpPr>
        <p:spPr>
          <a:xfrm>
            <a:off x="10462498" y="496740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4</a:t>
            </a:r>
            <a:endParaRPr lang="en-US" sz="2650" dirty="0"/>
          </a:p>
        </p:txBody>
      </p:sp>
      <p:sp>
        <p:nvSpPr>
          <p:cNvPr id="21" name="Text 19"/>
          <p:cNvSpPr/>
          <p:nvPr/>
        </p:nvSpPr>
        <p:spPr>
          <a:xfrm>
            <a:off x="7685842" y="5747147"/>
            <a:ext cx="32924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Indentation-Based Syntax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685842" y="6237565"/>
            <a:ext cx="58934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Revolutionary use of whitespace and indentation instead of braces made code naturally readable and enforced clean formatting.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506" y="634603"/>
            <a:ext cx="7587734" cy="586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Evolution of Python: Key Milestones</a:t>
            </a:r>
            <a:endParaRPr lang="en-US" sz="3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506" y="1502926"/>
            <a:ext cx="563285" cy="1143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94552" y="1690687"/>
            <a:ext cx="2347198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Python 1.0 (1994)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6894552" y="2096572"/>
            <a:ext cx="7078742" cy="60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Introduced the module system and functional programming features including lambda, map, filter, and reduce.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089" y="3072884"/>
            <a:ext cx="563285" cy="1143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176135" y="3260646"/>
            <a:ext cx="2347198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Python 2.0 (2000)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7176135" y="3666530"/>
            <a:ext cx="6797159" cy="60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Major release added list comprehensions for elegant data processing, automatic garbage collection, and full Unicode support for internationalization.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791" y="4642842"/>
            <a:ext cx="563285" cy="11430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57837" y="4830604"/>
            <a:ext cx="2347198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Python 3.0 (2008)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7457837" y="5236488"/>
            <a:ext cx="6515457" cy="60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Complete overhaul designed to fix legacy design flaws, with improved Unicode handling, consistent integer division, and modernized syntax.</a:t>
            </a:r>
            <a:endParaRPr lang="en-US" sz="14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8493" y="6212800"/>
            <a:ext cx="563285" cy="11430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739539" y="6400562"/>
            <a:ext cx="2898458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Python 2 End-of-Life (2020)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7739539" y="6806446"/>
            <a:ext cx="6233755" cy="60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Official sunset of Python 2 marked the community's complete transition to Python 3, unifying the ecosystem.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8161" y="414933"/>
            <a:ext cx="6313646" cy="471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Python Today: Powerful and Versatile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528161" y="1263729"/>
            <a:ext cx="2263854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Latest Stable Version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528161" y="1697474"/>
            <a:ext cx="6602968" cy="482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Python 3.12.1 (2025) delivers faster execution speeds, more helpful error messages, and enhanced performance optimizations that make it production-ready for demanding applications.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28161" y="2331244"/>
            <a:ext cx="1897499" cy="23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Where Python Thrives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28161" y="2717959"/>
            <a:ext cx="6602968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Web development with frameworks like Django and Flask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28161" y="3012162"/>
            <a:ext cx="6602968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 science and machine learning with NumPy and Scikit-learn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28161" y="3306366"/>
            <a:ext cx="6602968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Artificial intelligence using TensorFlow and PyTorch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28161" y="3600569"/>
            <a:ext cx="6602968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Automation, scripting, and DevOps workflows</a:t>
            </a:r>
            <a:endParaRPr lang="en-US" sz="11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6891" y="1282660"/>
            <a:ext cx="6602968" cy="66029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506891" y="8055412"/>
            <a:ext cx="2343388" cy="23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Massive Ecosystem Support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506891" y="8442127"/>
            <a:ext cx="6602968" cy="482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Over 400,000 packages available through PyPI (Python Package Index), covering virtually every domain from web frameworks to scientific computing libraries.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7327" y="522684"/>
            <a:ext cx="8109347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Unique Features of Python That Drive Its Popularity</a:t>
            </a:r>
            <a:endParaRPr lang="en-US" sz="29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327" y="1668304"/>
            <a:ext cx="369570" cy="36957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17327" y="2222659"/>
            <a:ext cx="1965365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Simplicity &amp; Readability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517327" y="2542223"/>
            <a:ext cx="8109347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English-like syntax with minimal punctuation dramatically reduces the learning curve and makes code maintainable for years.</a:t>
            </a:r>
            <a:endParaRPr lang="en-US" sz="11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7327" y="3074432"/>
            <a:ext cx="369570" cy="36957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17327" y="3628787"/>
            <a:ext cx="2992993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Interpreted &amp; Platform Independent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517327" y="3948351"/>
            <a:ext cx="8109347" cy="473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Write once, run anywhere—no recompilation needed. Code executes on Windows, Mac, Linux, and even mobile platforms seamlessly.</a:t>
            </a:r>
            <a:endParaRPr lang="en-US" sz="1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7327" y="4717137"/>
            <a:ext cx="369570" cy="36957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17327" y="5271492"/>
            <a:ext cx="1847850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Dynamically Typed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517327" y="5591056"/>
            <a:ext cx="8109347" cy="473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Variables adapt automatically to the data they hold, eliminating verbose type declarations and accelerating development cycles.</a:t>
            </a:r>
            <a:endParaRPr lang="en-US" sz="11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7327" y="6359843"/>
            <a:ext cx="369570" cy="36957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17327" y="6914198"/>
            <a:ext cx="1847850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Extensive Libraries</a:t>
            </a:r>
            <a:endParaRPr lang="en-US" sz="1450" dirty="0"/>
          </a:p>
        </p:txBody>
      </p:sp>
      <p:sp>
        <p:nvSpPr>
          <p:cNvPr id="15" name="Text 8"/>
          <p:cNvSpPr/>
          <p:nvPr/>
        </p:nvSpPr>
        <p:spPr>
          <a:xfrm>
            <a:off x="517327" y="7233761"/>
            <a:ext cx="8109347" cy="473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Comprehensive standard library plus thousands of third-party modules provide ready-made solutions for virtually any programming challenge.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4700" y="664845"/>
            <a:ext cx="6599873" cy="614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Python's Impact and Influence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6174700" y="1574363"/>
            <a:ext cx="3785354" cy="2077164"/>
          </a:xfrm>
          <a:prstGeom prst="roundRect">
            <a:avLst>
              <a:gd name="adj" fmla="val 1420"/>
            </a:avLst>
          </a:prstGeom>
          <a:solidFill>
            <a:srgbClr val="282824"/>
          </a:solidFill>
          <a:ln/>
        </p:spPr>
      </p:sp>
      <p:sp>
        <p:nvSpPr>
          <p:cNvPr id="5" name="Text 2"/>
          <p:cNvSpPr/>
          <p:nvPr/>
        </p:nvSpPr>
        <p:spPr>
          <a:xfrm>
            <a:off x="6371273" y="1770936"/>
            <a:ext cx="2458403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Language Influence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371273" y="2196227"/>
            <a:ext cx="3392210" cy="1258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Inspired modern languages including Ruby, Swift, Go, and Julia with its focus on readability and developer productivity.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0156627" y="1574363"/>
            <a:ext cx="3785473" cy="2077164"/>
          </a:xfrm>
          <a:prstGeom prst="roundRect">
            <a:avLst>
              <a:gd name="adj" fmla="val 1420"/>
            </a:avLst>
          </a:prstGeom>
          <a:solidFill>
            <a:srgbClr val="282824"/>
          </a:solidFill>
          <a:ln/>
        </p:spPr>
      </p:sp>
      <p:sp>
        <p:nvSpPr>
          <p:cNvPr id="8" name="Text 5"/>
          <p:cNvSpPr/>
          <p:nvPr/>
        </p:nvSpPr>
        <p:spPr>
          <a:xfrm>
            <a:off x="10353199" y="1770936"/>
            <a:ext cx="2458403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Industry Adoption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353199" y="2196227"/>
            <a:ext cx="3392329" cy="944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Powers tech giants like Google, Dropbox, Mozilla, IBM, Meta, Netflix, and Spotify for mission-critical systems.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74700" y="3848100"/>
            <a:ext cx="7767399" cy="1447800"/>
          </a:xfrm>
          <a:prstGeom prst="roundRect">
            <a:avLst>
              <a:gd name="adj" fmla="val 2038"/>
            </a:avLst>
          </a:prstGeom>
          <a:solidFill>
            <a:srgbClr val="282824"/>
          </a:solidFill>
          <a:ln/>
        </p:spPr>
      </p:sp>
      <p:sp>
        <p:nvSpPr>
          <p:cNvPr id="11" name="Text 8"/>
          <p:cNvSpPr/>
          <p:nvPr/>
        </p:nvSpPr>
        <p:spPr>
          <a:xfrm>
            <a:off x="6371273" y="4044672"/>
            <a:ext cx="2458403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Innovation Platform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371273" y="4469963"/>
            <a:ext cx="7374255" cy="629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PyScript enables Python to run directly in web browsers, bringing Python's power to frontend development without servers.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174700" y="5615345"/>
            <a:ext cx="2425303" cy="649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00"/>
              </a:lnSpc>
              <a:buNone/>
            </a:pPr>
            <a:r>
              <a:rPr lang="en-US" sz="5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13M+</a:t>
            </a:r>
            <a:endParaRPr lang="en-US" sz="5100" dirty="0"/>
          </a:p>
        </p:txBody>
      </p:sp>
      <p:sp>
        <p:nvSpPr>
          <p:cNvPr id="14" name="Text 11"/>
          <p:cNvSpPr/>
          <p:nvPr/>
        </p:nvSpPr>
        <p:spPr>
          <a:xfrm>
            <a:off x="6174700" y="6509980"/>
            <a:ext cx="2425303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Active Developers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174700" y="6935272"/>
            <a:ext cx="2425303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Worldwide community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845748" y="5615345"/>
            <a:ext cx="2425303" cy="649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00"/>
              </a:lnSpc>
              <a:buNone/>
            </a:pPr>
            <a:r>
              <a:rPr lang="en-US" sz="5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400K+</a:t>
            </a:r>
            <a:endParaRPr lang="en-US" sz="5100" dirty="0"/>
          </a:p>
        </p:txBody>
      </p:sp>
      <p:sp>
        <p:nvSpPr>
          <p:cNvPr id="17" name="Text 14"/>
          <p:cNvSpPr/>
          <p:nvPr/>
        </p:nvSpPr>
        <p:spPr>
          <a:xfrm>
            <a:off x="8845748" y="6509980"/>
            <a:ext cx="2425303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Packages Available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8845748" y="6935272"/>
            <a:ext cx="2425303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 PyPI repository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516797" y="5615345"/>
            <a:ext cx="2425303" cy="649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00"/>
              </a:lnSpc>
              <a:buNone/>
            </a:pPr>
            <a:r>
              <a:rPr lang="en-US" sz="5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#1</a:t>
            </a:r>
            <a:endParaRPr lang="en-US" sz="5100" dirty="0"/>
          </a:p>
        </p:txBody>
      </p:sp>
      <p:sp>
        <p:nvSpPr>
          <p:cNvPr id="20" name="Text 17"/>
          <p:cNvSpPr/>
          <p:nvPr/>
        </p:nvSpPr>
        <p:spPr>
          <a:xfrm>
            <a:off x="11516797" y="6509980"/>
            <a:ext cx="2425303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Most Popular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11516797" y="6935272"/>
            <a:ext cx="2425303" cy="629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Programming language 2024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9966" y="781764"/>
            <a:ext cx="7784068" cy="121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Conclusion: Why Learn Scripting with Python?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679966" y="2287548"/>
            <a:ext cx="437078" cy="437078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</p:sp>
      <p:sp>
        <p:nvSpPr>
          <p:cNvPr id="5" name="Text 2"/>
          <p:cNvSpPr/>
          <p:nvPr/>
        </p:nvSpPr>
        <p:spPr>
          <a:xfrm>
            <a:off x="1311235" y="2323862"/>
            <a:ext cx="2914412" cy="364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Best of Both Worlds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1311235" y="2804755"/>
            <a:ext cx="7152799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Python uniquely combines the ease and flexibility of scripting languages with the robustness and scalability of traditional programming languages.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79966" y="3815001"/>
            <a:ext cx="437078" cy="437078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</p:sp>
      <p:sp>
        <p:nvSpPr>
          <p:cNvPr id="8" name="Text 5"/>
          <p:cNvSpPr/>
          <p:nvPr/>
        </p:nvSpPr>
        <p:spPr>
          <a:xfrm>
            <a:off x="1311235" y="3851315"/>
            <a:ext cx="4987766" cy="364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Beginner-Friendly, Professional-Grade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311235" y="4332208"/>
            <a:ext cx="7152799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Its clear, readable syntax makes it perfect for beginners, while its extensive capabilities and libraries satisfy the needs of experienced professionals.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79966" y="5342453"/>
            <a:ext cx="437078" cy="437078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</p:sp>
      <p:sp>
        <p:nvSpPr>
          <p:cNvPr id="11" name="Text 8"/>
          <p:cNvSpPr/>
          <p:nvPr/>
        </p:nvSpPr>
        <p:spPr>
          <a:xfrm>
            <a:off x="1311235" y="5378768"/>
            <a:ext cx="4612600" cy="364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Gateway to Limitless Opportunities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1311235" y="5859661"/>
            <a:ext cx="7152799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Mastering Python opens doors to diverse fields including automation, web development, data science, artificial intelligence, cybersecurity, and beyond.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71312" y="6918365"/>
            <a:ext cx="7492722" cy="3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Start scripting today and join millions of developers shaping the future with Python!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79966" y="6699885"/>
            <a:ext cx="22860" cy="747832"/>
          </a:xfrm>
          <a:prstGeom prst="rect">
            <a:avLst/>
          </a:prstGeom>
          <a:solidFill>
            <a:srgbClr val="28282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2025-12-08T06:25:16Z</dcterms:created>
  <dcterms:modified xsi:type="dcterms:W3CDTF">2025-12-08T06:25:16Z</dcterms:modified>
</cp:coreProperties>
</file>