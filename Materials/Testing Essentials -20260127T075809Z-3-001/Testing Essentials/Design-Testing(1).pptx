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8229600" cx="14630400"/>
  <p:notesSz cx="8229600" cy="14630400"/>
  <p:embeddedFontLst>
    <p:embeddedFont>
      <p:font typeface="Libre Baskerville"/>
      <p:regular r:id="rId13"/>
      <p:bold r:id="rId14"/>
      <p:italic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1EGSJQLxqBNKrwGuaAwWvTui/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LibreBaskerville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ibreBaskerville-italic.fntdata"/><Relationship Id="rId14" Type="http://schemas.openxmlformats.org/officeDocument/2006/relationships/font" Target="fonts/LibreBaskerville-bold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slide" Target="slides/slide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2.xml"/><Relationship Id="rId18" Type="http://schemas.openxmlformats.org/officeDocument/2006/relationships/font" Target="fonts/DM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62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6319599" y="1799987"/>
            <a:ext cx="7477601" cy="2874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6036"/>
              <a:buFont typeface="Libre Baskerville"/>
              <a:buNone/>
            </a:pPr>
            <a:r>
              <a:rPr b="0" i="0" lang="en-US" sz="6036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Introduction to Software Testing Design</a:t>
            </a:r>
            <a:endParaRPr b="0" i="0" sz="60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319599" y="5007888"/>
            <a:ext cx="7477601" cy="14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Effective software testing design is the foundation of a robust and reliable software application. It involves creating a strategic plan to identify and address potential issues throughout the software development lifecycle.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" name="Google Shape;2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620" y="0"/>
            <a:ext cx="36576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/>
          <p:nvPr/>
        </p:nvSpPr>
        <p:spPr>
          <a:xfrm>
            <a:off x="4490799" y="2048708"/>
            <a:ext cx="8433078" cy="694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374"/>
              <a:buFont typeface="Libre Baskerville"/>
              <a:buNone/>
            </a:pPr>
            <a:r>
              <a:rPr b="0" i="0" lang="en-US" sz="4374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Importance of Testing Design</a:t>
            </a:r>
            <a:endParaRPr b="0" i="0" sz="43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490799" y="3249930"/>
            <a:ext cx="499943" cy="499943"/>
          </a:xfrm>
          <a:prstGeom prst="roundRect">
            <a:avLst>
              <a:gd fmla="val 20000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666417" y="3291602"/>
            <a:ext cx="148709" cy="416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38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624"/>
              <a:buFont typeface="Libre Baskerville"/>
              <a:buNone/>
            </a:pPr>
            <a:r>
              <a:rPr b="0" i="0" lang="en-US" sz="2624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 b="0" i="0" sz="26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212913" y="3326249"/>
            <a:ext cx="2777490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187"/>
              <a:buFont typeface="Libre Baskerville"/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Reduces Costs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212913" y="3806666"/>
            <a:ext cx="3820001" cy="1066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Proactive testing design can identify and fix problems early, preventing costly rework and delays.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9255085" y="3249930"/>
            <a:ext cx="499943" cy="499943"/>
          </a:xfrm>
          <a:prstGeom prst="roundRect">
            <a:avLst>
              <a:gd fmla="val 20000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9402366" y="3291602"/>
            <a:ext cx="205383" cy="416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38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624"/>
              <a:buFont typeface="Libre Baskerville"/>
              <a:buNone/>
            </a:pPr>
            <a:r>
              <a:rPr b="0" i="0" lang="en-US" sz="2624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b="0" i="0" sz="26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977199" y="3326249"/>
            <a:ext cx="2777490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187"/>
              <a:buFont typeface="Libre Baskerville"/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Improves Quality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9977199" y="3806666"/>
            <a:ext cx="3820001" cy="1066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 well-designed testing strategy ensures comprehensive coverage and identifies critical defects.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490799" y="5268635"/>
            <a:ext cx="499943" cy="499943"/>
          </a:xfrm>
          <a:prstGeom prst="roundRect">
            <a:avLst>
              <a:gd fmla="val 20000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638080" y="5310307"/>
            <a:ext cx="205383" cy="416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38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624"/>
              <a:buFont typeface="Libre Baskerville"/>
              <a:buNone/>
            </a:pPr>
            <a:r>
              <a:rPr b="0" i="0" lang="en-US" sz="2624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 b="0" i="0" sz="26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212913" y="5344954"/>
            <a:ext cx="3765828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187"/>
              <a:buFont typeface="Libre Baskerville"/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Enhances User Experience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212913" y="5825371"/>
            <a:ext cx="8584287" cy="355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Thorough testing leads to a more stable and user-friendly application.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2037993" y="2051328"/>
            <a:ext cx="10554414" cy="1388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374"/>
              <a:buFont typeface="Libre Baskerville"/>
              <a:buNone/>
            </a:pPr>
            <a:r>
              <a:rPr b="0" i="0" lang="en-US" sz="4374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Principles of Effective Testing Design</a:t>
            </a:r>
            <a:endParaRPr b="0" i="0" sz="43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2037993" y="3995499"/>
            <a:ext cx="3156347" cy="694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187"/>
              <a:buFont typeface="Libre Baskerville"/>
              <a:buNone/>
            </a:pPr>
            <a:r>
              <a:rPr b="0" i="0" lang="en-US" sz="2187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Comprehensive Coverage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2037993" y="4912043"/>
            <a:ext cx="3156347" cy="1066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Ensure testing addresses all functional and non-functional requirements.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743932" y="3995499"/>
            <a:ext cx="3028950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187"/>
              <a:buFont typeface="Libre Baskerville"/>
              <a:buNone/>
            </a:pPr>
            <a:r>
              <a:rPr b="0" i="0" lang="en-US" sz="2187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Risk-Based Approach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743932" y="4564856"/>
            <a:ext cx="3156347" cy="1066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Prioritize testing based on the potential impact and probability of issues.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9449872" y="3995499"/>
            <a:ext cx="3156347" cy="694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187"/>
              <a:buFont typeface="Libre Baskerville"/>
              <a:buNone/>
            </a:pPr>
            <a:r>
              <a:rPr b="0" i="0" lang="en-US" sz="2187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Continuous Improvement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9449872" y="4912043"/>
            <a:ext cx="3156347" cy="1066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Regularly review and optimize the testing strategy based on feedback and lessons learned.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" name="Google Shape;6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80420" y="0"/>
            <a:ext cx="36576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"/>
          <p:cNvSpPr/>
          <p:nvPr/>
        </p:nvSpPr>
        <p:spPr>
          <a:xfrm>
            <a:off x="833199" y="925473"/>
            <a:ext cx="7598331" cy="694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374"/>
              <a:buFont typeface="Libre Baskerville"/>
              <a:buNone/>
            </a:pPr>
            <a:r>
              <a:rPr b="0" i="0" lang="en-US" sz="4374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Test Planning and Strategy</a:t>
            </a:r>
            <a:endParaRPr b="0" i="0" sz="43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1144310" y="1953101"/>
            <a:ext cx="44410" cy="5351026"/>
          </a:xfrm>
          <a:prstGeom prst="roundRect">
            <a:avLst>
              <a:gd fmla="val 225151" name="adj"/>
            </a:avLst>
          </a:prstGeom>
          <a:solidFill>
            <a:srgbClr val="DDD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1416427" y="2354401"/>
            <a:ext cx="777597" cy="44410"/>
          </a:xfrm>
          <a:prstGeom prst="roundRect">
            <a:avLst>
              <a:gd fmla="val 225151" name="adj"/>
            </a:avLst>
          </a:prstGeom>
          <a:solidFill>
            <a:srgbClr val="DDD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916484" y="2126694"/>
            <a:ext cx="499943" cy="499943"/>
          </a:xfrm>
          <a:prstGeom prst="roundRect">
            <a:avLst>
              <a:gd fmla="val 20000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1092101" y="2168366"/>
            <a:ext cx="148709" cy="416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38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624"/>
              <a:buFont typeface="Libre Baskerville"/>
              <a:buNone/>
            </a:pPr>
            <a:r>
              <a:rPr b="0" i="0" lang="en-US" sz="2624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 b="0" i="0" sz="26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2388513" y="2175272"/>
            <a:ext cx="3242548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187"/>
              <a:buFont typeface="Libre Baskerville"/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Requirements Analysis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2388513" y="2655689"/>
            <a:ext cx="7751088" cy="710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Thoroughly understand the software requirements to identify appropriate testing approaches.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1416427" y="4212134"/>
            <a:ext cx="777597" cy="44410"/>
          </a:xfrm>
          <a:prstGeom prst="roundRect">
            <a:avLst>
              <a:gd fmla="val 225151" name="adj"/>
            </a:avLst>
          </a:prstGeom>
          <a:solidFill>
            <a:srgbClr val="DDD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916484" y="3984427"/>
            <a:ext cx="499943" cy="499943"/>
          </a:xfrm>
          <a:prstGeom prst="roundRect">
            <a:avLst>
              <a:gd fmla="val 20000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1063764" y="4026098"/>
            <a:ext cx="205383" cy="416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38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624"/>
              <a:buFont typeface="Libre Baskerville"/>
              <a:buNone/>
            </a:pPr>
            <a:r>
              <a:rPr b="0" i="0" lang="en-US" sz="2624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b="0" i="0" sz="26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2388513" y="4033004"/>
            <a:ext cx="3695343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187"/>
              <a:buFont typeface="Libre Baskerville"/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Test Scope and Objectives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2388513" y="4513421"/>
            <a:ext cx="7751088" cy="710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Define the testing scope and set clear, measurable objectives to guide the testing process.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416427" y="6069866"/>
            <a:ext cx="777597" cy="44410"/>
          </a:xfrm>
          <a:prstGeom prst="roundRect">
            <a:avLst>
              <a:gd fmla="val 225151" name="adj"/>
            </a:avLst>
          </a:prstGeom>
          <a:solidFill>
            <a:srgbClr val="DDD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916484" y="5842159"/>
            <a:ext cx="499943" cy="499943"/>
          </a:xfrm>
          <a:prstGeom prst="roundRect">
            <a:avLst>
              <a:gd fmla="val 20000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1063764" y="5883831"/>
            <a:ext cx="205383" cy="416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38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624"/>
              <a:buFont typeface="Libre Baskerville"/>
              <a:buNone/>
            </a:pPr>
            <a:r>
              <a:rPr b="0" i="0" lang="en-US" sz="2624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 b="0" i="0" sz="26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2388513" y="5890736"/>
            <a:ext cx="4419957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187"/>
              <a:buFont typeface="Libre Baskerville"/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Test Execution and Monitoring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2388513" y="6371153"/>
            <a:ext cx="7751088" cy="710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Implement the test plan, track progress, and continuously adapt the strategy as needed.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6" name="Google Shape;8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2037993" y="1783556"/>
            <a:ext cx="8179832" cy="694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374"/>
              <a:buFont typeface="Libre Baskerville"/>
              <a:buNone/>
            </a:pPr>
            <a:r>
              <a:rPr b="0" i="0" lang="en-US" sz="4374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Test Case Design Techniques</a:t>
            </a:r>
            <a:endParaRPr b="0" i="0" sz="43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2037993" y="2922270"/>
            <a:ext cx="5166122" cy="1650802"/>
          </a:xfrm>
          <a:prstGeom prst="roundRect">
            <a:avLst>
              <a:gd fmla="val 6057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2267783" y="3152061"/>
            <a:ext cx="3509010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187"/>
              <a:buFont typeface="Libre Baskerville"/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Equivalence Partitioning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2267783" y="3632478"/>
            <a:ext cx="4706541" cy="710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t/>
            </a:r>
            <a:endParaRPr sz="1750">
              <a:solidFill>
                <a:srgbClr val="4542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Group input data into equivalent classes to identify representative test cases.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7426285" y="2922270"/>
            <a:ext cx="5166122" cy="1650802"/>
          </a:xfrm>
          <a:prstGeom prst="roundRect">
            <a:avLst>
              <a:gd fmla="val 6057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7656076" y="3152061"/>
            <a:ext cx="3500199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187"/>
              <a:buFont typeface="Libre Baskerville"/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Boundary Value Analysis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7656076" y="3632478"/>
            <a:ext cx="4706541" cy="710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t/>
            </a:r>
            <a:endParaRPr sz="1750">
              <a:solidFill>
                <a:srgbClr val="4542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Focus on the edges of input ranges to uncover potential defects.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2037993" y="4795242"/>
            <a:ext cx="5166000" cy="1650900"/>
          </a:xfrm>
          <a:prstGeom prst="roundRect">
            <a:avLst>
              <a:gd fmla="val 6057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2267783" y="5025033"/>
            <a:ext cx="27774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187"/>
              <a:buFont typeface="Libre Baskerville"/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Decision Tables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2267783" y="5505450"/>
            <a:ext cx="4706541" cy="710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Capture complex business rules and scenarios in a structured format.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7426285" y="4795242"/>
            <a:ext cx="5166122" cy="1650802"/>
          </a:xfrm>
          <a:prstGeom prst="roundRect">
            <a:avLst>
              <a:gd fmla="val 6057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7656076" y="5025033"/>
            <a:ext cx="2777490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187"/>
              <a:buFont typeface="Libre Baskerville"/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Use Case Testing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7656076" y="5505450"/>
            <a:ext cx="4706541" cy="710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Validate the software's behavior based on real-world user stories and interactions.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6" name="Google Shape;10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2037993" y="1329452"/>
            <a:ext cx="10554414" cy="1388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374"/>
              <a:buFont typeface="Libre Baskerville"/>
              <a:buNone/>
            </a:pPr>
            <a:r>
              <a:rPr b="0" i="0" lang="en-US" sz="4374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Functional and Non-Functional Testing</a:t>
            </a:r>
            <a:endParaRPr b="0" i="0" sz="43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7993" y="3162538"/>
            <a:ext cx="555427" cy="55542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/>
          <p:nvPr/>
        </p:nvSpPr>
        <p:spPr>
          <a:xfrm>
            <a:off x="2037993" y="3940135"/>
            <a:ext cx="2388632" cy="694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187"/>
              <a:buFont typeface="Libre Baskerville"/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Functional Testing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2037993" y="4767739"/>
            <a:ext cx="2388632" cy="1777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Verifies that the software meets the specified requirements and behaves as expected.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9881" y="3162538"/>
            <a:ext cx="555427" cy="555427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6"/>
          <p:cNvSpPr/>
          <p:nvPr/>
        </p:nvSpPr>
        <p:spPr>
          <a:xfrm>
            <a:off x="4759881" y="3940135"/>
            <a:ext cx="2388632" cy="694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187"/>
              <a:buFont typeface="Libre Baskerville"/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Performance Testing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759881" y="4767739"/>
            <a:ext cx="2388632" cy="2132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Evaluates the software's responsiveness, stability, and scalability under different loads.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81768" y="3162538"/>
            <a:ext cx="555427" cy="55542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7481768" y="3940135"/>
            <a:ext cx="2388632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187"/>
              <a:buFont typeface="Libre Baskerville"/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Security Testing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7481768" y="4420553"/>
            <a:ext cx="2388632" cy="1777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endParaRPr b="0" i="0" sz="1750" u="none" cap="none" strike="noStrike">
              <a:solidFill>
                <a:srgbClr val="4542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dentifies and addresses potential vulnerabilities to protect the software and its data.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" name="Google Shape;11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03656" y="3162538"/>
            <a:ext cx="555427" cy="55542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/>
          <p:nvPr/>
        </p:nvSpPr>
        <p:spPr>
          <a:xfrm>
            <a:off x="10203656" y="3940135"/>
            <a:ext cx="2388751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187"/>
              <a:buFont typeface="Libre Baskerville"/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Usability Testing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0203656" y="4420553"/>
            <a:ext cx="2388751" cy="14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t/>
            </a:r>
            <a:endParaRPr sz="1750">
              <a:solidFill>
                <a:srgbClr val="4542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Ensures the software is intuitive, user-friendly, and meets the needs of the target audience.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6" name="Google Shape;1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/>
          <p:nvPr/>
        </p:nvSpPr>
        <p:spPr>
          <a:xfrm>
            <a:off x="0" y="0"/>
            <a:ext cx="14630400" cy="8230791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80420" y="0"/>
            <a:ext cx="3657600" cy="823079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/>
          <p:nvPr/>
        </p:nvSpPr>
        <p:spPr>
          <a:xfrm>
            <a:off x="828556" y="607576"/>
            <a:ext cx="9315688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4988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350"/>
              <a:buFont typeface="Libre Baskerville"/>
              <a:buNone/>
            </a:pPr>
            <a:r>
              <a:rPr b="0" i="0" lang="en-US" sz="43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Automated Testing and Test Frameworks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" name="Google Shape;13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8556" y="2320052"/>
            <a:ext cx="1104781" cy="176772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/>
          <p:nvPr/>
        </p:nvSpPr>
        <p:spPr>
          <a:xfrm>
            <a:off x="2264688" y="2540913"/>
            <a:ext cx="2762131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175"/>
              <a:buFont typeface="Libre Baskerville"/>
              <a:buNone/>
            </a:pPr>
            <a:r>
              <a:rPr b="0" i="0" lang="en-US" sz="2175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Test Automation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2264688" y="3018711"/>
            <a:ext cx="7879556" cy="706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40"/>
              <a:buFont typeface="DM Sans"/>
              <a:buNone/>
            </a:pPr>
            <a:r>
              <a:rPr b="0" i="0" lang="en-US" sz="174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Leveraging tools and frameworks to execute tests repeatedly and consistently.</a:t>
            </a:r>
            <a:endParaRPr b="0" i="0" sz="17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3" name="Google Shape;13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8556" y="4087773"/>
            <a:ext cx="1104781" cy="176772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/>
          <p:nvPr/>
        </p:nvSpPr>
        <p:spPr>
          <a:xfrm>
            <a:off x="2264688" y="4308634"/>
            <a:ext cx="3323034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175"/>
              <a:buFont typeface="Libre Baskerville"/>
              <a:buNone/>
            </a:pPr>
            <a:r>
              <a:rPr b="0" i="0" lang="en-US" sz="2175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Continuous Integration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2264688" y="4786432"/>
            <a:ext cx="7879556" cy="353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40"/>
              <a:buFont typeface="DM Sans"/>
              <a:buNone/>
            </a:pPr>
            <a:r>
              <a:rPr b="0" i="0" lang="en-US" sz="174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Integrating automated testing into the build and deployment pipeline.</a:t>
            </a:r>
            <a:endParaRPr b="0" i="0" sz="17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8556" y="5855494"/>
            <a:ext cx="1104781" cy="176772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7"/>
          <p:cNvSpPr/>
          <p:nvPr/>
        </p:nvSpPr>
        <p:spPr>
          <a:xfrm>
            <a:off x="2264688" y="6076355"/>
            <a:ext cx="2762131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175"/>
              <a:buFont typeface="Libre Baskerville"/>
              <a:buNone/>
            </a:pPr>
            <a:r>
              <a:rPr b="0" i="0" lang="en-US" sz="2175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Regression Testing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2264688" y="6554153"/>
            <a:ext cx="7879556" cy="353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40"/>
              <a:buFont typeface="DM Sans"/>
              <a:buNone/>
            </a:pPr>
            <a:r>
              <a:rPr b="0" i="0" lang="en-US" sz="174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Ensuring new changes don't break existing functionality.</a:t>
            </a:r>
            <a:endParaRPr b="0" i="0" sz="17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4" name="Google Shape;1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2037993" y="2367558"/>
            <a:ext cx="10123289" cy="694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374"/>
              <a:buFont typeface="Libre Baskerville"/>
              <a:buNone/>
            </a:pPr>
            <a:r>
              <a:rPr b="0" i="0" lang="en-US" sz="4374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Continuous Integration and Testing</a:t>
            </a:r>
            <a:endParaRPr b="0" i="0" sz="43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2037993" y="3506272"/>
            <a:ext cx="10554414" cy="2355652"/>
          </a:xfrm>
          <a:prstGeom prst="roundRect">
            <a:avLst>
              <a:gd fmla="val 4245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2045613" y="3513892"/>
            <a:ext cx="10538103" cy="637103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2268855" y="3654743"/>
            <a:ext cx="3064193" cy="355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Faster Feedback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5785009" y="3654743"/>
            <a:ext cx="3060383" cy="355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Reduced Risks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9297353" y="3654743"/>
            <a:ext cx="3064193" cy="355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Improved Quality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2045613" y="4150995"/>
            <a:ext cx="10538103" cy="1703308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2268855" y="4291846"/>
            <a:ext cx="3064193" cy="1066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Automated testing identifies issues early in the development cycle.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5785009" y="4291846"/>
            <a:ext cx="3060383" cy="14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Continuous integration and testing help catch regressions before they are deployed.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9297353" y="4291846"/>
            <a:ext cx="3064193" cy="14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942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Thorough testing across the development lifecycle leads to more reliable and stable software.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2024-05-13T08:28:34Z</dcterms:created>
  <dc:creator>PptxGenJS</dc:creator>
</cp:coreProperties>
</file>