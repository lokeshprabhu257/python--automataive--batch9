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8229600" cx="14630400"/>
  <p:notesSz cx="8229600" cy="14630400"/>
  <p:embeddedFontLst>
    <p:embeddedFont>
      <p:font typeface="Montserra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i8wRV4e+q/Lw+Iysm1RLTDxD6k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Montserrat-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Montserrat-italic.fntdata"/><Relationship Id="rId14" Type="http://schemas.openxmlformats.org/officeDocument/2006/relationships/slide" Target="slides/slide10.xml"/><Relationship Id="rId36" Type="http://schemas.openxmlformats.org/officeDocument/2006/relationships/font" Target="fonts/Montserrat-bold.fntdata"/><Relationship Id="rId17" Type="http://schemas.openxmlformats.org/officeDocument/2006/relationships/slide" Target="slides/slide13.xml"/><Relationship Id="rId39" Type="http://customschemas.google.com/relationships/presentationmetadata" Target="metadata"/><Relationship Id="rId16" Type="http://schemas.openxmlformats.org/officeDocument/2006/relationships/slide" Target="slides/slide12.xml"/><Relationship Id="rId38" Type="http://schemas.openxmlformats.org/officeDocument/2006/relationships/font" Target="fonts/Montserrat-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 name="Google Shape;51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image" Target="../media/image6.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image" Target="../media/image9.png"/><Relationship Id="rId6"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9.png"/><Relationship Id="rId4" Type="http://schemas.openxmlformats.org/officeDocument/2006/relationships/image" Target="../media/image17.png"/><Relationship Id="rId5" Type="http://schemas.openxmlformats.org/officeDocument/2006/relationships/image" Target="../media/image25.png"/><Relationship Id="rId6"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31.png"/><Relationship Id="rId5" Type="http://schemas.openxmlformats.org/officeDocument/2006/relationships/image" Target="../media/image37.png"/><Relationship Id="rId6"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38.png"/><Relationship Id="rId5" Type="http://schemas.openxmlformats.org/officeDocument/2006/relationships/image" Target="../media/image40.png"/><Relationship Id="rId6"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1"/>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 name="Google Shape;18;p1"/>
          <p:cNvPicPr preferRelativeResize="0"/>
          <p:nvPr/>
        </p:nvPicPr>
        <p:blipFill rotWithShape="1">
          <a:blip r:embed="rId3">
            <a:alphaModFix/>
          </a:blip>
          <a:srcRect b="0" l="0" r="0" t="0"/>
          <a:stretch/>
        </p:blipFill>
        <p:spPr>
          <a:xfrm>
            <a:off x="9151620" y="0"/>
            <a:ext cx="5486400" cy="8229600"/>
          </a:xfrm>
          <a:prstGeom prst="rect">
            <a:avLst/>
          </a:prstGeom>
          <a:noFill/>
          <a:ln>
            <a:noFill/>
          </a:ln>
        </p:spPr>
      </p:pic>
      <p:sp>
        <p:nvSpPr>
          <p:cNvPr id="19" name="Google Shape;19;p1"/>
          <p:cNvSpPr/>
          <p:nvPr/>
        </p:nvSpPr>
        <p:spPr>
          <a:xfrm>
            <a:off x="833199" y="2490073"/>
            <a:ext cx="7477601" cy="191643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000000"/>
              </a:buClr>
              <a:buSzPts val="6036"/>
              <a:buFont typeface="Montserrat"/>
              <a:buNone/>
            </a:pPr>
            <a:r>
              <a:rPr b="1" i="0" lang="en-US" sz="6036" u="none" cap="none" strike="noStrike">
                <a:solidFill>
                  <a:srgbClr val="000000"/>
                </a:solidFill>
                <a:latin typeface="Montserrat"/>
                <a:ea typeface="Montserrat"/>
                <a:cs typeface="Montserrat"/>
                <a:sym typeface="Montserrat"/>
              </a:rPr>
              <a:t>Introduction to Testing Essentials</a:t>
            </a:r>
            <a:endParaRPr b="0" i="0" sz="6036" u="none" cap="none" strike="noStrike">
              <a:solidFill>
                <a:schemeClr val="dk1"/>
              </a:solidFill>
              <a:latin typeface="Calibri"/>
              <a:ea typeface="Calibri"/>
              <a:cs typeface="Calibri"/>
              <a:sym typeface="Calibri"/>
            </a:endParaRPr>
          </a:p>
        </p:txBody>
      </p:sp>
      <p:sp>
        <p:nvSpPr>
          <p:cNvPr id="20" name="Google Shape;20;p1"/>
          <p:cNvSpPr/>
          <p:nvPr/>
        </p:nvSpPr>
        <p:spPr>
          <a:xfrm>
            <a:off x="833199" y="4739759"/>
            <a:ext cx="7477601"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Explore the fundamental principles and practices of software testing. Discover how thorough testing can ensure the quality, reliability, and performance of your applications.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2"/>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 name="Google Shape;28;p2"/>
          <p:cNvPicPr preferRelativeResize="0"/>
          <p:nvPr/>
        </p:nvPicPr>
        <p:blipFill rotWithShape="1">
          <a:blip r:embed="rId3">
            <a:alphaModFix/>
          </a:blip>
          <a:srcRect b="0" l="0" r="0" t="0"/>
          <a:stretch/>
        </p:blipFill>
        <p:spPr>
          <a:xfrm>
            <a:off x="-7620" y="0"/>
            <a:ext cx="5486400" cy="8229600"/>
          </a:xfrm>
          <a:prstGeom prst="rect">
            <a:avLst/>
          </a:prstGeom>
          <a:noFill/>
          <a:ln>
            <a:noFill/>
          </a:ln>
        </p:spPr>
      </p:pic>
      <p:sp>
        <p:nvSpPr>
          <p:cNvPr id="29" name="Google Shape;29;p2"/>
          <p:cNvSpPr/>
          <p:nvPr/>
        </p:nvSpPr>
        <p:spPr>
          <a:xfrm>
            <a:off x="6319599" y="2240042"/>
            <a:ext cx="7477601" cy="2083118"/>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Understanding the Importance of Software Testing</a:t>
            </a:r>
            <a:endParaRPr b="0" i="0" sz="4374" u="none" cap="none" strike="noStrike">
              <a:solidFill>
                <a:schemeClr val="dk1"/>
              </a:solidFill>
              <a:latin typeface="Calibri"/>
              <a:ea typeface="Calibri"/>
              <a:cs typeface="Calibri"/>
              <a:sym typeface="Calibri"/>
            </a:endParaRPr>
          </a:p>
        </p:txBody>
      </p:sp>
      <p:sp>
        <p:nvSpPr>
          <p:cNvPr id="30" name="Google Shape;30;p2"/>
          <p:cNvSpPr/>
          <p:nvPr/>
        </p:nvSpPr>
        <p:spPr>
          <a:xfrm>
            <a:off x="6319599" y="4656415"/>
            <a:ext cx="7477601" cy="1333024"/>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Effective software testing is a cornerstone of building high-quality, reliable applications. By proactively identifying and addressing issues early in the development lifecycle, testing helps ensure your software meets user requirements, performs as expected, and maintains security and stability.</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3"/>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 name="Google Shape;38;p3"/>
          <p:cNvPicPr preferRelativeResize="0"/>
          <p:nvPr/>
        </p:nvPicPr>
        <p:blipFill rotWithShape="1">
          <a:blip r:embed="rId3">
            <a:alphaModFix/>
          </a:blip>
          <a:srcRect b="0" l="0" r="0" t="0"/>
          <a:stretch/>
        </p:blipFill>
        <p:spPr>
          <a:xfrm>
            <a:off x="9151620" y="0"/>
            <a:ext cx="5486400" cy="8229600"/>
          </a:xfrm>
          <a:prstGeom prst="rect">
            <a:avLst/>
          </a:prstGeom>
          <a:noFill/>
          <a:ln>
            <a:noFill/>
          </a:ln>
        </p:spPr>
      </p:pic>
      <p:sp>
        <p:nvSpPr>
          <p:cNvPr id="39" name="Google Shape;39;p3"/>
          <p:cNvSpPr/>
          <p:nvPr/>
        </p:nvSpPr>
        <p:spPr>
          <a:xfrm>
            <a:off x="833199" y="2276475"/>
            <a:ext cx="7477601" cy="1388745"/>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Fundamentals of Software Testing</a:t>
            </a:r>
            <a:endParaRPr b="0" i="0" sz="4374" u="none" cap="none" strike="noStrike">
              <a:solidFill>
                <a:schemeClr val="dk1"/>
              </a:solidFill>
              <a:latin typeface="Calibri"/>
              <a:ea typeface="Calibri"/>
              <a:cs typeface="Calibri"/>
              <a:sym typeface="Calibri"/>
            </a:endParaRPr>
          </a:p>
        </p:txBody>
      </p:sp>
      <p:sp>
        <p:nvSpPr>
          <p:cNvPr id="40" name="Google Shape;40;p3"/>
          <p:cNvSpPr/>
          <p:nvPr/>
        </p:nvSpPr>
        <p:spPr>
          <a:xfrm>
            <a:off x="1188601" y="3998476"/>
            <a:ext cx="7122200" cy="355402"/>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Understand the </a:t>
            </a:r>
            <a:r>
              <a:rPr b="1" i="0" lang="en-US" sz="1750" u="none" cap="none" strike="noStrike">
                <a:solidFill>
                  <a:srgbClr val="3D3838"/>
                </a:solidFill>
                <a:latin typeface="Arial"/>
                <a:ea typeface="Arial"/>
                <a:cs typeface="Arial"/>
                <a:sym typeface="Arial"/>
              </a:rPr>
              <a:t>software development lifecycle</a:t>
            </a:r>
            <a:r>
              <a:rPr b="0" i="0" lang="en-US" sz="1750" u="none" cap="none" strike="noStrike">
                <a:solidFill>
                  <a:srgbClr val="3D3838"/>
                </a:solidFill>
                <a:latin typeface="Arial"/>
                <a:ea typeface="Arial"/>
                <a:cs typeface="Arial"/>
                <a:sym typeface="Arial"/>
              </a:rPr>
              <a:t> and where testing fits in.</a:t>
            </a:r>
            <a:endParaRPr b="0" i="0" sz="1750" u="none" cap="none" strike="noStrike">
              <a:solidFill>
                <a:schemeClr val="dk1"/>
              </a:solidFill>
              <a:latin typeface="Calibri"/>
              <a:ea typeface="Calibri"/>
              <a:cs typeface="Calibri"/>
              <a:sym typeface="Calibri"/>
            </a:endParaRPr>
          </a:p>
        </p:txBody>
      </p:sp>
      <p:sp>
        <p:nvSpPr>
          <p:cNvPr id="41" name="Google Shape;41;p3"/>
          <p:cNvSpPr/>
          <p:nvPr/>
        </p:nvSpPr>
        <p:spPr>
          <a:xfrm>
            <a:off x="1188601" y="4442698"/>
            <a:ext cx="7122200" cy="710803"/>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Learn about </a:t>
            </a:r>
            <a:r>
              <a:rPr b="1" i="0" lang="en-US" sz="1750" u="none" cap="none" strike="noStrike">
                <a:solidFill>
                  <a:srgbClr val="3D3838"/>
                </a:solidFill>
                <a:latin typeface="Arial"/>
                <a:ea typeface="Arial"/>
                <a:cs typeface="Arial"/>
                <a:sym typeface="Arial"/>
              </a:rPr>
              <a:t>test planning</a:t>
            </a:r>
            <a:r>
              <a:rPr b="0" i="0" lang="en-US" sz="1750" u="none" cap="none" strike="noStrike">
                <a:solidFill>
                  <a:srgbClr val="3D3838"/>
                </a:solidFill>
                <a:latin typeface="Arial"/>
                <a:ea typeface="Arial"/>
                <a:cs typeface="Arial"/>
                <a:sym typeface="Arial"/>
              </a:rPr>
              <a:t>, including risk analysis, test strategy, and test plans.</a:t>
            </a:r>
            <a:endParaRPr b="0" i="0" sz="1750" u="none" cap="none" strike="noStrike">
              <a:solidFill>
                <a:schemeClr val="dk1"/>
              </a:solidFill>
              <a:latin typeface="Calibri"/>
              <a:ea typeface="Calibri"/>
              <a:cs typeface="Calibri"/>
              <a:sym typeface="Calibri"/>
            </a:endParaRPr>
          </a:p>
        </p:txBody>
      </p:sp>
      <p:sp>
        <p:nvSpPr>
          <p:cNvPr id="42" name="Google Shape;42;p3"/>
          <p:cNvSpPr/>
          <p:nvPr/>
        </p:nvSpPr>
        <p:spPr>
          <a:xfrm>
            <a:off x="1188601" y="5242322"/>
            <a:ext cx="7122200" cy="710803"/>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Master the </a:t>
            </a:r>
            <a:r>
              <a:rPr b="1" i="0" lang="en-US" sz="1750" u="none" cap="none" strike="noStrike">
                <a:solidFill>
                  <a:srgbClr val="3D3838"/>
                </a:solidFill>
                <a:latin typeface="Arial"/>
                <a:ea typeface="Arial"/>
                <a:cs typeface="Arial"/>
                <a:sym typeface="Arial"/>
              </a:rPr>
              <a:t>test design process</a:t>
            </a:r>
            <a:r>
              <a:rPr b="0" i="0" lang="en-US" sz="1750" u="none" cap="none" strike="noStrike">
                <a:solidFill>
                  <a:srgbClr val="3D3838"/>
                </a:solidFill>
                <a:latin typeface="Arial"/>
                <a:ea typeface="Arial"/>
                <a:cs typeface="Arial"/>
                <a:sym typeface="Arial"/>
              </a:rPr>
              <a:t>, including equivalence partitioning, boundary value analysis, and use case testing.</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4"/>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2517696" y="671872"/>
            <a:ext cx="7346700" cy="694500"/>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Types of Software Testing</a:t>
            </a:r>
            <a:endParaRPr b="0" i="0" sz="4374" u="none" cap="none" strike="noStrike">
              <a:solidFill>
                <a:schemeClr val="dk1"/>
              </a:solidFill>
              <a:latin typeface="Calibri"/>
              <a:ea typeface="Calibri"/>
              <a:cs typeface="Calibri"/>
              <a:sym typeface="Calibri"/>
            </a:endParaRPr>
          </a:p>
        </p:txBody>
      </p:sp>
      <p:sp>
        <p:nvSpPr>
          <p:cNvPr id="51" name="Google Shape;51;p4"/>
          <p:cNvSpPr/>
          <p:nvPr/>
        </p:nvSpPr>
        <p:spPr>
          <a:xfrm>
            <a:off x="2517696" y="2508171"/>
            <a:ext cx="1992154"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Unit Testing</a:t>
            </a:r>
            <a:endParaRPr b="0" i="0" sz="2187" u="none" cap="none" strike="noStrike">
              <a:solidFill>
                <a:schemeClr val="dk1"/>
              </a:solidFill>
              <a:latin typeface="Calibri"/>
              <a:ea typeface="Calibri"/>
              <a:cs typeface="Calibri"/>
              <a:sym typeface="Calibri"/>
            </a:endParaRPr>
          </a:p>
        </p:txBody>
      </p:sp>
      <p:sp>
        <p:nvSpPr>
          <p:cNvPr id="52" name="Google Shape;52;p4"/>
          <p:cNvSpPr/>
          <p:nvPr/>
        </p:nvSpPr>
        <p:spPr>
          <a:xfrm>
            <a:off x="2517696" y="3077528"/>
            <a:ext cx="1992154" cy="266604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Verifies the correctness of individual software components or units, ensuring they meet their design and functionality requirements.</a:t>
            </a:r>
            <a:endParaRPr b="0" i="0" sz="1750" u="none" cap="none" strike="noStrike">
              <a:solidFill>
                <a:schemeClr val="dk1"/>
              </a:solidFill>
              <a:latin typeface="Calibri"/>
              <a:ea typeface="Calibri"/>
              <a:cs typeface="Calibri"/>
              <a:sym typeface="Calibri"/>
            </a:endParaRPr>
          </a:p>
        </p:txBody>
      </p:sp>
      <p:sp>
        <p:nvSpPr>
          <p:cNvPr id="53" name="Google Shape;53;p4"/>
          <p:cNvSpPr/>
          <p:nvPr/>
        </p:nvSpPr>
        <p:spPr>
          <a:xfrm>
            <a:off x="5059442" y="2508171"/>
            <a:ext cx="1992154"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Integration Testing</a:t>
            </a:r>
            <a:endParaRPr b="0" i="0" sz="2187" u="none" cap="none" strike="noStrike">
              <a:solidFill>
                <a:schemeClr val="dk1"/>
              </a:solidFill>
              <a:latin typeface="Calibri"/>
              <a:ea typeface="Calibri"/>
              <a:cs typeface="Calibri"/>
              <a:sym typeface="Calibri"/>
            </a:endParaRPr>
          </a:p>
        </p:txBody>
      </p:sp>
      <p:sp>
        <p:nvSpPr>
          <p:cNvPr id="54" name="Google Shape;54;p4"/>
          <p:cNvSpPr/>
          <p:nvPr/>
        </p:nvSpPr>
        <p:spPr>
          <a:xfrm>
            <a:off x="5059442" y="3424714"/>
            <a:ext cx="1992154" cy="2332792"/>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Evaluates how different software components work together, validating the interfaces and interactions between them.</a:t>
            </a:r>
            <a:endParaRPr b="0" i="0" sz="1750" u="none" cap="none" strike="noStrike">
              <a:solidFill>
                <a:schemeClr val="dk1"/>
              </a:solidFill>
              <a:latin typeface="Calibri"/>
              <a:ea typeface="Calibri"/>
              <a:cs typeface="Calibri"/>
              <a:sym typeface="Calibri"/>
            </a:endParaRPr>
          </a:p>
        </p:txBody>
      </p:sp>
      <p:sp>
        <p:nvSpPr>
          <p:cNvPr id="55" name="Google Shape;55;p4"/>
          <p:cNvSpPr/>
          <p:nvPr/>
        </p:nvSpPr>
        <p:spPr>
          <a:xfrm>
            <a:off x="7601188" y="2508171"/>
            <a:ext cx="1992154"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Functional Testing</a:t>
            </a:r>
            <a:endParaRPr b="0" i="0" sz="2187" u="none" cap="none" strike="noStrike">
              <a:solidFill>
                <a:schemeClr val="dk1"/>
              </a:solidFill>
              <a:latin typeface="Calibri"/>
              <a:ea typeface="Calibri"/>
              <a:cs typeface="Calibri"/>
              <a:sym typeface="Calibri"/>
            </a:endParaRPr>
          </a:p>
        </p:txBody>
      </p:sp>
      <p:sp>
        <p:nvSpPr>
          <p:cNvPr id="56" name="Google Shape;56;p4"/>
          <p:cNvSpPr/>
          <p:nvPr/>
        </p:nvSpPr>
        <p:spPr>
          <a:xfrm>
            <a:off x="7601188" y="3424714"/>
            <a:ext cx="1992154" cy="266604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Focuses on testing the software's features and capabilities to ensure they meet the specified requirements and user needs.</a:t>
            </a:r>
            <a:endParaRPr b="0" i="0" sz="1750" u="none" cap="none" strike="noStrike">
              <a:solidFill>
                <a:schemeClr val="dk1"/>
              </a:solidFill>
              <a:latin typeface="Calibri"/>
              <a:ea typeface="Calibri"/>
              <a:cs typeface="Calibri"/>
              <a:sym typeface="Calibri"/>
            </a:endParaRPr>
          </a:p>
        </p:txBody>
      </p:sp>
      <p:sp>
        <p:nvSpPr>
          <p:cNvPr id="57" name="Google Shape;57;p4"/>
          <p:cNvSpPr/>
          <p:nvPr/>
        </p:nvSpPr>
        <p:spPr>
          <a:xfrm>
            <a:off x="10142934" y="2508171"/>
            <a:ext cx="1992154" cy="1041559"/>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Non-Functional Testing</a:t>
            </a:r>
            <a:endParaRPr b="0" i="0" sz="2187" u="none" cap="none" strike="noStrike">
              <a:solidFill>
                <a:schemeClr val="dk1"/>
              </a:solidFill>
              <a:latin typeface="Calibri"/>
              <a:ea typeface="Calibri"/>
              <a:cs typeface="Calibri"/>
              <a:sym typeface="Calibri"/>
            </a:endParaRPr>
          </a:p>
        </p:txBody>
      </p:sp>
      <p:sp>
        <p:nvSpPr>
          <p:cNvPr id="58" name="Google Shape;58;p4"/>
          <p:cNvSpPr/>
          <p:nvPr/>
        </p:nvSpPr>
        <p:spPr>
          <a:xfrm>
            <a:off x="10142934" y="3771900"/>
            <a:ext cx="1992154" cy="2999303"/>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Assesses the software's quality attributes, such as performance, security, usability, and reliability, which are not directly related to its functionality.</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5"/>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2517696" y="3045500"/>
            <a:ext cx="5554980"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Unit Testing</a:t>
            </a:r>
            <a:endParaRPr b="0" i="0" sz="4374" u="none" cap="none" strike="noStrike">
              <a:solidFill>
                <a:schemeClr val="dk1"/>
              </a:solidFill>
              <a:latin typeface="Calibri"/>
              <a:ea typeface="Calibri"/>
              <a:cs typeface="Calibri"/>
              <a:sym typeface="Calibri"/>
            </a:endParaRPr>
          </a:p>
        </p:txBody>
      </p:sp>
      <p:sp>
        <p:nvSpPr>
          <p:cNvPr id="67" name="Google Shape;67;p5"/>
          <p:cNvSpPr/>
          <p:nvPr/>
        </p:nvSpPr>
        <p:spPr>
          <a:xfrm>
            <a:off x="2517696" y="4184213"/>
            <a:ext cx="9594890"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Unit testing is the foundational practice of verifying the correctness and functionality of individual software components, or "units", in isolation. This systematic approach helps ensure each unit meets its design specifications and requirements, catching issues early in the development lifecycle.</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6"/>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 name="Google Shape;75;p6"/>
          <p:cNvPicPr preferRelativeResize="0"/>
          <p:nvPr/>
        </p:nvPicPr>
        <p:blipFill rotWithShape="1">
          <a:blip r:embed="rId3">
            <a:alphaModFix/>
          </a:blip>
          <a:srcRect b="0" l="0" r="0" t="0"/>
          <a:stretch/>
        </p:blipFill>
        <p:spPr>
          <a:xfrm>
            <a:off x="-7620" y="0"/>
            <a:ext cx="3657600" cy="8229600"/>
          </a:xfrm>
          <a:prstGeom prst="rect">
            <a:avLst/>
          </a:prstGeom>
          <a:noFill/>
          <a:ln>
            <a:noFill/>
          </a:ln>
        </p:spPr>
      </p:pic>
      <p:sp>
        <p:nvSpPr>
          <p:cNvPr id="76" name="Google Shape;76;p6"/>
          <p:cNvSpPr/>
          <p:nvPr/>
        </p:nvSpPr>
        <p:spPr>
          <a:xfrm>
            <a:off x="4490799" y="658654"/>
            <a:ext cx="5554980"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Integration Testing</a:t>
            </a:r>
            <a:endParaRPr b="0" i="0" sz="4374" u="none" cap="none" strike="noStrike">
              <a:solidFill>
                <a:schemeClr val="dk1"/>
              </a:solidFill>
              <a:latin typeface="Calibri"/>
              <a:ea typeface="Calibri"/>
              <a:cs typeface="Calibri"/>
              <a:sym typeface="Calibri"/>
            </a:endParaRPr>
          </a:p>
        </p:txBody>
      </p:sp>
      <p:sp>
        <p:nvSpPr>
          <p:cNvPr id="77" name="Google Shape;77;p6"/>
          <p:cNvSpPr/>
          <p:nvPr/>
        </p:nvSpPr>
        <p:spPr>
          <a:xfrm>
            <a:off x="4801910" y="1686282"/>
            <a:ext cx="44410" cy="5884664"/>
          </a:xfrm>
          <a:prstGeom prst="rect">
            <a:avLst/>
          </a:prstGeom>
          <a:solidFill>
            <a:srgbClr val="CAC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5074027" y="2087582"/>
            <a:ext cx="777597" cy="44410"/>
          </a:xfrm>
          <a:prstGeom prst="rect">
            <a:avLst/>
          </a:prstGeom>
          <a:solidFill>
            <a:srgbClr val="CAC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4574084" y="1859875"/>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4760297" y="1901547"/>
            <a:ext cx="127397"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1</a:t>
            </a:r>
            <a:endParaRPr b="0" i="0" sz="2624" u="none" cap="none" strike="noStrike">
              <a:solidFill>
                <a:schemeClr val="dk1"/>
              </a:solidFill>
              <a:latin typeface="Calibri"/>
              <a:ea typeface="Calibri"/>
              <a:cs typeface="Calibri"/>
              <a:sym typeface="Calibri"/>
            </a:endParaRPr>
          </a:p>
        </p:txBody>
      </p:sp>
      <p:sp>
        <p:nvSpPr>
          <p:cNvPr id="81" name="Google Shape;81;p6"/>
          <p:cNvSpPr/>
          <p:nvPr/>
        </p:nvSpPr>
        <p:spPr>
          <a:xfrm>
            <a:off x="6046113" y="1908453"/>
            <a:ext cx="3081099"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Verifying Interactions</a:t>
            </a:r>
            <a:endParaRPr b="0" i="0" sz="2187" u="none" cap="none" strike="noStrike">
              <a:solidFill>
                <a:schemeClr val="dk1"/>
              </a:solidFill>
              <a:latin typeface="Calibri"/>
              <a:ea typeface="Calibri"/>
              <a:cs typeface="Calibri"/>
              <a:sym typeface="Calibri"/>
            </a:endParaRPr>
          </a:p>
        </p:txBody>
      </p:sp>
      <p:sp>
        <p:nvSpPr>
          <p:cNvPr id="82" name="Google Shape;82;p6"/>
          <p:cNvSpPr/>
          <p:nvPr/>
        </p:nvSpPr>
        <p:spPr>
          <a:xfrm>
            <a:off x="6046113" y="2388870"/>
            <a:ext cx="7751088" cy="666512"/>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Integration testing evaluates how different software components work together, ensuring the interfaces and data flows between them function as expected.</a:t>
            </a:r>
            <a:endParaRPr b="0" i="0" sz="1750" u="none" cap="none" strike="noStrike">
              <a:solidFill>
                <a:schemeClr val="dk1"/>
              </a:solidFill>
              <a:latin typeface="Calibri"/>
              <a:ea typeface="Calibri"/>
              <a:cs typeface="Calibri"/>
              <a:sym typeface="Calibri"/>
            </a:endParaRPr>
          </a:p>
        </p:txBody>
      </p:sp>
      <p:sp>
        <p:nvSpPr>
          <p:cNvPr id="83" name="Google Shape;83;p6"/>
          <p:cNvSpPr/>
          <p:nvPr/>
        </p:nvSpPr>
        <p:spPr>
          <a:xfrm>
            <a:off x="5074027" y="3901023"/>
            <a:ext cx="777597" cy="44410"/>
          </a:xfrm>
          <a:prstGeom prst="rect">
            <a:avLst/>
          </a:prstGeom>
          <a:solidFill>
            <a:srgbClr val="CAC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4574084" y="3673316"/>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4727317" y="3714988"/>
            <a:ext cx="193358"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2</a:t>
            </a:r>
            <a:endParaRPr b="0" i="0" sz="2624" u="none" cap="none" strike="noStrike">
              <a:solidFill>
                <a:schemeClr val="dk1"/>
              </a:solidFill>
              <a:latin typeface="Calibri"/>
              <a:ea typeface="Calibri"/>
              <a:cs typeface="Calibri"/>
              <a:sym typeface="Calibri"/>
            </a:endParaRPr>
          </a:p>
        </p:txBody>
      </p:sp>
      <p:sp>
        <p:nvSpPr>
          <p:cNvPr id="86" name="Google Shape;86;p6"/>
          <p:cNvSpPr/>
          <p:nvPr/>
        </p:nvSpPr>
        <p:spPr>
          <a:xfrm>
            <a:off x="6046113" y="3721894"/>
            <a:ext cx="3923824"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Catching Integration Issues</a:t>
            </a:r>
            <a:endParaRPr b="0" i="0" sz="2187" u="none" cap="none" strike="noStrike">
              <a:solidFill>
                <a:schemeClr val="dk1"/>
              </a:solidFill>
              <a:latin typeface="Calibri"/>
              <a:ea typeface="Calibri"/>
              <a:cs typeface="Calibri"/>
              <a:sym typeface="Calibri"/>
            </a:endParaRPr>
          </a:p>
        </p:txBody>
      </p:sp>
      <p:sp>
        <p:nvSpPr>
          <p:cNvPr id="87" name="Google Shape;87;p6"/>
          <p:cNvSpPr/>
          <p:nvPr/>
        </p:nvSpPr>
        <p:spPr>
          <a:xfrm>
            <a:off x="6046113" y="4202311"/>
            <a:ext cx="7751088"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By testing the integration points, teams can identify and address issues that arise from the combination of individual units, preventing bugs from reaching production.</a:t>
            </a:r>
            <a:endParaRPr b="0" i="0" sz="1750" u="none" cap="none" strike="noStrike">
              <a:solidFill>
                <a:schemeClr val="dk1"/>
              </a:solidFill>
              <a:latin typeface="Calibri"/>
              <a:ea typeface="Calibri"/>
              <a:cs typeface="Calibri"/>
              <a:sym typeface="Calibri"/>
            </a:endParaRPr>
          </a:p>
        </p:txBody>
      </p:sp>
      <p:sp>
        <p:nvSpPr>
          <p:cNvPr id="88" name="Google Shape;88;p6"/>
          <p:cNvSpPr/>
          <p:nvPr/>
        </p:nvSpPr>
        <p:spPr>
          <a:xfrm>
            <a:off x="5074027" y="6047720"/>
            <a:ext cx="777597" cy="44410"/>
          </a:xfrm>
          <a:prstGeom prst="rect">
            <a:avLst/>
          </a:prstGeom>
          <a:solidFill>
            <a:srgbClr val="CAC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4574084" y="5820013"/>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4726960" y="5861685"/>
            <a:ext cx="194072"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3</a:t>
            </a:r>
            <a:endParaRPr b="0" i="0" sz="2624" u="none" cap="none" strike="noStrike">
              <a:solidFill>
                <a:schemeClr val="dk1"/>
              </a:solidFill>
              <a:latin typeface="Calibri"/>
              <a:ea typeface="Calibri"/>
              <a:cs typeface="Calibri"/>
              <a:sym typeface="Calibri"/>
            </a:endParaRPr>
          </a:p>
        </p:txBody>
      </p:sp>
      <p:sp>
        <p:nvSpPr>
          <p:cNvPr id="91" name="Google Shape;91;p6"/>
          <p:cNvSpPr/>
          <p:nvPr/>
        </p:nvSpPr>
        <p:spPr>
          <a:xfrm>
            <a:off x="6046113" y="5868591"/>
            <a:ext cx="277749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Validation at Scale</a:t>
            </a:r>
            <a:endParaRPr b="0" i="0" sz="2187" u="none" cap="none" strike="noStrike">
              <a:solidFill>
                <a:schemeClr val="dk1"/>
              </a:solidFill>
              <a:latin typeface="Calibri"/>
              <a:ea typeface="Calibri"/>
              <a:cs typeface="Calibri"/>
              <a:sym typeface="Calibri"/>
            </a:endParaRPr>
          </a:p>
        </p:txBody>
      </p:sp>
      <p:sp>
        <p:nvSpPr>
          <p:cNvPr id="92" name="Google Shape;92;p6"/>
          <p:cNvSpPr/>
          <p:nvPr/>
        </p:nvSpPr>
        <p:spPr>
          <a:xfrm>
            <a:off x="6046113" y="6349008"/>
            <a:ext cx="7751088"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Integration tests are conducted at the system level, validating the application's overall functionality and performance under real-world conditions with multiple interconnected components.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7"/>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0" name="Google Shape;100;p7"/>
          <p:cNvPicPr preferRelativeResize="0"/>
          <p:nvPr/>
        </p:nvPicPr>
        <p:blipFill rotWithShape="1">
          <a:blip r:embed="rId3">
            <a:alphaModFix/>
          </a:blip>
          <a:srcRect b="0" l="0" r="0" t="0"/>
          <a:stretch/>
        </p:blipFill>
        <p:spPr>
          <a:xfrm>
            <a:off x="9151620" y="0"/>
            <a:ext cx="5486400" cy="8229600"/>
          </a:xfrm>
          <a:prstGeom prst="rect">
            <a:avLst/>
          </a:prstGeom>
          <a:noFill/>
          <a:ln>
            <a:noFill/>
          </a:ln>
        </p:spPr>
      </p:pic>
      <p:sp>
        <p:nvSpPr>
          <p:cNvPr id="101" name="Google Shape;101;p7"/>
          <p:cNvSpPr/>
          <p:nvPr/>
        </p:nvSpPr>
        <p:spPr>
          <a:xfrm>
            <a:off x="833199" y="2309574"/>
            <a:ext cx="5554980"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Functional Testing</a:t>
            </a:r>
            <a:endParaRPr b="0" i="0" sz="4374" u="none" cap="none" strike="noStrike">
              <a:solidFill>
                <a:schemeClr val="dk1"/>
              </a:solidFill>
              <a:latin typeface="Calibri"/>
              <a:ea typeface="Calibri"/>
              <a:cs typeface="Calibri"/>
              <a:sym typeface="Calibri"/>
            </a:endParaRPr>
          </a:p>
        </p:txBody>
      </p:sp>
      <p:sp>
        <p:nvSpPr>
          <p:cNvPr id="102" name="Google Shape;102;p7"/>
          <p:cNvSpPr/>
          <p:nvPr/>
        </p:nvSpPr>
        <p:spPr>
          <a:xfrm>
            <a:off x="833199" y="3337203"/>
            <a:ext cx="7477601" cy="1333024"/>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Functional testing focuses on validating the software's features and capabilities to ensure they meet the specified requirements and user needs. It examines the application's end-to-end workflows, user interactions, and expected outputs to verify the correct functionality.</a:t>
            </a:r>
            <a:endParaRPr b="0" i="0" sz="1750" u="none" cap="none" strike="noStrike">
              <a:solidFill>
                <a:schemeClr val="dk1"/>
              </a:solidFill>
              <a:latin typeface="Calibri"/>
              <a:ea typeface="Calibri"/>
              <a:cs typeface="Calibri"/>
              <a:sym typeface="Calibri"/>
            </a:endParaRPr>
          </a:p>
        </p:txBody>
      </p:sp>
      <p:sp>
        <p:nvSpPr>
          <p:cNvPr id="103" name="Google Shape;103;p7"/>
          <p:cNvSpPr/>
          <p:nvPr/>
        </p:nvSpPr>
        <p:spPr>
          <a:xfrm>
            <a:off x="833199" y="4920139"/>
            <a:ext cx="7477601"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Through comprehensive functional testing, teams can uncover defects, identify edge cases, and validate that the software behaves as intended, delivering a seamless user experience.</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8"/>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8"/>
          <p:cNvSpPr/>
          <p:nvPr/>
        </p:nvSpPr>
        <p:spPr>
          <a:xfrm>
            <a:off x="2517696" y="1765578"/>
            <a:ext cx="6701195"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Non-Functional Testing</a:t>
            </a:r>
            <a:endParaRPr b="0" i="0" sz="4374" u="none" cap="none" strike="noStrike">
              <a:solidFill>
                <a:schemeClr val="dk1"/>
              </a:solidFill>
              <a:latin typeface="Calibri"/>
              <a:ea typeface="Calibri"/>
              <a:cs typeface="Calibri"/>
              <a:sym typeface="Calibri"/>
            </a:endParaRPr>
          </a:p>
        </p:txBody>
      </p:sp>
      <p:sp>
        <p:nvSpPr>
          <p:cNvPr id="112" name="Google Shape;112;p8"/>
          <p:cNvSpPr/>
          <p:nvPr/>
        </p:nvSpPr>
        <p:spPr>
          <a:xfrm>
            <a:off x="2517696" y="2904292"/>
            <a:ext cx="9594890"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Non-functional testing evaluates the software's quality attributes beyond its core functionality, such as performance, security, usability, and reliability. This holistic approach ensures the application meets the user's expectations and delivers a seamless, high-quality experience.</a:t>
            </a:r>
            <a:endParaRPr b="0" i="0" sz="1750" u="none" cap="none" strike="noStrike">
              <a:solidFill>
                <a:schemeClr val="dk1"/>
              </a:solidFill>
              <a:latin typeface="Calibri"/>
              <a:ea typeface="Calibri"/>
              <a:cs typeface="Calibri"/>
              <a:sym typeface="Calibri"/>
            </a:endParaRPr>
          </a:p>
        </p:txBody>
      </p:sp>
      <p:sp>
        <p:nvSpPr>
          <p:cNvPr id="113" name="Google Shape;113;p8"/>
          <p:cNvSpPr/>
          <p:nvPr/>
        </p:nvSpPr>
        <p:spPr>
          <a:xfrm>
            <a:off x="2873097" y="4153972"/>
            <a:ext cx="9239488" cy="710803"/>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Clr>
                <a:srgbClr val="3D3838"/>
              </a:buClr>
              <a:buSzPts val="1750"/>
              <a:buFont typeface="Arial"/>
              <a:buNone/>
            </a:pPr>
            <a:r>
              <a:rPr b="1" i="0" lang="en-US" sz="1750" u="none" cap="none" strike="noStrike">
                <a:solidFill>
                  <a:srgbClr val="3D3838"/>
                </a:solidFill>
                <a:latin typeface="Arial"/>
                <a:ea typeface="Arial"/>
                <a:cs typeface="Arial"/>
                <a:sym typeface="Arial"/>
              </a:rPr>
              <a:t>Performance Testing:</a:t>
            </a:r>
            <a:r>
              <a:rPr b="0" i="0" lang="en-US" sz="1750" u="none" cap="none" strike="noStrike">
                <a:solidFill>
                  <a:srgbClr val="3D3838"/>
                </a:solidFill>
                <a:latin typeface="Arial"/>
                <a:ea typeface="Arial"/>
                <a:cs typeface="Arial"/>
                <a:sym typeface="Arial"/>
              </a:rPr>
              <a:t> Measures the system's response times, scalability, and load handling capabilities to optimize performance under real-world conditions.</a:t>
            </a:r>
            <a:endParaRPr b="0" i="0" sz="1750" u="none" cap="none" strike="noStrike">
              <a:solidFill>
                <a:schemeClr val="dk1"/>
              </a:solidFill>
              <a:latin typeface="Calibri"/>
              <a:ea typeface="Calibri"/>
              <a:cs typeface="Calibri"/>
              <a:sym typeface="Calibri"/>
            </a:endParaRPr>
          </a:p>
        </p:txBody>
      </p:sp>
      <p:sp>
        <p:nvSpPr>
          <p:cNvPr id="114" name="Google Shape;114;p8"/>
          <p:cNvSpPr/>
          <p:nvPr/>
        </p:nvSpPr>
        <p:spPr>
          <a:xfrm>
            <a:off x="2873097" y="4953595"/>
            <a:ext cx="9239488" cy="710803"/>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Clr>
                <a:srgbClr val="3D3838"/>
              </a:buClr>
              <a:buSzPts val="1750"/>
              <a:buFont typeface="Arial"/>
              <a:buNone/>
            </a:pPr>
            <a:r>
              <a:rPr b="1" i="0" lang="en-US" sz="1750" u="none" cap="none" strike="noStrike">
                <a:solidFill>
                  <a:srgbClr val="3D3838"/>
                </a:solidFill>
                <a:latin typeface="Arial"/>
                <a:ea typeface="Arial"/>
                <a:cs typeface="Arial"/>
                <a:sym typeface="Arial"/>
              </a:rPr>
              <a:t>Security Testing:</a:t>
            </a:r>
            <a:r>
              <a:rPr b="0" i="0" lang="en-US" sz="1750" u="none" cap="none" strike="noStrike">
                <a:solidFill>
                  <a:srgbClr val="3D3838"/>
                </a:solidFill>
                <a:latin typeface="Arial"/>
                <a:ea typeface="Arial"/>
                <a:cs typeface="Arial"/>
                <a:sym typeface="Arial"/>
              </a:rPr>
              <a:t> Identifies and mitigates vulnerabilities, verifying the application's resilience against potential threats and attacks.</a:t>
            </a:r>
            <a:endParaRPr b="0" i="0" sz="1750" u="none" cap="none" strike="noStrike">
              <a:solidFill>
                <a:schemeClr val="dk1"/>
              </a:solidFill>
              <a:latin typeface="Calibri"/>
              <a:ea typeface="Calibri"/>
              <a:cs typeface="Calibri"/>
              <a:sym typeface="Calibri"/>
            </a:endParaRPr>
          </a:p>
        </p:txBody>
      </p:sp>
      <p:sp>
        <p:nvSpPr>
          <p:cNvPr id="115" name="Google Shape;115;p8"/>
          <p:cNvSpPr/>
          <p:nvPr/>
        </p:nvSpPr>
        <p:spPr>
          <a:xfrm>
            <a:off x="2873097" y="5753219"/>
            <a:ext cx="9239488" cy="710803"/>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Clr>
                <a:srgbClr val="3D3838"/>
              </a:buClr>
              <a:buSzPts val="1750"/>
              <a:buFont typeface="Arial"/>
              <a:buNone/>
            </a:pPr>
            <a:r>
              <a:rPr b="1" i="0" lang="en-US" sz="1750" u="none" cap="none" strike="noStrike">
                <a:solidFill>
                  <a:srgbClr val="3D3838"/>
                </a:solidFill>
                <a:latin typeface="Arial"/>
                <a:ea typeface="Arial"/>
                <a:cs typeface="Arial"/>
                <a:sym typeface="Arial"/>
              </a:rPr>
              <a:t>Usability Testing:</a:t>
            </a:r>
            <a:r>
              <a:rPr b="0" i="0" lang="en-US" sz="1750" u="none" cap="none" strike="noStrike">
                <a:solidFill>
                  <a:srgbClr val="3D3838"/>
                </a:solidFill>
                <a:latin typeface="Arial"/>
                <a:ea typeface="Arial"/>
                <a:cs typeface="Arial"/>
                <a:sym typeface="Arial"/>
              </a:rPr>
              <a:t> Evaluates the software's ease of use, intuitiveness, and accessibility, ensuring a positive user experience.</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9"/>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9"/>
          <p:cNvSpPr/>
          <p:nvPr/>
        </p:nvSpPr>
        <p:spPr>
          <a:xfrm>
            <a:off x="2517696" y="1752243"/>
            <a:ext cx="5981938"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Performance Testing</a:t>
            </a:r>
            <a:endParaRPr b="0" i="0" sz="4374" u="none" cap="none" strike="noStrike">
              <a:solidFill>
                <a:schemeClr val="dk1"/>
              </a:solidFill>
              <a:latin typeface="Calibri"/>
              <a:ea typeface="Calibri"/>
              <a:cs typeface="Calibri"/>
              <a:sym typeface="Calibri"/>
            </a:endParaRPr>
          </a:p>
        </p:txBody>
      </p:sp>
      <p:pic>
        <p:nvPicPr>
          <p:cNvPr descr="preencoded.png" id="124" name="Google Shape;124;p9"/>
          <p:cNvPicPr preferRelativeResize="0"/>
          <p:nvPr/>
        </p:nvPicPr>
        <p:blipFill rotWithShape="1">
          <a:blip r:embed="rId3">
            <a:alphaModFix/>
          </a:blip>
          <a:srcRect b="0" l="0" r="0" t="0"/>
          <a:stretch/>
        </p:blipFill>
        <p:spPr>
          <a:xfrm>
            <a:off x="2517696" y="2890957"/>
            <a:ext cx="537091" cy="537091"/>
          </a:xfrm>
          <a:prstGeom prst="rect">
            <a:avLst/>
          </a:prstGeom>
          <a:noFill/>
          <a:ln>
            <a:noFill/>
          </a:ln>
        </p:spPr>
      </p:pic>
      <p:sp>
        <p:nvSpPr>
          <p:cNvPr id="125" name="Google Shape;125;p9"/>
          <p:cNvSpPr/>
          <p:nvPr/>
        </p:nvSpPr>
        <p:spPr>
          <a:xfrm>
            <a:off x="2517696" y="3650218"/>
            <a:ext cx="2148721"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Response Time</a:t>
            </a:r>
            <a:endParaRPr b="0" i="0" sz="2187" u="none" cap="none" strike="noStrike">
              <a:solidFill>
                <a:schemeClr val="dk1"/>
              </a:solidFill>
              <a:latin typeface="Calibri"/>
              <a:ea typeface="Calibri"/>
              <a:cs typeface="Calibri"/>
              <a:sym typeface="Calibri"/>
            </a:endParaRPr>
          </a:p>
        </p:txBody>
      </p:sp>
      <p:sp>
        <p:nvSpPr>
          <p:cNvPr id="126" name="Google Shape;126;p9"/>
          <p:cNvSpPr/>
          <p:nvPr/>
        </p:nvSpPr>
        <p:spPr>
          <a:xfrm>
            <a:off x="2517696" y="4477822"/>
            <a:ext cx="2148721" cy="199953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Measure how quickly the software responds to user interactions and system requests to ensure optimal performance.</a:t>
            </a:r>
            <a:endParaRPr b="0" i="0" sz="1750" u="none" cap="none" strike="noStrike">
              <a:solidFill>
                <a:schemeClr val="dk1"/>
              </a:solidFill>
              <a:latin typeface="Calibri"/>
              <a:ea typeface="Calibri"/>
              <a:cs typeface="Calibri"/>
              <a:sym typeface="Calibri"/>
            </a:endParaRPr>
          </a:p>
        </p:txBody>
      </p:sp>
      <p:pic>
        <p:nvPicPr>
          <p:cNvPr descr="preencoded.png" id="127" name="Google Shape;127;p9"/>
          <p:cNvPicPr preferRelativeResize="0"/>
          <p:nvPr/>
        </p:nvPicPr>
        <p:blipFill rotWithShape="1">
          <a:blip r:embed="rId4">
            <a:alphaModFix/>
          </a:blip>
          <a:srcRect b="0" l="0" r="0" t="0"/>
          <a:stretch/>
        </p:blipFill>
        <p:spPr>
          <a:xfrm>
            <a:off x="4999673" y="2890957"/>
            <a:ext cx="537210" cy="537210"/>
          </a:xfrm>
          <a:prstGeom prst="rect">
            <a:avLst/>
          </a:prstGeom>
          <a:noFill/>
          <a:ln>
            <a:noFill/>
          </a:ln>
        </p:spPr>
      </p:pic>
      <p:sp>
        <p:nvSpPr>
          <p:cNvPr id="128" name="Google Shape;128;p9"/>
          <p:cNvSpPr/>
          <p:nvPr/>
        </p:nvSpPr>
        <p:spPr>
          <a:xfrm>
            <a:off x="4999673" y="3650337"/>
            <a:ext cx="214884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Scalability</a:t>
            </a:r>
            <a:endParaRPr b="0" i="0" sz="2187" u="none" cap="none" strike="noStrike">
              <a:solidFill>
                <a:schemeClr val="dk1"/>
              </a:solidFill>
              <a:latin typeface="Calibri"/>
              <a:ea typeface="Calibri"/>
              <a:cs typeface="Calibri"/>
              <a:sym typeface="Calibri"/>
            </a:endParaRPr>
          </a:p>
        </p:txBody>
      </p:sp>
      <p:sp>
        <p:nvSpPr>
          <p:cNvPr id="129" name="Google Shape;129;p9"/>
          <p:cNvSpPr/>
          <p:nvPr/>
        </p:nvSpPr>
        <p:spPr>
          <a:xfrm>
            <a:off x="4999673" y="4130754"/>
            <a:ext cx="2148840" cy="199953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Evaluate the system's ability to handle increasing user loads and data volumes without degradation in performance.</a:t>
            </a:r>
            <a:endParaRPr b="0" i="0" sz="1750" u="none" cap="none" strike="noStrike">
              <a:solidFill>
                <a:schemeClr val="dk1"/>
              </a:solidFill>
              <a:latin typeface="Calibri"/>
              <a:ea typeface="Calibri"/>
              <a:cs typeface="Calibri"/>
              <a:sym typeface="Calibri"/>
            </a:endParaRPr>
          </a:p>
        </p:txBody>
      </p:sp>
      <p:pic>
        <p:nvPicPr>
          <p:cNvPr descr="preencoded.png" id="130" name="Google Shape;130;p9"/>
          <p:cNvPicPr preferRelativeResize="0"/>
          <p:nvPr/>
        </p:nvPicPr>
        <p:blipFill rotWithShape="1">
          <a:blip r:embed="rId5">
            <a:alphaModFix/>
          </a:blip>
          <a:srcRect b="0" l="0" r="0" t="0"/>
          <a:stretch/>
        </p:blipFill>
        <p:spPr>
          <a:xfrm>
            <a:off x="7481768" y="2890957"/>
            <a:ext cx="537091" cy="537091"/>
          </a:xfrm>
          <a:prstGeom prst="rect">
            <a:avLst/>
          </a:prstGeom>
          <a:noFill/>
          <a:ln>
            <a:noFill/>
          </a:ln>
        </p:spPr>
      </p:pic>
      <p:sp>
        <p:nvSpPr>
          <p:cNvPr id="131" name="Google Shape;131;p9"/>
          <p:cNvSpPr/>
          <p:nvPr/>
        </p:nvSpPr>
        <p:spPr>
          <a:xfrm>
            <a:off x="7481768" y="3650218"/>
            <a:ext cx="2148721"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Throughput</a:t>
            </a:r>
            <a:endParaRPr b="0" i="0" sz="2187" u="none" cap="none" strike="noStrike">
              <a:solidFill>
                <a:schemeClr val="dk1"/>
              </a:solidFill>
              <a:latin typeface="Calibri"/>
              <a:ea typeface="Calibri"/>
              <a:cs typeface="Calibri"/>
              <a:sym typeface="Calibri"/>
            </a:endParaRPr>
          </a:p>
        </p:txBody>
      </p:sp>
      <p:sp>
        <p:nvSpPr>
          <p:cNvPr id="132" name="Google Shape;132;p9"/>
          <p:cNvSpPr/>
          <p:nvPr/>
        </p:nvSpPr>
        <p:spPr>
          <a:xfrm>
            <a:off x="7481768" y="4130635"/>
            <a:ext cx="2148721" cy="199953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Assess the maximum number of requests or transactions the software can process within a given time frame.</a:t>
            </a:r>
            <a:endParaRPr b="0" i="0" sz="1750" u="none" cap="none" strike="noStrike">
              <a:solidFill>
                <a:schemeClr val="dk1"/>
              </a:solidFill>
              <a:latin typeface="Calibri"/>
              <a:ea typeface="Calibri"/>
              <a:cs typeface="Calibri"/>
              <a:sym typeface="Calibri"/>
            </a:endParaRPr>
          </a:p>
        </p:txBody>
      </p:sp>
      <p:pic>
        <p:nvPicPr>
          <p:cNvPr descr="preencoded.png" id="133" name="Google Shape;133;p9"/>
          <p:cNvPicPr preferRelativeResize="0"/>
          <p:nvPr/>
        </p:nvPicPr>
        <p:blipFill rotWithShape="1">
          <a:blip r:embed="rId6">
            <a:alphaModFix/>
          </a:blip>
          <a:srcRect b="0" l="0" r="0" t="0"/>
          <a:stretch/>
        </p:blipFill>
        <p:spPr>
          <a:xfrm>
            <a:off x="9963745" y="2890957"/>
            <a:ext cx="537210" cy="537210"/>
          </a:xfrm>
          <a:prstGeom prst="rect">
            <a:avLst/>
          </a:prstGeom>
          <a:noFill/>
          <a:ln>
            <a:noFill/>
          </a:ln>
        </p:spPr>
      </p:pic>
      <p:sp>
        <p:nvSpPr>
          <p:cNvPr id="134" name="Google Shape;134;p9"/>
          <p:cNvSpPr/>
          <p:nvPr/>
        </p:nvSpPr>
        <p:spPr>
          <a:xfrm>
            <a:off x="9963745" y="3650337"/>
            <a:ext cx="214884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Infrastructure</a:t>
            </a:r>
            <a:endParaRPr b="0" i="0" sz="2187" u="none" cap="none" strike="noStrike">
              <a:solidFill>
                <a:schemeClr val="dk1"/>
              </a:solidFill>
              <a:latin typeface="Calibri"/>
              <a:ea typeface="Calibri"/>
              <a:cs typeface="Calibri"/>
              <a:sym typeface="Calibri"/>
            </a:endParaRPr>
          </a:p>
        </p:txBody>
      </p:sp>
      <p:sp>
        <p:nvSpPr>
          <p:cNvPr id="135" name="Google Shape;135;p9"/>
          <p:cNvSpPr/>
          <p:nvPr/>
        </p:nvSpPr>
        <p:spPr>
          <a:xfrm>
            <a:off x="9963745" y="4130754"/>
            <a:ext cx="2148840" cy="2332792"/>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Identify the optimal hardware and infrastructure configurations to support the software's performance requirements.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0"/>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3" name="Google Shape;143;p10"/>
          <p:cNvPicPr preferRelativeResize="0"/>
          <p:nvPr/>
        </p:nvPicPr>
        <p:blipFill rotWithShape="1">
          <a:blip r:embed="rId3">
            <a:alphaModFix/>
          </a:blip>
          <a:srcRect b="0" l="0" r="0" t="0"/>
          <a:stretch/>
        </p:blipFill>
        <p:spPr>
          <a:xfrm>
            <a:off x="10980420" y="0"/>
            <a:ext cx="3657600" cy="8229600"/>
          </a:xfrm>
          <a:prstGeom prst="rect">
            <a:avLst/>
          </a:prstGeom>
          <a:noFill/>
          <a:ln>
            <a:noFill/>
          </a:ln>
        </p:spPr>
      </p:pic>
      <p:sp>
        <p:nvSpPr>
          <p:cNvPr id="144" name="Google Shape;144;p10"/>
          <p:cNvSpPr/>
          <p:nvPr/>
        </p:nvSpPr>
        <p:spPr>
          <a:xfrm>
            <a:off x="833199" y="934760"/>
            <a:ext cx="5554980"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Security Testing</a:t>
            </a:r>
            <a:endParaRPr b="0" i="0" sz="4374" u="none" cap="none" strike="noStrike">
              <a:solidFill>
                <a:schemeClr val="dk1"/>
              </a:solidFill>
              <a:latin typeface="Calibri"/>
              <a:ea typeface="Calibri"/>
              <a:cs typeface="Calibri"/>
              <a:sym typeface="Calibri"/>
            </a:endParaRPr>
          </a:p>
        </p:txBody>
      </p:sp>
      <p:pic>
        <p:nvPicPr>
          <p:cNvPr descr="preencoded.png" id="145" name="Google Shape;145;p10"/>
          <p:cNvPicPr preferRelativeResize="0"/>
          <p:nvPr/>
        </p:nvPicPr>
        <p:blipFill rotWithShape="1">
          <a:blip r:embed="rId4">
            <a:alphaModFix/>
          </a:blip>
          <a:srcRect b="0" l="0" r="0" t="0"/>
          <a:stretch/>
        </p:blipFill>
        <p:spPr>
          <a:xfrm>
            <a:off x="833199" y="1962388"/>
            <a:ext cx="1110972" cy="1777484"/>
          </a:xfrm>
          <a:prstGeom prst="rect">
            <a:avLst/>
          </a:prstGeom>
          <a:noFill/>
          <a:ln>
            <a:noFill/>
          </a:ln>
        </p:spPr>
      </p:pic>
      <p:sp>
        <p:nvSpPr>
          <p:cNvPr id="146" name="Google Shape;146;p10"/>
          <p:cNvSpPr/>
          <p:nvPr/>
        </p:nvSpPr>
        <p:spPr>
          <a:xfrm>
            <a:off x="2277428" y="2184559"/>
            <a:ext cx="3615333"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Vulnerability Assessment</a:t>
            </a:r>
            <a:endParaRPr b="0" i="0" sz="2187" u="none" cap="none" strike="noStrike">
              <a:solidFill>
                <a:schemeClr val="dk1"/>
              </a:solidFill>
              <a:latin typeface="Calibri"/>
              <a:ea typeface="Calibri"/>
              <a:cs typeface="Calibri"/>
              <a:sym typeface="Calibri"/>
            </a:endParaRPr>
          </a:p>
        </p:txBody>
      </p:sp>
      <p:sp>
        <p:nvSpPr>
          <p:cNvPr id="147" name="Google Shape;147;p10"/>
          <p:cNvSpPr/>
          <p:nvPr/>
        </p:nvSpPr>
        <p:spPr>
          <a:xfrm>
            <a:off x="2277428" y="2664976"/>
            <a:ext cx="7862173" cy="666512"/>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Identify potential security vulnerabilities in the software by analyzing the codebase, configuration, and system architecture.</a:t>
            </a:r>
            <a:endParaRPr b="0" i="0" sz="1750" u="none" cap="none" strike="noStrike">
              <a:solidFill>
                <a:schemeClr val="dk1"/>
              </a:solidFill>
              <a:latin typeface="Calibri"/>
              <a:ea typeface="Calibri"/>
              <a:cs typeface="Calibri"/>
              <a:sym typeface="Calibri"/>
            </a:endParaRPr>
          </a:p>
        </p:txBody>
      </p:sp>
      <p:pic>
        <p:nvPicPr>
          <p:cNvPr descr="preencoded.png" id="148" name="Google Shape;148;p10"/>
          <p:cNvPicPr preferRelativeResize="0"/>
          <p:nvPr/>
        </p:nvPicPr>
        <p:blipFill rotWithShape="1">
          <a:blip r:embed="rId5">
            <a:alphaModFix/>
          </a:blip>
          <a:srcRect b="0" l="0" r="0" t="0"/>
          <a:stretch/>
        </p:blipFill>
        <p:spPr>
          <a:xfrm>
            <a:off x="833199" y="3739872"/>
            <a:ext cx="1110972" cy="1777484"/>
          </a:xfrm>
          <a:prstGeom prst="rect">
            <a:avLst/>
          </a:prstGeom>
          <a:noFill/>
          <a:ln>
            <a:noFill/>
          </a:ln>
        </p:spPr>
      </p:pic>
      <p:sp>
        <p:nvSpPr>
          <p:cNvPr id="149" name="Google Shape;149;p10"/>
          <p:cNvSpPr/>
          <p:nvPr/>
        </p:nvSpPr>
        <p:spPr>
          <a:xfrm>
            <a:off x="2277428" y="3962043"/>
            <a:ext cx="2819043"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Penetration Testing</a:t>
            </a:r>
            <a:endParaRPr b="0" i="0" sz="2187" u="none" cap="none" strike="noStrike">
              <a:solidFill>
                <a:schemeClr val="dk1"/>
              </a:solidFill>
              <a:latin typeface="Calibri"/>
              <a:ea typeface="Calibri"/>
              <a:cs typeface="Calibri"/>
              <a:sym typeface="Calibri"/>
            </a:endParaRPr>
          </a:p>
        </p:txBody>
      </p:sp>
      <p:sp>
        <p:nvSpPr>
          <p:cNvPr id="150" name="Google Shape;150;p10"/>
          <p:cNvSpPr/>
          <p:nvPr/>
        </p:nvSpPr>
        <p:spPr>
          <a:xfrm>
            <a:off x="2277428" y="4442460"/>
            <a:ext cx="7862173" cy="666512"/>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Simulate real-world attacks to uncover weaknesses and validate the effectiveness of security controls.</a:t>
            </a:r>
            <a:endParaRPr b="0" i="0" sz="1750" u="none" cap="none" strike="noStrike">
              <a:solidFill>
                <a:schemeClr val="dk1"/>
              </a:solidFill>
              <a:latin typeface="Calibri"/>
              <a:ea typeface="Calibri"/>
              <a:cs typeface="Calibri"/>
              <a:sym typeface="Calibri"/>
            </a:endParaRPr>
          </a:p>
        </p:txBody>
      </p:sp>
      <p:pic>
        <p:nvPicPr>
          <p:cNvPr descr="preencoded.png" id="151" name="Google Shape;151;p10"/>
          <p:cNvPicPr preferRelativeResize="0"/>
          <p:nvPr/>
        </p:nvPicPr>
        <p:blipFill rotWithShape="1">
          <a:blip r:embed="rId6">
            <a:alphaModFix/>
          </a:blip>
          <a:srcRect b="0" l="0" r="0" t="0"/>
          <a:stretch/>
        </p:blipFill>
        <p:spPr>
          <a:xfrm>
            <a:off x="833199" y="5517356"/>
            <a:ext cx="1110972" cy="1777484"/>
          </a:xfrm>
          <a:prstGeom prst="rect">
            <a:avLst/>
          </a:prstGeom>
          <a:noFill/>
          <a:ln>
            <a:noFill/>
          </a:ln>
        </p:spPr>
      </p:pic>
      <p:sp>
        <p:nvSpPr>
          <p:cNvPr id="152" name="Google Shape;152;p10"/>
          <p:cNvSpPr/>
          <p:nvPr/>
        </p:nvSpPr>
        <p:spPr>
          <a:xfrm>
            <a:off x="2277428" y="5739527"/>
            <a:ext cx="277749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Risk Evaluation</a:t>
            </a:r>
            <a:endParaRPr b="0" i="0" sz="2187" u="none" cap="none" strike="noStrike">
              <a:solidFill>
                <a:schemeClr val="dk1"/>
              </a:solidFill>
              <a:latin typeface="Calibri"/>
              <a:ea typeface="Calibri"/>
              <a:cs typeface="Calibri"/>
              <a:sym typeface="Calibri"/>
            </a:endParaRPr>
          </a:p>
        </p:txBody>
      </p:sp>
      <p:sp>
        <p:nvSpPr>
          <p:cNvPr id="153" name="Google Shape;153;p10"/>
          <p:cNvSpPr/>
          <p:nvPr/>
        </p:nvSpPr>
        <p:spPr>
          <a:xfrm>
            <a:off x="2277428" y="6219944"/>
            <a:ext cx="7862173" cy="666512"/>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Assess the impact and likelihood of identified vulnerabilities to prioritize remediation efforts.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1"/>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1" name="Google Shape;161;p11"/>
          <p:cNvPicPr preferRelativeResize="0"/>
          <p:nvPr/>
        </p:nvPicPr>
        <p:blipFill rotWithShape="1">
          <a:blip r:embed="rId3">
            <a:alphaModFix/>
          </a:blip>
          <a:srcRect b="0" l="0" r="0" t="0"/>
          <a:stretch/>
        </p:blipFill>
        <p:spPr>
          <a:xfrm>
            <a:off x="9151620" y="0"/>
            <a:ext cx="5486400" cy="8229600"/>
          </a:xfrm>
          <a:prstGeom prst="rect">
            <a:avLst/>
          </a:prstGeom>
          <a:noFill/>
          <a:ln>
            <a:noFill/>
          </a:ln>
        </p:spPr>
      </p:pic>
      <p:sp>
        <p:nvSpPr>
          <p:cNvPr id="162" name="Google Shape;162;p11"/>
          <p:cNvSpPr/>
          <p:nvPr/>
        </p:nvSpPr>
        <p:spPr>
          <a:xfrm>
            <a:off x="833199" y="2309574"/>
            <a:ext cx="5554980"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Usability Testing</a:t>
            </a:r>
            <a:endParaRPr b="0" i="0" sz="4374" u="none" cap="none" strike="noStrike">
              <a:solidFill>
                <a:schemeClr val="dk1"/>
              </a:solidFill>
              <a:latin typeface="Calibri"/>
              <a:ea typeface="Calibri"/>
              <a:cs typeface="Calibri"/>
              <a:sym typeface="Calibri"/>
            </a:endParaRPr>
          </a:p>
        </p:txBody>
      </p:sp>
      <p:sp>
        <p:nvSpPr>
          <p:cNvPr id="163" name="Google Shape;163;p11"/>
          <p:cNvSpPr/>
          <p:nvPr/>
        </p:nvSpPr>
        <p:spPr>
          <a:xfrm>
            <a:off x="833199" y="3337203"/>
            <a:ext cx="7477601" cy="1333024"/>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Usability testing evaluates the software's ease of use, intuitiveness, and accessibility from the user's perspective. By observing real users interacting with the application, teams can identify pain points, gather valuable feedback, and optimize the user experience.</a:t>
            </a:r>
            <a:endParaRPr b="0" i="0" sz="1750" u="none" cap="none" strike="noStrike">
              <a:solidFill>
                <a:schemeClr val="dk1"/>
              </a:solidFill>
              <a:latin typeface="Calibri"/>
              <a:ea typeface="Calibri"/>
              <a:cs typeface="Calibri"/>
              <a:sym typeface="Calibri"/>
            </a:endParaRPr>
          </a:p>
        </p:txBody>
      </p:sp>
      <p:sp>
        <p:nvSpPr>
          <p:cNvPr id="164" name="Google Shape;164;p11"/>
          <p:cNvSpPr/>
          <p:nvPr/>
        </p:nvSpPr>
        <p:spPr>
          <a:xfrm>
            <a:off x="833199" y="4920139"/>
            <a:ext cx="7477601"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Usability testing enables software teams to understand user behavior, identify design flaws, and make data-driven decisions to enhance the application's overall usability and accessibility.</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2"/>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2"/>
          <p:cNvSpPr/>
          <p:nvPr/>
        </p:nvSpPr>
        <p:spPr>
          <a:xfrm>
            <a:off x="2517696" y="978098"/>
            <a:ext cx="5554980"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Regression Testing</a:t>
            </a:r>
            <a:endParaRPr b="0" i="0" sz="4374" u="none" cap="none" strike="noStrike">
              <a:solidFill>
                <a:schemeClr val="dk1"/>
              </a:solidFill>
              <a:latin typeface="Calibri"/>
              <a:ea typeface="Calibri"/>
              <a:cs typeface="Calibri"/>
              <a:sym typeface="Calibri"/>
            </a:endParaRPr>
          </a:p>
        </p:txBody>
      </p:sp>
      <p:pic>
        <p:nvPicPr>
          <p:cNvPr descr="preencoded.png" id="173" name="Google Shape;173;p12"/>
          <p:cNvPicPr preferRelativeResize="0"/>
          <p:nvPr/>
        </p:nvPicPr>
        <p:blipFill rotWithShape="1">
          <a:blip r:embed="rId3">
            <a:alphaModFix/>
          </a:blip>
          <a:srcRect b="0" l="0" r="0" t="0"/>
          <a:stretch/>
        </p:blipFill>
        <p:spPr>
          <a:xfrm>
            <a:off x="4124801" y="2116812"/>
            <a:ext cx="1583055" cy="1258014"/>
          </a:xfrm>
          <a:prstGeom prst="rect">
            <a:avLst/>
          </a:prstGeom>
          <a:noFill/>
          <a:ln>
            <a:noFill/>
          </a:ln>
        </p:spPr>
      </p:pic>
      <p:sp>
        <p:nvSpPr>
          <p:cNvPr id="174" name="Google Shape;174;p12"/>
          <p:cNvSpPr/>
          <p:nvPr/>
        </p:nvSpPr>
        <p:spPr>
          <a:xfrm>
            <a:off x="4863227" y="2679025"/>
            <a:ext cx="106085" cy="444341"/>
          </a:xfrm>
          <a:prstGeom prst="rect">
            <a:avLst/>
          </a:prstGeom>
          <a:noFill/>
          <a:ln>
            <a:noFill/>
          </a:ln>
        </p:spPr>
        <p:txBody>
          <a:bodyPr anchorCtr="0" anchor="t" bIns="45700" lIns="91425" spcFirstLastPara="1" rIns="91425" wrap="square" tIns="45700">
            <a:noAutofit/>
          </a:bodyPr>
          <a:lstStyle/>
          <a:p>
            <a:pPr indent="0" lvl="0" marL="0" marR="0" rtl="0" algn="ctr">
              <a:lnSpc>
                <a:spcPct val="159990"/>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1</a:t>
            </a:r>
            <a:endParaRPr b="0" i="0" sz="2187" u="none" cap="none" strike="noStrike">
              <a:solidFill>
                <a:schemeClr val="dk1"/>
              </a:solidFill>
              <a:latin typeface="Calibri"/>
              <a:ea typeface="Calibri"/>
              <a:cs typeface="Calibri"/>
              <a:sym typeface="Calibri"/>
            </a:endParaRPr>
          </a:p>
        </p:txBody>
      </p:sp>
      <p:sp>
        <p:nvSpPr>
          <p:cNvPr id="175" name="Google Shape;175;p12"/>
          <p:cNvSpPr/>
          <p:nvPr/>
        </p:nvSpPr>
        <p:spPr>
          <a:xfrm>
            <a:off x="5930027" y="2338983"/>
            <a:ext cx="277749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Verify Fixes</a:t>
            </a:r>
            <a:endParaRPr b="0" i="0" sz="2187" u="none" cap="none" strike="noStrike">
              <a:solidFill>
                <a:schemeClr val="dk1"/>
              </a:solidFill>
              <a:latin typeface="Calibri"/>
              <a:ea typeface="Calibri"/>
              <a:cs typeface="Calibri"/>
              <a:sym typeface="Calibri"/>
            </a:endParaRPr>
          </a:p>
        </p:txBody>
      </p:sp>
      <p:sp>
        <p:nvSpPr>
          <p:cNvPr id="176" name="Google Shape;176;p12"/>
          <p:cNvSpPr/>
          <p:nvPr/>
        </p:nvSpPr>
        <p:spPr>
          <a:xfrm>
            <a:off x="5930027" y="2819400"/>
            <a:ext cx="4134445" cy="33325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Ensure bug fixes do not introduce new issues</a:t>
            </a:r>
            <a:endParaRPr b="0" i="0" sz="1750" u="none" cap="none" strike="noStrike">
              <a:solidFill>
                <a:schemeClr val="dk1"/>
              </a:solidFill>
              <a:latin typeface="Calibri"/>
              <a:ea typeface="Calibri"/>
              <a:cs typeface="Calibri"/>
              <a:sym typeface="Calibri"/>
            </a:endParaRPr>
          </a:p>
        </p:txBody>
      </p:sp>
      <p:sp>
        <p:nvSpPr>
          <p:cNvPr id="177" name="Google Shape;177;p12"/>
          <p:cNvSpPr/>
          <p:nvPr/>
        </p:nvSpPr>
        <p:spPr>
          <a:xfrm>
            <a:off x="5763339" y="3376880"/>
            <a:ext cx="6293763" cy="22205"/>
          </a:xfrm>
          <a:prstGeom prst="rect">
            <a:avLst/>
          </a:prstGeom>
          <a:solidFill>
            <a:srgbClr val="CAC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8" name="Google Shape;178;p12"/>
          <p:cNvPicPr preferRelativeResize="0"/>
          <p:nvPr/>
        </p:nvPicPr>
        <p:blipFill rotWithShape="1">
          <a:blip r:embed="rId4">
            <a:alphaModFix/>
          </a:blip>
          <a:srcRect b="0" l="0" r="0" t="0"/>
          <a:stretch/>
        </p:blipFill>
        <p:spPr>
          <a:xfrm>
            <a:off x="3333155" y="3430310"/>
            <a:ext cx="3166229" cy="1258014"/>
          </a:xfrm>
          <a:prstGeom prst="rect">
            <a:avLst/>
          </a:prstGeom>
          <a:noFill/>
          <a:ln>
            <a:noFill/>
          </a:ln>
        </p:spPr>
      </p:pic>
      <p:sp>
        <p:nvSpPr>
          <p:cNvPr id="179" name="Google Shape;179;p12"/>
          <p:cNvSpPr/>
          <p:nvPr/>
        </p:nvSpPr>
        <p:spPr>
          <a:xfrm>
            <a:off x="4835723" y="3837146"/>
            <a:ext cx="161092" cy="444341"/>
          </a:xfrm>
          <a:prstGeom prst="rect">
            <a:avLst/>
          </a:prstGeom>
          <a:noFill/>
          <a:ln>
            <a:noFill/>
          </a:ln>
        </p:spPr>
        <p:txBody>
          <a:bodyPr anchorCtr="0" anchor="t" bIns="45700" lIns="91425" spcFirstLastPara="1" rIns="91425" wrap="square" tIns="45700">
            <a:noAutofit/>
          </a:bodyPr>
          <a:lstStyle/>
          <a:p>
            <a:pPr indent="0" lvl="0" marL="0" marR="0" rtl="0" algn="ctr">
              <a:lnSpc>
                <a:spcPct val="159990"/>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2</a:t>
            </a:r>
            <a:endParaRPr b="0" i="0" sz="2187" u="none" cap="none" strike="noStrike">
              <a:solidFill>
                <a:schemeClr val="dk1"/>
              </a:solidFill>
              <a:latin typeface="Calibri"/>
              <a:ea typeface="Calibri"/>
              <a:cs typeface="Calibri"/>
              <a:sym typeface="Calibri"/>
            </a:endParaRPr>
          </a:p>
        </p:txBody>
      </p:sp>
      <p:sp>
        <p:nvSpPr>
          <p:cNvPr id="180" name="Google Shape;180;p12"/>
          <p:cNvSpPr/>
          <p:nvPr/>
        </p:nvSpPr>
        <p:spPr>
          <a:xfrm>
            <a:off x="6721554" y="3652480"/>
            <a:ext cx="312670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Validate Functionality</a:t>
            </a:r>
            <a:endParaRPr b="0" i="0" sz="2187" u="none" cap="none" strike="noStrike">
              <a:solidFill>
                <a:schemeClr val="dk1"/>
              </a:solidFill>
              <a:latin typeface="Calibri"/>
              <a:ea typeface="Calibri"/>
              <a:cs typeface="Calibri"/>
              <a:sym typeface="Calibri"/>
            </a:endParaRPr>
          </a:p>
        </p:txBody>
      </p:sp>
      <p:sp>
        <p:nvSpPr>
          <p:cNvPr id="181" name="Google Shape;181;p12"/>
          <p:cNvSpPr/>
          <p:nvPr/>
        </p:nvSpPr>
        <p:spPr>
          <a:xfrm>
            <a:off x="6721554" y="4132898"/>
            <a:ext cx="3126700" cy="33325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Retest core features after changes</a:t>
            </a:r>
            <a:endParaRPr b="0" i="0" sz="1750" u="none" cap="none" strike="noStrike">
              <a:solidFill>
                <a:schemeClr val="dk1"/>
              </a:solidFill>
              <a:latin typeface="Calibri"/>
              <a:ea typeface="Calibri"/>
              <a:cs typeface="Calibri"/>
              <a:sym typeface="Calibri"/>
            </a:endParaRPr>
          </a:p>
        </p:txBody>
      </p:sp>
      <p:sp>
        <p:nvSpPr>
          <p:cNvPr id="182" name="Google Shape;182;p12"/>
          <p:cNvSpPr/>
          <p:nvPr/>
        </p:nvSpPr>
        <p:spPr>
          <a:xfrm>
            <a:off x="6554867" y="4690378"/>
            <a:ext cx="5502235" cy="22205"/>
          </a:xfrm>
          <a:prstGeom prst="rect">
            <a:avLst/>
          </a:prstGeom>
          <a:solidFill>
            <a:srgbClr val="CAC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3" name="Google Shape;183;p12"/>
          <p:cNvPicPr preferRelativeResize="0"/>
          <p:nvPr/>
        </p:nvPicPr>
        <p:blipFill rotWithShape="1">
          <a:blip r:embed="rId5">
            <a:alphaModFix/>
          </a:blip>
          <a:srcRect b="0" l="0" r="0" t="0"/>
          <a:stretch/>
        </p:blipFill>
        <p:spPr>
          <a:xfrm>
            <a:off x="2541627" y="4743807"/>
            <a:ext cx="4749403" cy="1258014"/>
          </a:xfrm>
          <a:prstGeom prst="rect">
            <a:avLst/>
          </a:prstGeom>
          <a:noFill/>
          <a:ln>
            <a:noFill/>
          </a:ln>
        </p:spPr>
      </p:pic>
      <p:sp>
        <p:nvSpPr>
          <p:cNvPr id="184" name="Google Shape;184;p12"/>
          <p:cNvSpPr/>
          <p:nvPr/>
        </p:nvSpPr>
        <p:spPr>
          <a:xfrm>
            <a:off x="4835366" y="5150644"/>
            <a:ext cx="161687" cy="444341"/>
          </a:xfrm>
          <a:prstGeom prst="rect">
            <a:avLst/>
          </a:prstGeom>
          <a:noFill/>
          <a:ln>
            <a:noFill/>
          </a:ln>
        </p:spPr>
        <p:txBody>
          <a:bodyPr anchorCtr="0" anchor="t" bIns="45700" lIns="91425" spcFirstLastPara="1" rIns="91425" wrap="square" tIns="45700">
            <a:noAutofit/>
          </a:bodyPr>
          <a:lstStyle/>
          <a:p>
            <a:pPr indent="0" lvl="0" marL="0" marR="0" rtl="0" algn="ctr">
              <a:lnSpc>
                <a:spcPct val="159990"/>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3</a:t>
            </a:r>
            <a:endParaRPr b="0" i="0" sz="2187" u="none" cap="none" strike="noStrike">
              <a:solidFill>
                <a:schemeClr val="dk1"/>
              </a:solidFill>
              <a:latin typeface="Calibri"/>
              <a:ea typeface="Calibri"/>
              <a:cs typeface="Calibri"/>
              <a:sym typeface="Calibri"/>
            </a:endParaRPr>
          </a:p>
        </p:txBody>
      </p:sp>
      <p:sp>
        <p:nvSpPr>
          <p:cNvPr id="185" name="Google Shape;185;p12"/>
          <p:cNvSpPr/>
          <p:nvPr/>
        </p:nvSpPr>
        <p:spPr>
          <a:xfrm>
            <a:off x="7513201" y="4965978"/>
            <a:ext cx="277749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Detect Regressions</a:t>
            </a:r>
            <a:endParaRPr b="0" i="0" sz="2187" u="none" cap="none" strike="noStrike">
              <a:solidFill>
                <a:schemeClr val="dk1"/>
              </a:solidFill>
              <a:latin typeface="Calibri"/>
              <a:ea typeface="Calibri"/>
              <a:cs typeface="Calibri"/>
              <a:sym typeface="Calibri"/>
            </a:endParaRPr>
          </a:p>
        </p:txBody>
      </p:sp>
      <p:sp>
        <p:nvSpPr>
          <p:cNvPr id="186" name="Google Shape;186;p12"/>
          <p:cNvSpPr/>
          <p:nvPr/>
        </p:nvSpPr>
        <p:spPr>
          <a:xfrm>
            <a:off x="7513201" y="5446395"/>
            <a:ext cx="3944303" cy="33325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Identify unintended side effects of updates</a:t>
            </a:r>
            <a:endParaRPr b="0" i="0" sz="1750" u="none" cap="none" strike="noStrike">
              <a:solidFill>
                <a:schemeClr val="dk1"/>
              </a:solidFill>
              <a:latin typeface="Calibri"/>
              <a:ea typeface="Calibri"/>
              <a:cs typeface="Calibri"/>
              <a:sym typeface="Calibri"/>
            </a:endParaRPr>
          </a:p>
        </p:txBody>
      </p:sp>
      <p:sp>
        <p:nvSpPr>
          <p:cNvPr id="187" name="Google Shape;187;p12"/>
          <p:cNvSpPr/>
          <p:nvPr/>
        </p:nvSpPr>
        <p:spPr>
          <a:xfrm>
            <a:off x="2517696" y="6251734"/>
            <a:ext cx="9594890"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Regression testing is a critical practice that verifies software changes have not introduced new defects or broken existing functionality. By systematically retesting the application, teams can catch regressions early and ensure the software continues to meet requirements after each update.</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3"/>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3"/>
          <p:cNvSpPr/>
          <p:nvPr/>
        </p:nvSpPr>
        <p:spPr>
          <a:xfrm>
            <a:off x="2517696" y="1204317"/>
            <a:ext cx="7725966"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Test Planning and Strategy</a:t>
            </a:r>
            <a:endParaRPr b="0" i="0" sz="4374" u="none" cap="none" strike="noStrike">
              <a:solidFill>
                <a:schemeClr val="dk1"/>
              </a:solidFill>
              <a:latin typeface="Calibri"/>
              <a:ea typeface="Calibri"/>
              <a:cs typeface="Calibri"/>
              <a:sym typeface="Calibri"/>
            </a:endParaRPr>
          </a:p>
        </p:txBody>
      </p:sp>
      <p:sp>
        <p:nvSpPr>
          <p:cNvPr id="196" name="Google Shape;196;p13"/>
          <p:cNvSpPr/>
          <p:nvPr/>
        </p:nvSpPr>
        <p:spPr>
          <a:xfrm>
            <a:off x="2517696" y="2516624"/>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3"/>
          <p:cNvSpPr/>
          <p:nvPr/>
        </p:nvSpPr>
        <p:spPr>
          <a:xfrm>
            <a:off x="2703909" y="2558296"/>
            <a:ext cx="127397"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1</a:t>
            </a:r>
            <a:endParaRPr b="0" i="0" sz="2624" u="none" cap="none" strike="noStrike">
              <a:solidFill>
                <a:schemeClr val="dk1"/>
              </a:solidFill>
              <a:latin typeface="Calibri"/>
              <a:ea typeface="Calibri"/>
              <a:cs typeface="Calibri"/>
              <a:sym typeface="Calibri"/>
            </a:endParaRPr>
          </a:p>
        </p:txBody>
      </p:sp>
      <p:sp>
        <p:nvSpPr>
          <p:cNvPr id="198" name="Google Shape;198;p13"/>
          <p:cNvSpPr/>
          <p:nvPr/>
        </p:nvSpPr>
        <p:spPr>
          <a:xfrm>
            <a:off x="3239810" y="2592943"/>
            <a:ext cx="3626406"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Comprehensive Test Plan</a:t>
            </a:r>
            <a:endParaRPr b="0" i="0" sz="2187" u="none" cap="none" strike="noStrike">
              <a:solidFill>
                <a:schemeClr val="dk1"/>
              </a:solidFill>
              <a:latin typeface="Calibri"/>
              <a:ea typeface="Calibri"/>
              <a:cs typeface="Calibri"/>
              <a:sym typeface="Calibri"/>
            </a:endParaRPr>
          </a:p>
        </p:txBody>
      </p:sp>
      <p:sp>
        <p:nvSpPr>
          <p:cNvPr id="199" name="Google Shape;199;p13"/>
          <p:cNvSpPr/>
          <p:nvPr/>
        </p:nvSpPr>
        <p:spPr>
          <a:xfrm>
            <a:off x="3239810" y="3073360"/>
            <a:ext cx="3964305" cy="1333024"/>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Develop a detailed test plan that outlines the objectives, scope, timeline, and resources required for effective software testing.</a:t>
            </a:r>
            <a:endParaRPr b="0" i="0" sz="1750" u="none" cap="none" strike="noStrike">
              <a:solidFill>
                <a:schemeClr val="dk1"/>
              </a:solidFill>
              <a:latin typeface="Calibri"/>
              <a:ea typeface="Calibri"/>
              <a:cs typeface="Calibri"/>
              <a:sym typeface="Calibri"/>
            </a:endParaRPr>
          </a:p>
        </p:txBody>
      </p:sp>
      <p:sp>
        <p:nvSpPr>
          <p:cNvPr id="200" name="Google Shape;200;p13"/>
          <p:cNvSpPr/>
          <p:nvPr/>
        </p:nvSpPr>
        <p:spPr>
          <a:xfrm>
            <a:off x="7426285" y="2516624"/>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3"/>
          <p:cNvSpPr/>
          <p:nvPr/>
        </p:nvSpPr>
        <p:spPr>
          <a:xfrm>
            <a:off x="7579519" y="2558296"/>
            <a:ext cx="193358"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2</a:t>
            </a:r>
            <a:endParaRPr b="0" i="0" sz="2624" u="none" cap="none" strike="noStrike">
              <a:solidFill>
                <a:schemeClr val="dk1"/>
              </a:solidFill>
              <a:latin typeface="Calibri"/>
              <a:ea typeface="Calibri"/>
              <a:cs typeface="Calibri"/>
              <a:sym typeface="Calibri"/>
            </a:endParaRPr>
          </a:p>
        </p:txBody>
      </p:sp>
      <p:sp>
        <p:nvSpPr>
          <p:cNvPr id="202" name="Google Shape;202;p13"/>
          <p:cNvSpPr/>
          <p:nvPr/>
        </p:nvSpPr>
        <p:spPr>
          <a:xfrm>
            <a:off x="8148399" y="2592943"/>
            <a:ext cx="3062287"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Risk-Based Approach</a:t>
            </a:r>
            <a:endParaRPr b="0" i="0" sz="2187" u="none" cap="none" strike="noStrike">
              <a:solidFill>
                <a:schemeClr val="dk1"/>
              </a:solidFill>
              <a:latin typeface="Calibri"/>
              <a:ea typeface="Calibri"/>
              <a:cs typeface="Calibri"/>
              <a:sym typeface="Calibri"/>
            </a:endParaRPr>
          </a:p>
        </p:txBody>
      </p:sp>
      <p:sp>
        <p:nvSpPr>
          <p:cNvPr id="203" name="Google Shape;203;p13"/>
          <p:cNvSpPr/>
          <p:nvPr/>
        </p:nvSpPr>
        <p:spPr>
          <a:xfrm>
            <a:off x="8148399" y="3073360"/>
            <a:ext cx="3964305" cy="1333024"/>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Prioritize testing efforts based on the identified risks, ensuring the most critical functionality and potential failure points are thoroughly validated.</a:t>
            </a:r>
            <a:endParaRPr b="0" i="0" sz="1750" u="none" cap="none" strike="noStrike">
              <a:solidFill>
                <a:schemeClr val="dk1"/>
              </a:solidFill>
              <a:latin typeface="Calibri"/>
              <a:ea typeface="Calibri"/>
              <a:cs typeface="Calibri"/>
              <a:sym typeface="Calibri"/>
            </a:endParaRPr>
          </a:p>
        </p:txBody>
      </p:sp>
      <p:sp>
        <p:nvSpPr>
          <p:cNvPr id="204" name="Google Shape;204;p13"/>
          <p:cNvSpPr/>
          <p:nvPr/>
        </p:nvSpPr>
        <p:spPr>
          <a:xfrm>
            <a:off x="2517696" y="4802148"/>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3"/>
          <p:cNvSpPr/>
          <p:nvPr/>
        </p:nvSpPr>
        <p:spPr>
          <a:xfrm>
            <a:off x="2670572" y="4843820"/>
            <a:ext cx="194072"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3</a:t>
            </a:r>
            <a:endParaRPr b="0" i="0" sz="2624" u="none" cap="none" strike="noStrike">
              <a:solidFill>
                <a:schemeClr val="dk1"/>
              </a:solidFill>
              <a:latin typeface="Calibri"/>
              <a:ea typeface="Calibri"/>
              <a:cs typeface="Calibri"/>
              <a:sym typeface="Calibri"/>
            </a:endParaRPr>
          </a:p>
        </p:txBody>
      </p:sp>
      <p:sp>
        <p:nvSpPr>
          <p:cNvPr id="206" name="Google Shape;206;p13"/>
          <p:cNvSpPr/>
          <p:nvPr/>
        </p:nvSpPr>
        <p:spPr>
          <a:xfrm>
            <a:off x="3239810" y="4878467"/>
            <a:ext cx="3469005"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Test Strategy Alignment</a:t>
            </a:r>
            <a:endParaRPr b="0" i="0" sz="2187" u="none" cap="none" strike="noStrike">
              <a:solidFill>
                <a:schemeClr val="dk1"/>
              </a:solidFill>
              <a:latin typeface="Calibri"/>
              <a:ea typeface="Calibri"/>
              <a:cs typeface="Calibri"/>
              <a:sym typeface="Calibri"/>
            </a:endParaRPr>
          </a:p>
        </p:txBody>
      </p:sp>
      <p:sp>
        <p:nvSpPr>
          <p:cNvPr id="207" name="Google Shape;207;p13"/>
          <p:cNvSpPr/>
          <p:nvPr/>
        </p:nvSpPr>
        <p:spPr>
          <a:xfrm>
            <a:off x="3239810" y="5358884"/>
            <a:ext cx="3964305" cy="1666280"/>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Align the test strategy with the overall project goals, development methodology, and stakeholder requirements to ensure the testing process delivers maximum value.</a:t>
            </a:r>
            <a:endParaRPr b="0" i="0" sz="1750" u="none" cap="none" strike="noStrike">
              <a:solidFill>
                <a:schemeClr val="dk1"/>
              </a:solidFill>
              <a:latin typeface="Calibri"/>
              <a:ea typeface="Calibri"/>
              <a:cs typeface="Calibri"/>
              <a:sym typeface="Calibri"/>
            </a:endParaRPr>
          </a:p>
        </p:txBody>
      </p:sp>
      <p:sp>
        <p:nvSpPr>
          <p:cNvPr id="208" name="Google Shape;208;p13"/>
          <p:cNvSpPr/>
          <p:nvPr/>
        </p:nvSpPr>
        <p:spPr>
          <a:xfrm>
            <a:off x="7426285" y="4802148"/>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3"/>
          <p:cNvSpPr/>
          <p:nvPr/>
        </p:nvSpPr>
        <p:spPr>
          <a:xfrm>
            <a:off x="7563088" y="4843820"/>
            <a:ext cx="226338"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4</a:t>
            </a:r>
            <a:endParaRPr b="0" i="0" sz="2624" u="none" cap="none" strike="noStrike">
              <a:solidFill>
                <a:schemeClr val="dk1"/>
              </a:solidFill>
              <a:latin typeface="Calibri"/>
              <a:ea typeface="Calibri"/>
              <a:cs typeface="Calibri"/>
              <a:sym typeface="Calibri"/>
            </a:endParaRPr>
          </a:p>
        </p:txBody>
      </p:sp>
      <p:sp>
        <p:nvSpPr>
          <p:cNvPr id="210" name="Google Shape;210;p13"/>
          <p:cNvSpPr/>
          <p:nvPr/>
        </p:nvSpPr>
        <p:spPr>
          <a:xfrm>
            <a:off x="8148399" y="4878467"/>
            <a:ext cx="3682603"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Continuous Improvement</a:t>
            </a:r>
            <a:endParaRPr b="0" i="0" sz="2187" u="none" cap="none" strike="noStrike">
              <a:solidFill>
                <a:schemeClr val="dk1"/>
              </a:solidFill>
              <a:latin typeface="Calibri"/>
              <a:ea typeface="Calibri"/>
              <a:cs typeface="Calibri"/>
              <a:sym typeface="Calibri"/>
            </a:endParaRPr>
          </a:p>
        </p:txBody>
      </p:sp>
      <p:sp>
        <p:nvSpPr>
          <p:cNvPr id="211" name="Google Shape;211;p13"/>
          <p:cNvSpPr/>
          <p:nvPr/>
        </p:nvSpPr>
        <p:spPr>
          <a:xfrm>
            <a:off x="8148399" y="5358884"/>
            <a:ext cx="3964305" cy="1333024"/>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Regularly review and refine the test plan and strategy based on feedback, lessons learned, and changing requirements to optimize the testing process.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4"/>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
          <p:cNvSpPr/>
          <p:nvPr/>
        </p:nvSpPr>
        <p:spPr>
          <a:xfrm>
            <a:off x="2517696" y="857488"/>
            <a:ext cx="8292584"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Test Case Design Techniques</a:t>
            </a:r>
            <a:endParaRPr b="0" i="0" sz="4374" u="none" cap="none" strike="noStrike">
              <a:solidFill>
                <a:schemeClr val="dk1"/>
              </a:solidFill>
              <a:latin typeface="Calibri"/>
              <a:ea typeface="Calibri"/>
              <a:cs typeface="Calibri"/>
              <a:sym typeface="Calibri"/>
            </a:endParaRPr>
          </a:p>
        </p:txBody>
      </p:sp>
      <p:sp>
        <p:nvSpPr>
          <p:cNvPr id="220" name="Google Shape;220;p14"/>
          <p:cNvSpPr/>
          <p:nvPr/>
        </p:nvSpPr>
        <p:spPr>
          <a:xfrm>
            <a:off x="2517696" y="1996202"/>
            <a:ext cx="9594890"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Effective test case design is crucial for ensuring comprehensive software testing. Key techniques include equivalence partitioning, boundary value analysis, and decision table testing, which systematically identify test scenarios to validate expected and edge-case behaviors.</a:t>
            </a:r>
            <a:endParaRPr b="0" i="0" sz="1750" u="none" cap="none" strike="noStrike">
              <a:solidFill>
                <a:schemeClr val="dk1"/>
              </a:solidFill>
              <a:latin typeface="Calibri"/>
              <a:ea typeface="Calibri"/>
              <a:cs typeface="Calibri"/>
              <a:sym typeface="Calibri"/>
            </a:endParaRPr>
          </a:p>
        </p:txBody>
      </p:sp>
      <p:sp>
        <p:nvSpPr>
          <p:cNvPr id="221" name="Google Shape;221;p14"/>
          <p:cNvSpPr/>
          <p:nvPr/>
        </p:nvSpPr>
        <p:spPr>
          <a:xfrm>
            <a:off x="2517696" y="3245882"/>
            <a:ext cx="9594890" cy="614958"/>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4"/>
          <p:cNvSpPr/>
          <p:nvPr/>
        </p:nvSpPr>
        <p:spPr>
          <a:xfrm>
            <a:off x="2739985" y="3386733"/>
            <a:ext cx="4349234" cy="33325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1" i="0" lang="en-US" sz="1750" u="none" cap="none" strike="noStrike">
                <a:solidFill>
                  <a:srgbClr val="3D3838"/>
                </a:solidFill>
                <a:latin typeface="Arial"/>
                <a:ea typeface="Arial"/>
                <a:cs typeface="Arial"/>
                <a:sym typeface="Arial"/>
              </a:rPr>
              <a:t>Technique</a:t>
            </a:r>
            <a:endParaRPr b="0" i="0" sz="1750" u="none" cap="none" strike="noStrike">
              <a:solidFill>
                <a:schemeClr val="dk1"/>
              </a:solidFill>
              <a:latin typeface="Calibri"/>
              <a:ea typeface="Calibri"/>
              <a:cs typeface="Calibri"/>
              <a:sym typeface="Calibri"/>
            </a:endParaRPr>
          </a:p>
        </p:txBody>
      </p:sp>
      <p:sp>
        <p:nvSpPr>
          <p:cNvPr id="223" name="Google Shape;223;p14"/>
          <p:cNvSpPr/>
          <p:nvPr/>
        </p:nvSpPr>
        <p:spPr>
          <a:xfrm>
            <a:off x="7541181" y="3386733"/>
            <a:ext cx="4349234" cy="33325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1" i="0" lang="en-US" sz="1750" u="none" cap="none" strike="noStrike">
                <a:solidFill>
                  <a:srgbClr val="3D3838"/>
                </a:solidFill>
                <a:latin typeface="Arial"/>
                <a:ea typeface="Arial"/>
                <a:cs typeface="Arial"/>
                <a:sym typeface="Arial"/>
              </a:rPr>
              <a:t>Description</a:t>
            </a:r>
            <a:endParaRPr b="0" i="0" sz="1750" u="none" cap="none" strike="noStrike">
              <a:solidFill>
                <a:schemeClr val="dk1"/>
              </a:solidFill>
              <a:latin typeface="Calibri"/>
              <a:ea typeface="Calibri"/>
              <a:cs typeface="Calibri"/>
              <a:sym typeface="Calibri"/>
            </a:endParaRPr>
          </a:p>
        </p:txBody>
      </p:sp>
      <p:sp>
        <p:nvSpPr>
          <p:cNvPr id="224" name="Google Shape;224;p14"/>
          <p:cNvSpPr/>
          <p:nvPr/>
        </p:nvSpPr>
        <p:spPr>
          <a:xfrm>
            <a:off x="2739985" y="4001691"/>
            <a:ext cx="4349234" cy="33325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Equivalence Partitioning</a:t>
            </a:r>
            <a:endParaRPr b="0" i="0" sz="1750" u="none" cap="none" strike="noStrike">
              <a:solidFill>
                <a:schemeClr val="dk1"/>
              </a:solidFill>
              <a:latin typeface="Calibri"/>
              <a:ea typeface="Calibri"/>
              <a:cs typeface="Calibri"/>
              <a:sym typeface="Calibri"/>
            </a:endParaRPr>
          </a:p>
        </p:txBody>
      </p:sp>
      <p:sp>
        <p:nvSpPr>
          <p:cNvPr id="225" name="Google Shape;225;p14"/>
          <p:cNvSpPr/>
          <p:nvPr/>
        </p:nvSpPr>
        <p:spPr>
          <a:xfrm>
            <a:off x="7541181" y="4001691"/>
            <a:ext cx="4349234"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Divides the input domain into equivalent classes, with a representative test case for each class.</a:t>
            </a:r>
            <a:endParaRPr b="0" i="0" sz="1750" u="none" cap="none" strike="noStrike">
              <a:solidFill>
                <a:schemeClr val="dk1"/>
              </a:solidFill>
              <a:latin typeface="Calibri"/>
              <a:ea typeface="Calibri"/>
              <a:cs typeface="Calibri"/>
              <a:sym typeface="Calibri"/>
            </a:endParaRPr>
          </a:p>
        </p:txBody>
      </p:sp>
      <p:sp>
        <p:nvSpPr>
          <p:cNvPr id="226" name="Google Shape;226;p14"/>
          <p:cNvSpPr/>
          <p:nvPr/>
        </p:nvSpPr>
        <p:spPr>
          <a:xfrm>
            <a:off x="2517696" y="5142309"/>
            <a:ext cx="9594890" cy="948214"/>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4"/>
          <p:cNvSpPr/>
          <p:nvPr/>
        </p:nvSpPr>
        <p:spPr>
          <a:xfrm>
            <a:off x="2739985" y="5283160"/>
            <a:ext cx="4349234" cy="33325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Boundary Value Analysis</a:t>
            </a:r>
            <a:endParaRPr b="0" i="0" sz="1750" u="none" cap="none" strike="noStrike">
              <a:solidFill>
                <a:schemeClr val="dk1"/>
              </a:solidFill>
              <a:latin typeface="Calibri"/>
              <a:ea typeface="Calibri"/>
              <a:cs typeface="Calibri"/>
              <a:sym typeface="Calibri"/>
            </a:endParaRPr>
          </a:p>
        </p:txBody>
      </p:sp>
      <p:sp>
        <p:nvSpPr>
          <p:cNvPr id="228" name="Google Shape;228;p14"/>
          <p:cNvSpPr/>
          <p:nvPr/>
        </p:nvSpPr>
        <p:spPr>
          <a:xfrm>
            <a:off x="7541181" y="5283160"/>
            <a:ext cx="4349234" cy="666512"/>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Focuses on testing the boundaries of input ranges, where defects are more likely to occur.</a:t>
            </a:r>
            <a:endParaRPr b="0" i="0" sz="1750" u="none" cap="none" strike="noStrike">
              <a:solidFill>
                <a:schemeClr val="dk1"/>
              </a:solidFill>
              <a:latin typeface="Calibri"/>
              <a:ea typeface="Calibri"/>
              <a:cs typeface="Calibri"/>
              <a:sym typeface="Calibri"/>
            </a:endParaRPr>
          </a:p>
        </p:txBody>
      </p:sp>
      <p:sp>
        <p:nvSpPr>
          <p:cNvPr id="229" name="Google Shape;229;p14"/>
          <p:cNvSpPr/>
          <p:nvPr/>
        </p:nvSpPr>
        <p:spPr>
          <a:xfrm>
            <a:off x="2739985" y="6231374"/>
            <a:ext cx="4349234" cy="33325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Decision Table Testing</a:t>
            </a:r>
            <a:endParaRPr b="0" i="0" sz="1750" u="none" cap="none" strike="noStrike">
              <a:solidFill>
                <a:schemeClr val="dk1"/>
              </a:solidFill>
              <a:latin typeface="Calibri"/>
              <a:ea typeface="Calibri"/>
              <a:cs typeface="Calibri"/>
              <a:sym typeface="Calibri"/>
            </a:endParaRPr>
          </a:p>
        </p:txBody>
      </p:sp>
      <p:sp>
        <p:nvSpPr>
          <p:cNvPr id="230" name="Google Shape;230;p14"/>
          <p:cNvSpPr/>
          <p:nvPr/>
        </p:nvSpPr>
        <p:spPr>
          <a:xfrm>
            <a:off x="7541181" y="6231374"/>
            <a:ext cx="4349234"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Captures combinations of inputs and expected outputs, ensuring all possible scenarios are covered.</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5"/>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5"/>
          <p:cNvSpPr/>
          <p:nvPr/>
        </p:nvSpPr>
        <p:spPr>
          <a:xfrm>
            <a:off x="2916793" y="561142"/>
            <a:ext cx="6134219" cy="636508"/>
          </a:xfrm>
          <a:prstGeom prst="rect">
            <a:avLst/>
          </a:prstGeom>
          <a:noFill/>
          <a:ln>
            <a:noFill/>
          </a:ln>
        </p:spPr>
        <p:txBody>
          <a:bodyPr anchorCtr="0" anchor="t" bIns="45700" lIns="91425" spcFirstLastPara="1" rIns="91425" wrap="square" tIns="45700">
            <a:noAutofit/>
          </a:bodyPr>
          <a:lstStyle/>
          <a:p>
            <a:pPr indent="0" lvl="0" marL="0" marR="0" rtl="0" algn="l">
              <a:lnSpc>
                <a:spcPct val="125043"/>
              </a:lnSpc>
              <a:spcBef>
                <a:spcPts val="0"/>
              </a:spcBef>
              <a:spcAft>
                <a:spcPts val="0"/>
              </a:spcAft>
              <a:buClr>
                <a:srgbClr val="000000"/>
              </a:buClr>
              <a:buSzPts val="4009"/>
              <a:buFont typeface="Montserrat"/>
              <a:buNone/>
            </a:pPr>
            <a:r>
              <a:rPr b="1" i="0" lang="en-US" sz="4009" u="none" cap="none" strike="noStrike">
                <a:solidFill>
                  <a:srgbClr val="000000"/>
                </a:solidFill>
                <a:latin typeface="Montserrat"/>
                <a:ea typeface="Montserrat"/>
                <a:cs typeface="Montserrat"/>
                <a:sym typeface="Montserrat"/>
              </a:rPr>
              <a:t>Test Data Management</a:t>
            </a:r>
            <a:endParaRPr b="0" i="0" sz="4009" u="none" cap="none" strike="noStrike">
              <a:solidFill>
                <a:schemeClr val="dk1"/>
              </a:solidFill>
              <a:latin typeface="Calibri"/>
              <a:ea typeface="Calibri"/>
              <a:cs typeface="Calibri"/>
              <a:sym typeface="Calibri"/>
            </a:endParaRPr>
          </a:p>
        </p:txBody>
      </p:sp>
      <p:sp>
        <p:nvSpPr>
          <p:cNvPr id="239" name="Google Shape;239;p15"/>
          <p:cNvSpPr/>
          <p:nvPr/>
        </p:nvSpPr>
        <p:spPr>
          <a:xfrm>
            <a:off x="2916793" y="1604963"/>
            <a:ext cx="1099542" cy="1153120"/>
          </a:xfrm>
          <a:prstGeom prst="roundRect">
            <a:avLst>
              <a:gd fmla="val 11116"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5"/>
          <p:cNvSpPr/>
          <p:nvPr/>
        </p:nvSpPr>
        <p:spPr>
          <a:xfrm>
            <a:off x="3120390" y="1977747"/>
            <a:ext cx="97274" cy="407432"/>
          </a:xfrm>
          <a:prstGeom prst="rect">
            <a:avLst/>
          </a:prstGeom>
          <a:noFill/>
          <a:ln>
            <a:noFill/>
          </a:ln>
        </p:spPr>
        <p:txBody>
          <a:bodyPr anchorCtr="0" anchor="t" bIns="45700" lIns="91425" spcFirstLastPara="1" rIns="91425" wrap="square" tIns="45700">
            <a:noAutofit/>
          </a:bodyPr>
          <a:lstStyle/>
          <a:p>
            <a:pPr indent="0" lvl="0" marL="0" marR="0" rtl="0" algn="ctr">
              <a:lnSpc>
                <a:spcPct val="160079"/>
              </a:lnSpc>
              <a:spcBef>
                <a:spcPts val="0"/>
              </a:spcBef>
              <a:spcAft>
                <a:spcPts val="0"/>
              </a:spcAft>
              <a:buClr>
                <a:srgbClr val="000000"/>
              </a:buClr>
              <a:buSzPts val="2004"/>
              <a:buFont typeface="Montserrat"/>
              <a:buNone/>
            </a:pPr>
            <a:r>
              <a:rPr b="1" i="0" lang="en-US" sz="2004" u="none" cap="none" strike="noStrike">
                <a:solidFill>
                  <a:srgbClr val="000000"/>
                </a:solidFill>
                <a:latin typeface="Montserrat"/>
                <a:ea typeface="Montserrat"/>
                <a:cs typeface="Montserrat"/>
                <a:sym typeface="Montserrat"/>
              </a:rPr>
              <a:t>1</a:t>
            </a:r>
            <a:endParaRPr b="0" i="0" sz="2004" u="none" cap="none" strike="noStrike">
              <a:solidFill>
                <a:schemeClr val="dk1"/>
              </a:solidFill>
              <a:latin typeface="Calibri"/>
              <a:ea typeface="Calibri"/>
              <a:cs typeface="Calibri"/>
              <a:sym typeface="Calibri"/>
            </a:endParaRPr>
          </a:p>
        </p:txBody>
      </p:sp>
      <p:sp>
        <p:nvSpPr>
          <p:cNvPr id="241" name="Google Shape;241;p15"/>
          <p:cNvSpPr/>
          <p:nvPr/>
        </p:nvSpPr>
        <p:spPr>
          <a:xfrm>
            <a:off x="4219932" y="1808559"/>
            <a:ext cx="2546390" cy="318254"/>
          </a:xfrm>
          <a:prstGeom prst="rect">
            <a:avLst/>
          </a:prstGeom>
          <a:noFill/>
          <a:ln>
            <a:noFill/>
          </a:ln>
        </p:spPr>
        <p:txBody>
          <a:bodyPr anchorCtr="0" anchor="t" bIns="45700" lIns="91425" spcFirstLastPara="1" rIns="91425" wrap="square" tIns="45700">
            <a:noAutofit/>
          </a:bodyPr>
          <a:lstStyle/>
          <a:p>
            <a:pPr indent="0" lvl="0" marL="0" marR="0" rtl="0" algn="l">
              <a:lnSpc>
                <a:spcPct val="125049"/>
              </a:lnSpc>
              <a:spcBef>
                <a:spcPts val="0"/>
              </a:spcBef>
              <a:spcAft>
                <a:spcPts val="0"/>
              </a:spcAft>
              <a:buClr>
                <a:srgbClr val="000000"/>
              </a:buClr>
              <a:buSzPts val="2004"/>
              <a:buFont typeface="Montserrat"/>
              <a:buNone/>
            </a:pPr>
            <a:r>
              <a:rPr b="1" i="0" lang="en-US" sz="2004" u="none" cap="none" strike="noStrike">
                <a:solidFill>
                  <a:srgbClr val="000000"/>
                </a:solidFill>
                <a:latin typeface="Montserrat"/>
                <a:ea typeface="Montserrat"/>
                <a:cs typeface="Montserrat"/>
                <a:sym typeface="Montserrat"/>
              </a:rPr>
              <a:t>Acquisition</a:t>
            </a:r>
            <a:endParaRPr b="0" i="0" sz="2004" u="none" cap="none" strike="noStrike">
              <a:solidFill>
                <a:schemeClr val="dk1"/>
              </a:solidFill>
              <a:latin typeface="Calibri"/>
              <a:ea typeface="Calibri"/>
              <a:cs typeface="Calibri"/>
              <a:sym typeface="Calibri"/>
            </a:endParaRPr>
          </a:p>
        </p:txBody>
      </p:sp>
      <p:sp>
        <p:nvSpPr>
          <p:cNvPr id="242" name="Google Shape;242;p15"/>
          <p:cNvSpPr/>
          <p:nvPr/>
        </p:nvSpPr>
        <p:spPr>
          <a:xfrm>
            <a:off x="4219932" y="2248972"/>
            <a:ext cx="3163491" cy="305514"/>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3D3838"/>
              </a:buClr>
              <a:buSzPts val="1604"/>
              <a:buFont typeface="Arial"/>
              <a:buNone/>
            </a:pPr>
            <a:r>
              <a:rPr b="0" i="0" lang="en-US" sz="1604" u="none" cap="none" strike="noStrike">
                <a:solidFill>
                  <a:srgbClr val="3D3838"/>
                </a:solidFill>
                <a:latin typeface="Arial"/>
                <a:ea typeface="Arial"/>
                <a:cs typeface="Arial"/>
                <a:sym typeface="Arial"/>
              </a:rPr>
              <a:t>Obtain representative data for testing</a:t>
            </a:r>
            <a:endParaRPr b="0" i="0" sz="1604" u="none" cap="none" strike="noStrike">
              <a:solidFill>
                <a:schemeClr val="dk1"/>
              </a:solidFill>
              <a:latin typeface="Calibri"/>
              <a:ea typeface="Calibri"/>
              <a:cs typeface="Calibri"/>
              <a:sym typeface="Calibri"/>
            </a:endParaRPr>
          </a:p>
        </p:txBody>
      </p:sp>
      <p:sp>
        <p:nvSpPr>
          <p:cNvPr id="243" name="Google Shape;243;p15"/>
          <p:cNvSpPr/>
          <p:nvPr/>
        </p:nvSpPr>
        <p:spPr>
          <a:xfrm>
            <a:off x="4118134" y="2735163"/>
            <a:ext cx="7493556" cy="20360"/>
          </a:xfrm>
          <a:prstGeom prst="rect">
            <a:avLst/>
          </a:prstGeom>
          <a:solidFill>
            <a:srgbClr val="CAC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
          <p:cNvSpPr/>
          <p:nvPr/>
        </p:nvSpPr>
        <p:spPr>
          <a:xfrm>
            <a:off x="2916793" y="2859881"/>
            <a:ext cx="2199084" cy="1153120"/>
          </a:xfrm>
          <a:prstGeom prst="roundRect">
            <a:avLst>
              <a:gd fmla="val 10600"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p:nvPr/>
        </p:nvSpPr>
        <p:spPr>
          <a:xfrm>
            <a:off x="3120390" y="3232666"/>
            <a:ext cx="147757" cy="407432"/>
          </a:xfrm>
          <a:prstGeom prst="rect">
            <a:avLst/>
          </a:prstGeom>
          <a:noFill/>
          <a:ln>
            <a:noFill/>
          </a:ln>
        </p:spPr>
        <p:txBody>
          <a:bodyPr anchorCtr="0" anchor="t" bIns="45700" lIns="91425" spcFirstLastPara="1" rIns="91425" wrap="square" tIns="45700">
            <a:noAutofit/>
          </a:bodyPr>
          <a:lstStyle/>
          <a:p>
            <a:pPr indent="0" lvl="0" marL="0" marR="0" rtl="0" algn="ctr">
              <a:lnSpc>
                <a:spcPct val="160079"/>
              </a:lnSpc>
              <a:spcBef>
                <a:spcPts val="0"/>
              </a:spcBef>
              <a:spcAft>
                <a:spcPts val="0"/>
              </a:spcAft>
              <a:buClr>
                <a:srgbClr val="000000"/>
              </a:buClr>
              <a:buSzPts val="2004"/>
              <a:buFont typeface="Montserrat"/>
              <a:buNone/>
            </a:pPr>
            <a:r>
              <a:rPr b="1" i="0" lang="en-US" sz="2004" u="none" cap="none" strike="noStrike">
                <a:solidFill>
                  <a:srgbClr val="000000"/>
                </a:solidFill>
                <a:latin typeface="Montserrat"/>
                <a:ea typeface="Montserrat"/>
                <a:cs typeface="Montserrat"/>
                <a:sym typeface="Montserrat"/>
              </a:rPr>
              <a:t>2</a:t>
            </a:r>
            <a:endParaRPr b="0" i="0" sz="2004" u="none" cap="none" strike="noStrike">
              <a:solidFill>
                <a:schemeClr val="dk1"/>
              </a:solidFill>
              <a:latin typeface="Calibri"/>
              <a:ea typeface="Calibri"/>
              <a:cs typeface="Calibri"/>
              <a:sym typeface="Calibri"/>
            </a:endParaRPr>
          </a:p>
        </p:txBody>
      </p:sp>
      <p:sp>
        <p:nvSpPr>
          <p:cNvPr id="246" name="Google Shape;246;p15"/>
          <p:cNvSpPr/>
          <p:nvPr/>
        </p:nvSpPr>
        <p:spPr>
          <a:xfrm>
            <a:off x="5319474" y="3063478"/>
            <a:ext cx="2546390" cy="318254"/>
          </a:xfrm>
          <a:prstGeom prst="rect">
            <a:avLst/>
          </a:prstGeom>
          <a:noFill/>
          <a:ln>
            <a:noFill/>
          </a:ln>
        </p:spPr>
        <p:txBody>
          <a:bodyPr anchorCtr="0" anchor="t" bIns="45700" lIns="91425" spcFirstLastPara="1" rIns="91425" wrap="square" tIns="45700">
            <a:noAutofit/>
          </a:bodyPr>
          <a:lstStyle/>
          <a:p>
            <a:pPr indent="0" lvl="0" marL="0" marR="0" rtl="0" algn="l">
              <a:lnSpc>
                <a:spcPct val="125049"/>
              </a:lnSpc>
              <a:spcBef>
                <a:spcPts val="0"/>
              </a:spcBef>
              <a:spcAft>
                <a:spcPts val="0"/>
              </a:spcAft>
              <a:buClr>
                <a:srgbClr val="000000"/>
              </a:buClr>
              <a:buSzPts val="2004"/>
              <a:buFont typeface="Montserrat"/>
              <a:buNone/>
            </a:pPr>
            <a:r>
              <a:rPr b="1" i="0" lang="en-US" sz="2004" u="none" cap="none" strike="noStrike">
                <a:solidFill>
                  <a:srgbClr val="000000"/>
                </a:solidFill>
                <a:latin typeface="Montserrat"/>
                <a:ea typeface="Montserrat"/>
                <a:cs typeface="Montserrat"/>
                <a:sym typeface="Montserrat"/>
              </a:rPr>
              <a:t>Cleansing</a:t>
            </a:r>
            <a:endParaRPr b="0" i="0" sz="2004" u="none" cap="none" strike="noStrike">
              <a:solidFill>
                <a:schemeClr val="dk1"/>
              </a:solidFill>
              <a:latin typeface="Calibri"/>
              <a:ea typeface="Calibri"/>
              <a:cs typeface="Calibri"/>
              <a:sym typeface="Calibri"/>
            </a:endParaRPr>
          </a:p>
        </p:txBody>
      </p:sp>
      <p:sp>
        <p:nvSpPr>
          <p:cNvPr id="247" name="Google Shape;247;p15"/>
          <p:cNvSpPr/>
          <p:nvPr/>
        </p:nvSpPr>
        <p:spPr>
          <a:xfrm>
            <a:off x="5319474" y="3503890"/>
            <a:ext cx="3040737" cy="305514"/>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3D3838"/>
              </a:buClr>
              <a:buSzPts val="1604"/>
              <a:buFont typeface="Arial"/>
              <a:buNone/>
            </a:pPr>
            <a:r>
              <a:rPr b="0" i="0" lang="en-US" sz="1604" u="none" cap="none" strike="noStrike">
                <a:solidFill>
                  <a:srgbClr val="3D3838"/>
                </a:solidFill>
                <a:latin typeface="Arial"/>
                <a:ea typeface="Arial"/>
                <a:cs typeface="Arial"/>
                <a:sym typeface="Arial"/>
              </a:rPr>
              <a:t>Ensure data quality and consistency</a:t>
            </a:r>
            <a:endParaRPr b="0" i="0" sz="1604" u="none" cap="none" strike="noStrike">
              <a:solidFill>
                <a:schemeClr val="dk1"/>
              </a:solidFill>
              <a:latin typeface="Calibri"/>
              <a:ea typeface="Calibri"/>
              <a:cs typeface="Calibri"/>
              <a:sym typeface="Calibri"/>
            </a:endParaRPr>
          </a:p>
        </p:txBody>
      </p:sp>
      <p:sp>
        <p:nvSpPr>
          <p:cNvPr id="248" name="Google Shape;248;p15"/>
          <p:cNvSpPr/>
          <p:nvPr/>
        </p:nvSpPr>
        <p:spPr>
          <a:xfrm>
            <a:off x="5217676" y="3990082"/>
            <a:ext cx="6394013" cy="20360"/>
          </a:xfrm>
          <a:prstGeom prst="rect">
            <a:avLst/>
          </a:prstGeom>
          <a:solidFill>
            <a:srgbClr val="CAC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p:nvPr/>
        </p:nvSpPr>
        <p:spPr>
          <a:xfrm>
            <a:off x="2916793" y="4114800"/>
            <a:ext cx="3298746" cy="1153120"/>
          </a:xfrm>
          <a:prstGeom prst="roundRect">
            <a:avLst>
              <a:gd fmla="val 10600"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
          <p:cNvSpPr/>
          <p:nvPr/>
        </p:nvSpPr>
        <p:spPr>
          <a:xfrm>
            <a:off x="3120390" y="4487585"/>
            <a:ext cx="148233" cy="407432"/>
          </a:xfrm>
          <a:prstGeom prst="rect">
            <a:avLst/>
          </a:prstGeom>
          <a:noFill/>
          <a:ln>
            <a:noFill/>
          </a:ln>
        </p:spPr>
        <p:txBody>
          <a:bodyPr anchorCtr="0" anchor="t" bIns="45700" lIns="91425" spcFirstLastPara="1" rIns="91425" wrap="square" tIns="45700">
            <a:noAutofit/>
          </a:bodyPr>
          <a:lstStyle/>
          <a:p>
            <a:pPr indent="0" lvl="0" marL="0" marR="0" rtl="0" algn="ctr">
              <a:lnSpc>
                <a:spcPct val="160079"/>
              </a:lnSpc>
              <a:spcBef>
                <a:spcPts val="0"/>
              </a:spcBef>
              <a:spcAft>
                <a:spcPts val="0"/>
              </a:spcAft>
              <a:buClr>
                <a:srgbClr val="000000"/>
              </a:buClr>
              <a:buSzPts val="2004"/>
              <a:buFont typeface="Montserrat"/>
              <a:buNone/>
            </a:pPr>
            <a:r>
              <a:rPr b="1" i="0" lang="en-US" sz="2004" u="none" cap="none" strike="noStrike">
                <a:solidFill>
                  <a:srgbClr val="000000"/>
                </a:solidFill>
                <a:latin typeface="Montserrat"/>
                <a:ea typeface="Montserrat"/>
                <a:cs typeface="Montserrat"/>
                <a:sym typeface="Montserrat"/>
              </a:rPr>
              <a:t>3</a:t>
            </a:r>
            <a:endParaRPr b="0" i="0" sz="2004" u="none" cap="none" strike="noStrike">
              <a:solidFill>
                <a:schemeClr val="dk1"/>
              </a:solidFill>
              <a:latin typeface="Calibri"/>
              <a:ea typeface="Calibri"/>
              <a:cs typeface="Calibri"/>
              <a:sym typeface="Calibri"/>
            </a:endParaRPr>
          </a:p>
        </p:txBody>
      </p:sp>
      <p:sp>
        <p:nvSpPr>
          <p:cNvPr id="251" name="Google Shape;251;p15"/>
          <p:cNvSpPr/>
          <p:nvPr/>
        </p:nvSpPr>
        <p:spPr>
          <a:xfrm>
            <a:off x="6419136" y="4318397"/>
            <a:ext cx="2546390" cy="318254"/>
          </a:xfrm>
          <a:prstGeom prst="rect">
            <a:avLst/>
          </a:prstGeom>
          <a:noFill/>
          <a:ln>
            <a:noFill/>
          </a:ln>
        </p:spPr>
        <p:txBody>
          <a:bodyPr anchorCtr="0" anchor="t" bIns="45700" lIns="91425" spcFirstLastPara="1" rIns="91425" wrap="square" tIns="45700">
            <a:noAutofit/>
          </a:bodyPr>
          <a:lstStyle/>
          <a:p>
            <a:pPr indent="0" lvl="0" marL="0" marR="0" rtl="0" algn="l">
              <a:lnSpc>
                <a:spcPct val="125049"/>
              </a:lnSpc>
              <a:spcBef>
                <a:spcPts val="0"/>
              </a:spcBef>
              <a:spcAft>
                <a:spcPts val="0"/>
              </a:spcAft>
              <a:buClr>
                <a:srgbClr val="000000"/>
              </a:buClr>
              <a:buSzPts val="2004"/>
              <a:buFont typeface="Montserrat"/>
              <a:buNone/>
            </a:pPr>
            <a:r>
              <a:rPr b="1" i="0" lang="en-US" sz="2004" u="none" cap="none" strike="noStrike">
                <a:solidFill>
                  <a:srgbClr val="000000"/>
                </a:solidFill>
                <a:latin typeface="Montserrat"/>
                <a:ea typeface="Montserrat"/>
                <a:cs typeface="Montserrat"/>
                <a:sym typeface="Montserrat"/>
              </a:rPr>
              <a:t>Masking</a:t>
            </a:r>
            <a:endParaRPr b="0" i="0" sz="2004" u="none" cap="none" strike="noStrike">
              <a:solidFill>
                <a:schemeClr val="dk1"/>
              </a:solidFill>
              <a:latin typeface="Calibri"/>
              <a:ea typeface="Calibri"/>
              <a:cs typeface="Calibri"/>
              <a:sym typeface="Calibri"/>
            </a:endParaRPr>
          </a:p>
        </p:txBody>
      </p:sp>
      <p:sp>
        <p:nvSpPr>
          <p:cNvPr id="252" name="Google Shape;252;p15"/>
          <p:cNvSpPr/>
          <p:nvPr/>
        </p:nvSpPr>
        <p:spPr>
          <a:xfrm>
            <a:off x="6419136" y="4758809"/>
            <a:ext cx="3435548" cy="305514"/>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3D3838"/>
              </a:buClr>
              <a:buSzPts val="1604"/>
              <a:buFont typeface="Arial"/>
              <a:buNone/>
            </a:pPr>
            <a:r>
              <a:rPr b="0" i="0" lang="en-US" sz="1604" u="none" cap="none" strike="noStrike">
                <a:solidFill>
                  <a:srgbClr val="3D3838"/>
                </a:solidFill>
                <a:latin typeface="Arial"/>
                <a:ea typeface="Arial"/>
                <a:cs typeface="Arial"/>
                <a:sym typeface="Arial"/>
              </a:rPr>
              <a:t>Protect sensitive information in test data</a:t>
            </a:r>
            <a:endParaRPr b="0" i="0" sz="1604" u="none" cap="none" strike="noStrike">
              <a:solidFill>
                <a:schemeClr val="dk1"/>
              </a:solidFill>
              <a:latin typeface="Calibri"/>
              <a:ea typeface="Calibri"/>
              <a:cs typeface="Calibri"/>
              <a:sym typeface="Calibri"/>
            </a:endParaRPr>
          </a:p>
        </p:txBody>
      </p:sp>
      <p:sp>
        <p:nvSpPr>
          <p:cNvPr id="253" name="Google Shape;253;p15"/>
          <p:cNvSpPr/>
          <p:nvPr/>
        </p:nvSpPr>
        <p:spPr>
          <a:xfrm>
            <a:off x="6317337" y="5245001"/>
            <a:ext cx="5294352" cy="20360"/>
          </a:xfrm>
          <a:prstGeom prst="rect">
            <a:avLst/>
          </a:prstGeom>
          <a:solidFill>
            <a:srgbClr val="CAC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5"/>
          <p:cNvSpPr/>
          <p:nvPr/>
        </p:nvSpPr>
        <p:spPr>
          <a:xfrm>
            <a:off x="2916793" y="5369719"/>
            <a:ext cx="4398288" cy="1153120"/>
          </a:xfrm>
          <a:prstGeom prst="roundRect">
            <a:avLst>
              <a:gd fmla="val 10600"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3120390" y="5742503"/>
            <a:ext cx="172879" cy="407432"/>
          </a:xfrm>
          <a:prstGeom prst="rect">
            <a:avLst/>
          </a:prstGeom>
          <a:noFill/>
          <a:ln>
            <a:noFill/>
          </a:ln>
        </p:spPr>
        <p:txBody>
          <a:bodyPr anchorCtr="0" anchor="t" bIns="45700" lIns="91425" spcFirstLastPara="1" rIns="91425" wrap="square" tIns="45700">
            <a:noAutofit/>
          </a:bodyPr>
          <a:lstStyle/>
          <a:p>
            <a:pPr indent="0" lvl="0" marL="0" marR="0" rtl="0" algn="ctr">
              <a:lnSpc>
                <a:spcPct val="160079"/>
              </a:lnSpc>
              <a:spcBef>
                <a:spcPts val="0"/>
              </a:spcBef>
              <a:spcAft>
                <a:spcPts val="0"/>
              </a:spcAft>
              <a:buClr>
                <a:srgbClr val="000000"/>
              </a:buClr>
              <a:buSzPts val="2004"/>
              <a:buFont typeface="Montserrat"/>
              <a:buNone/>
            </a:pPr>
            <a:r>
              <a:rPr b="1" i="0" lang="en-US" sz="2004" u="none" cap="none" strike="noStrike">
                <a:solidFill>
                  <a:srgbClr val="000000"/>
                </a:solidFill>
                <a:latin typeface="Montserrat"/>
                <a:ea typeface="Montserrat"/>
                <a:cs typeface="Montserrat"/>
                <a:sym typeface="Montserrat"/>
              </a:rPr>
              <a:t>4</a:t>
            </a:r>
            <a:endParaRPr b="0" i="0" sz="2004" u="none" cap="none" strike="noStrike">
              <a:solidFill>
                <a:schemeClr val="dk1"/>
              </a:solidFill>
              <a:latin typeface="Calibri"/>
              <a:ea typeface="Calibri"/>
              <a:cs typeface="Calibri"/>
              <a:sym typeface="Calibri"/>
            </a:endParaRPr>
          </a:p>
        </p:txBody>
      </p:sp>
      <p:sp>
        <p:nvSpPr>
          <p:cNvPr id="256" name="Google Shape;256;p15"/>
          <p:cNvSpPr/>
          <p:nvPr/>
        </p:nvSpPr>
        <p:spPr>
          <a:xfrm>
            <a:off x="7518678" y="5573316"/>
            <a:ext cx="2546390" cy="318254"/>
          </a:xfrm>
          <a:prstGeom prst="rect">
            <a:avLst/>
          </a:prstGeom>
          <a:noFill/>
          <a:ln>
            <a:noFill/>
          </a:ln>
        </p:spPr>
        <p:txBody>
          <a:bodyPr anchorCtr="0" anchor="t" bIns="45700" lIns="91425" spcFirstLastPara="1" rIns="91425" wrap="square" tIns="45700">
            <a:noAutofit/>
          </a:bodyPr>
          <a:lstStyle/>
          <a:p>
            <a:pPr indent="0" lvl="0" marL="0" marR="0" rtl="0" algn="l">
              <a:lnSpc>
                <a:spcPct val="125049"/>
              </a:lnSpc>
              <a:spcBef>
                <a:spcPts val="0"/>
              </a:spcBef>
              <a:spcAft>
                <a:spcPts val="0"/>
              </a:spcAft>
              <a:buClr>
                <a:srgbClr val="000000"/>
              </a:buClr>
              <a:buSzPts val="2004"/>
              <a:buFont typeface="Montserrat"/>
              <a:buNone/>
            </a:pPr>
            <a:r>
              <a:rPr b="1" i="0" lang="en-US" sz="2004" u="none" cap="none" strike="noStrike">
                <a:solidFill>
                  <a:srgbClr val="000000"/>
                </a:solidFill>
                <a:latin typeface="Montserrat"/>
                <a:ea typeface="Montserrat"/>
                <a:cs typeface="Montserrat"/>
                <a:sym typeface="Montserrat"/>
              </a:rPr>
              <a:t>Provisioning</a:t>
            </a:r>
            <a:endParaRPr b="0" i="0" sz="2004" u="none" cap="none" strike="noStrike">
              <a:solidFill>
                <a:schemeClr val="dk1"/>
              </a:solidFill>
              <a:latin typeface="Calibri"/>
              <a:ea typeface="Calibri"/>
              <a:cs typeface="Calibri"/>
              <a:sym typeface="Calibri"/>
            </a:endParaRPr>
          </a:p>
        </p:txBody>
      </p:sp>
      <p:sp>
        <p:nvSpPr>
          <p:cNvPr id="257" name="Google Shape;257;p15"/>
          <p:cNvSpPr/>
          <p:nvPr/>
        </p:nvSpPr>
        <p:spPr>
          <a:xfrm>
            <a:off x="7518678" y="6013728"/>
            <a:ext cx="3131344" cy="305514"/>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3D3838"/>
              </a:buClr>
              <a:buSzPts val="1604"/>
              <a:buFont typeface="Arial"/>
              <a:buNone/>
            </a:pPr>
            <a:r>
              <a:rPr b="0" i="0" lang="en-US" sz="1604" u="none" cap="none" strike="noStrike">
                <a:solidFill>
                  <a:srgbClr val="3D3838"/>
                </a:solidFill>
                <a:latin typeface="Arial"/>
                <a:ea typeface="Arial"/>
                <a:cs typeface="Arial"/>
                <a:sym typeface="Arial"/>
              </a:rPr>
              <a:t>Distribute test data to relevant teams</a:t>
            </a:r>
            <a:endParaRPr b="0" i="0" sz="1604" u="none" cap="none" strike="noStrike">
              <a:solidFill>
                <a:schemeClr val="dk1"/>
              </a:solidFill>
              <a:latin typeface="Calibri"/>
              <a:ea typeface="Calibri"/>
              <a:cs typeface="Calibri"/>
              <a:sym typeface="Calibri"/>
            </a:endParaRPr>
          </a:p>
        </p:txBody>
      </p:sp>
      <p:sp>
        <p:nvSpPr>
          <p:cNvPr id="258" name="Google Shape;258;p15"/>
          <p:cNvSpPr/>
          <p:nvPr/>
        </p:nvSpPr>
        <p:spPr>
          <a:xfrm>
            <a:off x="2916793" y="6751915"/>
            <a:ext cx="8796695" cy="916543"/>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3D3838"/>
              </a:buClr>
              <a:buSzPts val="1604"/>
              <a:buFont typeface="Arial"/>
              <a:buNone/>
            </a:pPr>
            <a:r>
              <a:rPr b="0" i="0" lang="en-US" sz="1604" u="none" cap="none" strike="noStrike">
                <a:solidFill>
                  <a:srgbClr val="3D3838"/>
                </a:solidFill>
                <a:latin typeface="Arial"/>
                <a:ea typeface="Arial"/>
                <a:cs typeface="Arial"/>
                <a:sym typeface="Arial"/>
              </a:rPr>
              <a:t>Effective test data management involves acquiring representative data, cleansing it to ensure quality, masking sensitive information, and provisioning the data to the appropriate teams. This systematic approach ensures the testing process is based on accurate, secure, and accessible data.</a:t>
            </a:r>
            <a:endParaRPr b="0" i="0" sz="1604"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6"/>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
          <p:cNvSpPr/>
          <p:nvPr/>
        </p:nvSpPr>
        <p:spPr>
          <a:xfrm>
            <a:off x="2517696" y="1328976"/>
            <a:ext cx="5554980"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Test Automation</a:t>
            </a:r>
            <a:endParaRPr b="0" i="0" sz="4374" u="none" cap="none" strike="noStrike">
              <a:solidFill>
                <a:schemeClr val="dk1"/>
              </a:solidFill>
              <a:latin typeface="Calibri"/>
              <a:ea typeface="Calibri"/>
              <a:cs typeface="Calibri"/>
              <a:sym typeface="Calibri"/>
            </a:endParaRPr>
          </a:p>
        </p:txBody>
      </p:sp>
      <p:pic>
        <p:nvPicPr>
          <p:cNvPr descr="preencoded.png" id="267" name="Google Shape;267;p16"/>
          <p:cNvPicPr preferRelativeResize="0"/>
          <p:nvPr/>
        </p:nvPicPr>
        <p:blipFill rotWithShape="1">
          <a:blip r:embed="rId3">
            <a:alphaModFix/>
          </a:blip>
          <a:srcRect b="0" l="0" r="0" t="0"/>
          <a:stretch/>
        </p:blipFill>
        <p:spPr>
          <a:xfrm>
            <a:off x="2517696" y="2467689"/>
            <a:ext cx="2148721" cy="1327904"/>
          </a:xfrm>
          <a:prstGeom prst="rect">
            <a:avLst/>
          </a:prstGeom>
          <a:noFill/>
          <a:ln>
            <a:noFill/>
          </a:ln>
        </p:spPr>
      </p:pic>
      <p:sp>
        <p:nvSpPr>
          <p:cNvPr id="268" name="Google Shape;268;p16"/>
          <p:cNvSpPr/>
          <p:nvPr/>
        </p:nvSpPr>
        <p:spPr>
          <a:xfrm>
            <a:off x="2517696" y="4073247"/>
            <a:ext cx="2148721"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Streamline Testing</a:t>
            </a:r>
            <a:endParaRPr b="0" i="0" sz="2187" u="none" cap="none" strike="noStrike">
              <a:solidFill>
                <a:schemeClr val="dk1"/>
              </a:solidFill>
              <a:latin typeface="Calibri"/>
              <a:ea typeface="Calibri"/>
              <a:cs typeface="Calibri"/>
              <a:sym typeface="Calibri"/>
            </a:endParaRPr>
          </a:p>
        </p:txBody>
      </p:sp>
      <p:sp>
        <p:nvSpPr>
          <p:cNvPr id="269" name="Google Shape;269;p16"/>
          <p:cNvSpPr/>
          <p:nvPr/>
        </p:nvSpPr>
        <p:spPr>
          <a:xfrm>
            <a:off x="2517696" y="4900851"/>
            <a:ext cx="2148721" cy="199953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Automated tests run faster and more consistently than manual testing, improving efficiency and coverage.</a:t>
            </a:r>
            <a:endParaRPr b="0" i="0" sz="1750" u="none" cap="none" strike="noStrike">
              <a:solidFill>
                <a:schemeClr val="dk1"/>
              </a:solidFill>
              <a:latin typeface="Calibri"/>
              <a:ea typeface="Calibri"/>
              <a:cs typeface="Calibri"/>
              <a:sym typeface="Calibri"/>
            </a:endParaRPr>
          </a:p>
        </p:txBody>
      </p:sp>
      <p:pic>
        <p:nvPicPr>
          <p:cNvPr descr="preencoded.png" id="270" name="Google Shape;270;p16"/>
          <p:cNvPicPr preferRelativeResize="0"/>
          <p:nvPr/>
        </p:nvPicPr>
        <p:blipFill rotWithShape="1">
          <a:blip r:embed="rId4">
            <a:alphaModFix/>
          </a:blip>
          <a:srcRect b="0" l="0" r="0" t="0"/>
          <a:stretch/>
        </p:blipFill>
        <p:spPr>
          <a:xfrm>
            <a:off x="4999673" y="2467689"/>
            <a:ext cx="2148840" cy="1328023"/>
          </a:xfrm>
          <a:prstGeom prst="rect">
            <a:avLst/>
          </a:prstGeom>
          <a:noFill/>
          <a:ln>
            <a:noFill/>
          </a:ln>
        </p:spPr>
      </p:pic>
      <p:sp>
        <p:nvSpPr>
          <p:cNvPr id="271" name="Google Shape;271;p16"/>
          <p:cNvSpPr/>
          <p:nvPr/>
        </p:nvSpPr>
        <p:spPr>
          <a:xfrm>
            <a:off x="4999673" y="4073366"/>
            <a:ext cx="2148840"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Continuous Integration</a:t>
            </a:r>
            <a:endParaRPr b="0" i="0" sz="2187" u="none" cap="none" strike="noStrike">
              <a:solidFill>
                <a:schemeClr val="dk1"/>
              </a:solidFill>
              <a:latin typeface="Calibri"/>
              <a:ea typeface="Calibri"/>
              <a:cs typeface="Calibri"/>
              <a:sym typeface="Calibri"/>
            </a:endParaRPr>
          </a:p>
        </p:txBody>
      </p:sp>
      <p:sp>
        <p:nvSpPr>
          <p:cNvPr id="272" name="Google Shape;272;p16"/>
          <p:cNvSpPr/>
          <p:nvPr/>
        </p:nvSpPr>
        <p:spPr>
          <a:xfrm>
            <a:off x="4999673" y="4900970"/>
            <a:ext cx="2148840" cy="199953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Automated testing is a crucial component of CI/CD pipelines, ensuring quality throughout the development lifecycle.</a:t>
            </a:r>
            <a:endParaRPr b="0" i="0" sz="1750" u="none" cap="none" strike="noStrike">
              <a:solidFill>
                <a:schemeClr val="dk1"/>
              </a:solidFill>
              <a:latin typeface="Calibri"/>
              <a:ea typeface="Calibri"/>
              <a:cs typeface="Calibri"/>
              <a:sym typeface="Calibri"/>
            </a:endParaRPr>
          </a:p>
        </p:txBody>
      </p:sp>
      <p:pic>
        <p:nvPicPr>
          <p:cNvPr descr="preencoded.png" id="273" name="Google Shape;273;p16"/>
          <p:cNvPicPr preferRelativeResize="0"/>
          <p:nvPr/>
        </p:nvPicPr>
        <p:blipFill rotWithShape="1">
          <a:blip r:embed="rId5">
            <a:alphaModFix/>
          </a:blip>
          <a:srcRect b="0" l="0" r="0" t="0"/>
          <a:stretch/>
        </p:blipFill>
        <p:spPr>
          <a:xfrm>
            <a:off x="7481768" y="2467689"/>
            <a:ext cx="2148721" cy="1327904"/>
          </a:xfrm>
          <a:prstGeom prst="rect">
            <a:avLst/>
          </a:prstGeom>
          <a:noFill/>
          <a:ln>
            <a:noFill/>
          </a:ln>
        </p:spPr>
      </p:pic>
      <p:sp>
        <p:nvSpPr>
          <p:cNvPr id="274" name="Google Shape;274;p16"/>
          <p:cNvSpPr/>
          <p:nvPr/>
        </p:nvSpPr>
        <p:spPr>
          <a:xfrm>
            <a:off x="7481768" y="4073247"/>
            <a:ext cx="2148721"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Early Defect Detection</a:t>
            </a:r>
            <a:endParaRPr b="0" i="0" sz="2187" u="none" cap="none" strike="noStrike">
              <a:solidFill>
                <a:schemeClr val="dk1"/>
              </a:solidFill>
              <a:latin typeface="Calibri"/>
              <a:ea typeface="Calibri"/>
              <a:cs typeface="Calibri"/>
              <a:sym typeface="Calibri"/>
            </a:endParaRPr>
          </a:p>
        </p:txBody>
      </p:sp>
      <p:sp>
        <p:nvSpPr>
          <p:cNvPr id="275" name="Google Shape;275;p16"/>
          <p:cNvSpPr/>
          <p:nvPr/>
        </p:nvSpPr>
        <p:spPr>
          <a:xfrm>
            <a:off x="7481768" y="4900851"/>
            <a:ext cx="2148721" cy="1666280"/>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Automated tests catch issues earlier, allowing for faster bug fixes and reducing technical debt.</a:t>
            </a:r>
            <a:endParaRPr b="0" i="0" sz="1750" u="none" cap="none" strike="noStrike">
              <a:solidFill>
                <a:schemeClr val="dk1"/>
              </a:solidFill>
              <a:latin typeface="Calibri"/>
              <a:ea typeface="Calibri"/>
              <a:cs typeface="Calibri"/>
              <a:sym typeface="Calibri"/>
            </a:endParaRPr>
          </a:p>
        </p:txBody>
      </p:sp>
      <p:pic>
        <p:nvPicPr>
          <p:cNvPr descr="preencoded.png" id="276" name="Google Shape;276;p16"/>
          <p:cNvPicPr preferRelativeResize="0"/>
          <p:nvPr/>
        </p:nvPicPr>
        <p:blipFill rotWithShape="1">
          <a:blip r:embed="rId6">
            <a:alphaModFix/>
          </a:blip>
          <a:srcRect b="0" l="0" r="0" t="0"/>
          <a:stretch/>
        </p:blipFill>
        <p:spPr>
          <a:xfrm>
            <a:off x="9963745" y="2467689"/>
            <a:ext cx="2148840" cy="1328023"/>
          </a:xfrm>
          <a:prstGeom prst="rect">
            <a:avLst/>
          </a:prstGeom>
          <a:noFill/>
          <a:ln>
            <a:noFill/>
          </a:ln>
        </p:spPr>
      </p:pic>
      <p:sp>
        <p:nvSpPr>
          <p:cNvPr id="277" name="Google Shape;277;p16"/>
          <p:cNvSpPr/>
          <p:nvPr/>
        </p:nvSpPr>
        <p:spPr>
          <a:xfrm>
            <a:off x="9963745" y="4073366"/>
            <a:ext cx="2148840"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Scalable Testing</a:t>
            </a:r>
            <a:endParaRPr b="0" i="0" sz="2187" u="none" cap="none" strike="noStrike">
              <a:solidFill>
                <a:schemeClr val="dk1"/>
              </a:solidFill>
              <a:latin typeface="Calibri"/>
              <a:ea typeface="Calibri"/>
              <a:cs typeface="Calibri"/>
              <a:sym typeface="Calibri"/>
            </a:endParaRPr>
          </a:p>
        </p:txBody>
      </p:sp>
      <p:sp>
        <p:nvSpPr>
          <p:cNvPr id="278" name="Google Shape;278;p16"/>
          <p:cNvSpPr/>
          <p:nvPr/>
        </p:nvSpPr>
        <p:spPr>
          <a:xfrm>
            <a:off x="9963745" y="4900970"/>
            <a:ext cx="2148840" cy="199953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Automation enables the execution of a greater number of tests across various environments and configurations.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7"/>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7"/>
          <p:cNvSpPr/>
          <p:nvPr/>
        </p:nvSpPr>
        <p:spPr>
          <a:xfrm>
            <a:off x="2517696" y="995958"/>
            <a:ext cx="9594890" cy="1388745"/>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Continuous Integration and Continuous Deployment</a:t>
            </a:r>
            <a:endParaRPr b="0" i="0" sz="4374" u="none" cap="none" strike="noStrike">
              <a:solidFill>
                <a:schemeClr val="dk1"/>
              </a:solidFill>
              <a:latin typeface="Calibri"/>
              <a:ea typeface="Calibri"/>
              <a:cs typeface="Calibri"/>
              <a:sym typeface="Calibri"/>
            </a:endParaRPr>
          </a:p>
        </p:txBody>
      </p:sp>
      <p:sp>
        <p:nvSpPr>
          <p:cNvPr id="287" name="Google Shape;287;p17"/>
          <p:cNvSpPr/>
          <p:nvPr/>
        </p:nvSpPr>
        <p:spPr>
          <a:xfrm>
            <a:off x="2517696" y="2829044"/>
            <a:ext cx="4686419" cy="1924526"/>
          </a:xfrm>
          <a:prstGeom prst="roundRect">
            <a:avLst>
              <a:gd fmla="val 692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7"/>
          <p:cNvSpPr/>
          <p:nvPr/>
        </p:nvSpPr>
        <p:spPr>
          <a:xfrm>
            <a:off x="2739866" y="3051215"/>
            <a:ext cx="277749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Automated Builds</a:t>
            </a:r>
            <a:endParaRPr b="0" i="0" sz="2187" u="none" cap="none" strike="noStrike">
              <a:solidFill>
                <a:schemeClr val="dk1"/>
              </a:solidFill>
              <a:latin typeface="Calibri"/>
              <a:ea typeface="Calibri"/>
              <a:cs typeface="Calibri"/>
              <a:sym typeface="Calibri"/>
            </a:endParaRPr>
          </a:p>
        </p:txBody>
      </p:sp>
      <p:sp>
        <p:nvSpPr>
          <p:cNvPr id="289" name="Google Shape;289;p17"/>
          <p:cNvSpPr/>
          <p:nvPr/>
        </p:nvSpPr>
        <p:spPr>
          <a:xfrm>
            <a:off x="2739866" y="3531632"/>
            <a:ext cx="4242078"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Automatically build and package the application with each commit, ensuring a consistent and reliable release process.</a:t>
            </a:r>
            <a:endParaRPr b="0" i="0" sz="1750" u="none" cap="none" strike="noStrike">
              <a:solidFill>
                <a:schemeClr val="dk1"/>
              </a:solidFill>
              <a:latin typeface="Calibri"/>
              <a:ea typeface="Calibri"/>
              <a:cs typeface="Calibri"/>
              <a:sym typeface="Calibri"/>
            </a:endParaRPr>
          </a:p>
        </p:txBody>
      </p:sp>
      <p:sp>
        <p:nvSpPr>
          <p:cNvPr id="290" name="Google Shape;290;p17"/>
          <p:cNvSpPr/>
          <p:nvPr/>
        </p:nvSpPr>
        <p:spPr>
          <a:xfrm>
            <a:off x="7426285" y="2829044"/>
            <a:ext cx="4686419" cy="1924526"/>
          </a:xfrm>
          <a:prstGeom prst="roundRect">
            <a:avLst>
              <a:gd fmla="val 692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7"/>
          <p:cNvSpPr/>
          <p:nvPr/>
        </p:nvSpPr>
        <p:spPr>
          <a:xfrm>
            <a:off x="7648456" y="3051215"/>
            <a:ext cx="277749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Rapid Feedback</a:t>
            </a:r>
            <a:endParaRPr b="0" i="0" sz="2187" u="none" cap="none" strike="noStrike">
              <a:solidFill>
                <a:schemeClr val="dk1"/>
              </a:solidFill>
              <a:latin typeface="Calibri"/>
              <a:ea typeface="Calibri"/>
              <a:cs typeface="Calibri"/>
              <a:sym typeface="Calibri"/>
            </a:endParaRPr>
          </a:p>
        </p:txBody>
      </p:sp>
      <p:sp>
        <p:nvSpPr>
          <p:cNvPr id="292" name="Google Shape;292;p17"/>
          <p:cNvSpPr/>
          <p:nvPr/>
        </p:nvSpPr>
        <p:spPr>
          <a:xfrm>
            <a:off x="7648456" y="3531632"/>
            <a:ext cx="4242078"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Immediately run automated tests to catch issues early, enabling faster development cycles and higher-quality releases.</a:t>
            </a:r>
            <a:endParaRPr b="0" i="0" sz="1750" u="none" cap="none" strike="noStrike">
              <a:solidFill>
                <a:schemeClr val="dk1"/>
              </a:solidFill>
              <a:latin typeface="Calibri"/>
              <a:ea typeface="Calibri"/>
              <a:cs typeface="Calibri"/>
              <a:sym typeface="Calibri"/>
            </a:endParaRPr>
          </a:p>
        </p:txBody>
      </p:sp>
      <p:sp>
        <p:nvSpPr>
          <p:cNvPr id="293" name="Google Shape;293;p17"/>
          <p:cNvSpPr/>
          <p:nvPr/>
        </p:nvSpPr>
        <p:spPr>
          <a:xfrm>
            <a:off x="2517696" y="4975741"/>
            <a:ext cx="4686419" cy="2257782"/>
          </a:xfrm>
          <a:prstGeom prst="roundRect">
            <a:avLst>
              <a:gd fmla="val 5905"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7"/>
          <p:cNvSpPr/>
          <p:nvPr/>
        </p:nvSpPr>
        <p:spPr>
          <a:xfrm>
            <a:off x="2739866" y="5197912"/>
            <a:ext cx="3193852"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Seamless Deployment</a:t>
            </a:r>
            <a:endParaRPr b="0" i="0" sz="2187" u="none" cap="none" strike="noStrike">
              <a:solidFill>
                <a:schemeClr val="dk1"/>
              </a:solidFill>
              <a:latin typeface="Calibri"/>
              <a:ea typeface="Calibri"/>
              <a:cs typeface="Calibri"/>
              <a:sym typeface="Calibri"/>
            </a:endParaRPr>
          </a:p>
        </p:txBody>
      </p:sp>
      <p:sp>
        <p:nvSpPr>
          <p:cNvPr id="295" name="Google Shape;295;p17"/>
          <p:cNvSpPr/>
          <p:nvPr/>
        </p:nvSpPr>
        <p:spPr>
          <a:xfrm>
            <a:off x="2739866" y="5678329"/>
            <a:ext cx="4242078" cy="1333024"/>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Automate the deployment of the tested and approved application to various environments, streamlining the release workflow.</a:t>
            </a:r>
            <a:endParaRPr b="0" i="0" sz="1750" u="none" cap="none" strike="noStrike">
              <a:solidFill>
                <a:schemeClr val="dk1"/>
              </a:solidFill>
              <a:latin typeface="Calibri"/>
              <a:ea typeface="Calibri"/>
              <a:cs typeface="Calibri"/>
              <a:sym typeface="Calibri"/>
            </a:endParaRPr>
          </a:p>
        </p:txBody>
      </p:sp>
      <p:sp>
        <p:nvSpPr>
          <p:cNvPr id="296" name="Google Shape;296;p17"/>
          <p:cNvSpPr/>
          <p:nvPr/>
        </p:nvSpPr>
        <p:spPr>
          <a:xfrm>
            <a:off x="7426285" y="4975741"/>
            <a:ext cx="4686419" cy="2257782"/>
          </a:xfrm>
          <a:prstGeom prst="roundRect">
            <a:avLst>
              <a:gd fmla="val 5905"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7"/>
          <p:cNvSpPr/>
          <p:nvPr/>
        </p:nvSpPr>
        <p:spPr>
          <a:xfrm>
            <a:off x="7648456" y="5197912"/>
            <a:ext cx="277749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Traceability</a:t>
            </a:r>
            <a:endParaRPr b="0" i="0" sz="2187" u="none" cap="none" strike="noStrike">
              <a:solidFill>
                <a:schemeClr val="dk1"/>
              </a:solidFill>
              <a:latin typeface="Calibri"/>
              <a:ea typeface="Calibri"/>
              <a:cs typeface="Calibri"/>
              <a:sym typeface="Calibri"/>
            </a:endParaRPr>
          </a:p>
        </p:txBody>
      </p:sp>
      <p:sp>
        <p:nvSpPr>
          <p:cNvPr id="298" name="Google Shape;298;p17"/>
          <p:cNvSpPr/>
          <p:nvPr/>
        </p:nvSpPr>
        <p:spPr>
          <a:xfrm>
            <a:off x="7648456" y="5678329"/>
            <a:ext cx="4242078"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Maintain a clear audit trail of changes, test results, and deployments, allowing for easy monitoring and troubleshooting.</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8"/>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8"/>
          <p:cNvSpPr/>
          <p:nvPr/>
        </p:nvSpPr>
        <p:spPr>
          <a:xfrm>
            <a:off x="2517696" y="1468160"/>
            <a:ext cx="8155305"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Agile Testing Methodologies</a:t>
            </a:r>
            <a:endParaRPr b="0" i="0" sz="4374" u="none" cap="none" strike="noStrike">
              <a:solidFill>
                <a:schemeClr val="dk1"/>
              </a:solidFill>
              <a:latin typeface="Calibri"/>
              <a:ea typeface="Calibri"/>
              <a:cs typeface="Calibri"/>
              <a:sym typeface="Calibri"/>
            </a:endParaRPr>
          </a:p>
        </p:txBody>
      </p:sp>
      <p:sp>
        <p:nvSpPr>
          <p:cNvPr id="307" name="Google Shape;307;p18"/>
          <p:cNvSpPr/>
          <p:nvPr/>
        </p:nvSpPr>
        <p:spPr>
          <a:xfrm>
            <a:off x="2517696" y="2695694"/>
            <a:ext cx="4526399" cy="199953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Agile testing embraces a flexible, iterative approach that aligns with the rapid development cycles of Agile software projects. Key practices include continuous testing, exploratory testing, and close collaboration between developers and testers.</a:t>
            </a:r>
            <a:endParaRPr b="0" i="0" sz="1750" u="none" cap="none" strike="noStrike">
              <a:solidFill>
                <a:schemeClr val="dk1"/>
              </a:solidFill>
              <a:latin typeface="Calibri"/>
              <a:ea typeface="Calibri"/>
              <a:cs typeface="Calibri"/>
              <a:sym typeface="Calibri"/>
            </a:endParaRPr>
          </a:p>
        </p:txBody>
      </p:sp>
      <p:sp>
        <p:nvSpPr>
          <p:cNvPr id="308" name="Google Shape;308;p18"/>
          <p:cNvSpPr/>
          <p:nvPr/>
        </p:nvSpPr>
        <p:spPr>
          <a:xfrm>
            <a:off x="2517696" y="4895136"/>
            <a:ext cx="4526399" cy="1666280"/>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Agile testing methodologies, such as Scrum and Extreme Programming, emphasize early and frequent feedback loops to identify and address issues quickly, ensuring high-quality software is delivered in short, incremental sprints.</a:t>
            </a:r>
            <a:endParaRPr b="0" i="0" sz="1750" u="none" cap="none" strike="noStrike">
              <a:solidFill>
                <a:schemeClr val="dk1"/>
              </a:solidFill>
              <a:latin typeface="Calibri"/>
              <a:ea typeface="Calibri"/>
              <a:cs typeface="Calibri"/>
              <a:sym typeface="Calibri"/>
            </a:endParaRPr>
          </a:p>
        </p:txBody>
      </p:sp>
      <p:pic>
        <p:nvPicPr>
          <p:cNvPr descr="preencoded.png" id="309" name="Google Shape;309;p18"/>
          <p:cNvPicPr preferRelativeResize="0"/>
          <p:nvPr/>
        </p:nvPicPr>
        <p:blipFill rotWithShape="1">
          <a:blip r:embed="rId3">
            <a:alphaModFix/>
          </a:blip>
          <a:srcRect b="0" l="0" r="0" t="0"/>
          <a:stretch/>
        </p:blipFill>
        <p:spPr>
          <a:xfrm>
            <a:off x="7593687" y="2745700"/>
            <a:ext cx="4526399" cy="309693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9"/>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7" name="Google Shape;317;p19"/>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318" name="Google Shape;318;p19"/>
          <p:cNvSpPr/>
          <p:nvPr/>
        </p:nvSpPr>
        <p:spPr>
          <a:xfrm>
            <a:off x="0" y="0"/>
            <a:ext cx="14630400" cy="8229600"/>
          </a:xfrm>
          <a:prstGeom prst="rect">
            <a:avLst/>
          </a:prstGeom>
          <a:solidFill>
            <a:srgbClr val="FFFFFF">
              <a:alpha val="8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9"/>
          <p:cNvSpPr/>
          <p:nvPr/>
        </p:nvSpPr>
        <p:spPr>
          <a:xfrm>
            <a:off x="2517696" y="2129076"/>
            <a:ext cx="9594890" cy="1388745"/>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Defect Tracking and Management</a:t>
            </a:r>
            <a:endParaRPr b="0" i="0" sz="4374" u="none" cap="none" strike="noStrike">
              <a:solidFill>
                <a:schemeClr val="dk1"/>
              </a:solidFill>
              <a:latin typeface="Calibri"/>
              <a:ea typeface="Calibri"/>
              <a:cs typeface="Calibri"/>
              <a:sym typeface="Calibri"/>
            </a:endParaRPr>
          </a:p>
        </p:txBody>
      </p:sp>
      <p:sp>
        <p:nvSpPr>
          <p:cNvPr id="320" name="Google Shape;320;p19"/>
          <p:cNvSpPr/>
          <p:nvPr/>
        </p:nvSpPr>
        <p:spPr>
          <a:xfrm>
            <a:off x="2517696" y="3851077"/>
            <a:ext cx="9594890"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Effective defect tracking and management are crucial for identifying, prioritizing, and resolving software issues. Teams leverage dedicated bug tracking tools to centralize the reporting, analysis, and resolution of defects throughout the development lifecycle.</a:t>
            </a:r>
            <a:endParaRPr b="0" i="0" sz="1750" u="none" cap="none" strike="noStrike">
              <a:solidFill>
                <a:schemeClr val="dk1"/>
              </a:solidFill>
              <a:latin typeface="Calibri"/>
              <a:ea typeface="Calibri"/>
              <a:cs typeface="Calibri"/>
              <a:sym typeface="Calibri"/>
            </a:endParaRPr>
          </a:p>
        </p:txBody>
      </p:sp>
      <p:sp>
        <p:nvSpPr>
          <p:cNvPr id="321" name="Google Shape;321;p19"/>
          <p:cNvSpPr/>
          <p:nvPr/>
        </p:nvSpPr>
        <p:spPr>
          <a:xfrm>
            <a:off x="2517696" y="5100757"/>
            <a:ext cx="9594890"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Key practices include clear categorization of bugs, assignment of ownership, detailed status updates, and comprehensive traceability from identification to closure. This systematic approach ensures a transparent and collaborative process for addressing software quality concerns.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0"/>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0"/>
          <p:cNvSpPr/>
          <p:nvPr/>
        </p:nvSpPr>
        <p:spPr>
          <a:xfrm>
            <a:off x="3001089" y="551140"/>
            <a:ext cx="6948607" cy="624483"/>
          </a:xfrm>
          <a:prstGeom prst="rect">
            <a:avLst/>
          </a:prstGeom>
          <a:noFill/>
          <a:ln>
            <a:noFill/>
          </a:ln>
        </p:spPr>
        <p:txBody>
          <a:bodyPr anchorCtr="0" anchor="t" bIns="45700" lIns="91425" spcFirstLastPara="1" rIns="91425" wrap="square" tIns="45700">
            <a:noAutofit/>
          </a:bodyPr>
          <a:lstStyle/>
          <a:p>
            <a:pPr indent="0" lvl="0" marL="0" marR="0" rtl="0" algn="l">
              <a:lnSpc>
                <a:spcPct val="125019"/>
              </a:lnSpc>
              <a:spcBef>
                <a:spcPts val="0"/>
              </a:spcBef>
              <a:spcAft>
                <a:spcPts val="0"/>
              </a:spcAft>
              <a:buClr>
                <a:srgbClr val="000000"/>
              </a:buClr>
              <a:buSzPts val="3933"/>
              <a:buFont typeface="Montserrat"/>
              <a:buNone/>
            </a:pPr>
            <a:r>
              <a:rPr b="1" i="0" lang="en-US" sz="3933" u="none" cap="none" strike="noStrike">
                <a:solidFill>
                  <a:srgbClr val="000000"/>
                </a:solidFill>
                <a:latin typeface="Montserrat"/>
                <a:ea typeface="Montserrat"/>
                <a:cs typeface="Montserrat"/>
                <a:sym typeface="Montserrat"/>
              </a:rPr>
              <a:t>Test Reporting and Metrics</a:t>
            </a:r>
            <a:endParaRPr b="0" i="0" sz="3933" u="none" cap="none" strike="noStrike">
              <a:solidFill>
                <a:schemeClr val="dk1"/>
              </a:solidFill>
              <a:latin typeface="Calibri"/>
              <a:ea typeface="Calibri"/>
              <a:cs typeface="Calibri"/>
              <a:sym typeface="Calibri"/>
            </a:endParaRPr>
          </a:p>
        </p:txBody>
      </p:sp>
      <p:sp>
        <p:nvSpPr>
          <p:cNvPr id="330" name="Google Shape;330;p20"/>
          <p:cNvSpPr/>
          <p:nvPr/>
        </p:nvSpPr>
        <p:spPr>
          <a:xfrm>
            <a:off x="3001089" y="1675090"/>
            <a:ext cx="4164211" cy="659368"/>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192"/>
              <a:buFont typeface="Montserrat"/>
              <a:buNone/>
            </a:pPr>
            <a:r>
              <a:rPr b="1" i="0" lang="en-US" sz="5192" u="none" cap="none" strike="noStrike">
                <a:solidFill>
                  <a:srgbClr val="000000"/>
                </a:solidFill>
                <a:latin typeface="Montserrat"/>
                <a:ea typeface="Montserrat"/>
                <a:cs typeface="Montserrat"/>
                <a:sym typeface="Montserrat"/>
              </a:rPr>
              <a:t>12</a:t>
            </a:r>
            <a:endParaRPr b="0" i="0" sz="5192" u="none" cap="none" strike="noStrike">
              <a:solidFill>
                <a:schemeClr val="dk1"/>
              </a:solidFill>
              <a:latin typeface="Calibri"/>
              <a:ea typeface="Calibri"/>
              <a:cs typeface="Calibri"/>
              <a:sym typeface="Calibri"/>
            </a:endParaRPr>
          </a:p>
        </p:txBody>
      </p:sp>
      <p:sp>
        <p:nvSpPr>
          <p:cNvPr id="331" name="Google Shape;331;p20"/>
          <p:cNvSpPr/>
          <p:nvPr/>
        </p:nvSpPr>
        <p:spPr>
          <a:xfrm>
            <a:off x="3834408" y="2584133"/>
            <a:ext cx="2497574" cy="312182"/>
          </a:xfrm>
          <a:prstGeom prst="rect">
            <a:avLst/>
          </a:prstGeom>
          <a:noFill/>
          <a:ln>
            <a:noFill/>
          </a:ln>
        </p:spPr>
        <p:txBody>
          <a:bodyPr anchorCtr="0" anchor="t" bIns="45700" lIns="91425" spcFirstLastPara="1" rIns="91425" wrap="square" tIns="45700">
            <a:noAutofit/>
          </a:bodyPr>
          <a:lstStyle/>
          <a:p>
            <a:pPr indent="0" lvl="0" marL="0" marR="0" rtl="0" algn="ctr">
              <a:lnSpc>
                <a:spcPct val="124961"/>
              </a:lnSpc>
              <a:spcBef>
                <a:spcPts val="0"/>
              </a:spcBef>
              <a:spcAft>
                <a:spcPts val="0"/>
              </a:spcAft>
              <a:buClr>
                <a:srgbClr val="000000"/>
              </a:buClr>
              <a:buSzPts val="1967"/>
              <a:buFont typeface="Montserrat"/>
              <a:buNone/>
            </a:pPr>
            <a:r>
              <a:rPr b="1" i="0" lang="en-US" sz="1967" u="none" cap="none" strike="noStrike">
                <a:solidFill>
                  <a:srgbClr val="000000"/>
                </a:solidFill>
                <a:latin typeface="Montserrat"/>
                <a:ea typeface="Montserrat"/>
                <a:cs typeface="Montserrat"/>
                <a:sym typeface="Montserrat"/>
              </a:rPr>
              <a:t>KPIs</a:t>
            </a:r>
            <a:endParaRPr b="0" i="0" sz="1967" u="none" cap="none" strike="noStrike">
              <a:solidFill>
                <a:schemeClr val="dk1"/>
              </a:solidFill>
              <a:latin typeface="Calibri"/>
              <a:ea typeface="Calibri"/>
              <a:cs typeface="Calibri"/>
              <a:sym typeface="Calibri"/>
            </a:endParaRPr>
          </a:p>
        </p:txBody>
      </p:sp>
      <p:sp>
        <p:nvSpPr>
          <p:cNvPr id="332" name="Google Shape;332;p20"/>
          <p:cNvSpPr/>
          <p:nvPr/>
        </p:nvSpPr>
        <p:spPr>
          <a:xfrm>
            <a:off x="3001089" y="3016091"/>
            <a:ext cx="4164211" cy="599361"/>
          </a:xfrm>
          <a:prstGeom prst="rect">
            <a:avLst/>
          </a:prstGeom>
          <a:noFill/>
          <a:ln>
            <a:noFill/>
          </a:ln>
        </p:spPr>
        <p:txBody>
          <a:bodyPr anchorCtr="0" anchor="t" bIns="45700" lIns="91425" spcFirstLastPara="1" rIns="91425" wrap="square" tIns="45700">
            <a:noAutofit/>
          </a:bodyPr>
          <a:lstStyle/>
          <a:p>
            <a:pPr indent="0" lvl="0" marL="0" marR="0" rtl="0" algn="ctr">
              <a:lnSpc>
                <a:spcPct val="150031"/>
              </a:lnSpc>
              <a:spcBef>
                <a:spcPts val="0"/>
              </a:spcBef>
              <a:spcAft>
                <a:spcPts val="0"/>
              </a:spcAft>
              <a:buClr>
                <a:srgbClr val="3D3838"/>
              </a:buClr>
              <a:buSzPts val="1573"/>
              <a:buFont typeface="Arial"/>
              <a:buNone/>
            </a:pPr>
            <a:r>
              <a:rPr b="0" i="0" lang="en-US" sz="1573" u="none" cap="none" strike="noStrike">
                <a:solidFill>
                  <a:srgbClr val="3D3838"/>
                </a:solidFill>
                <a:latin typeface="Arial"/>
                <a:ea typeface="Arial"/>
                <a:cs typeface="Arial"/>
                <a:sym typeface="Arial"/>
              </a:rPr>
              <a:t>Key performance indicators to track testing effectiveness and efficiency</a:t>
            </a:r>
            <a:endParaRPr b="0" i="0" sz="1573" u="none" cap="none" strike="noStrike">
              <a:solidFill>
                <a:schemeClr val="dk1"/>
              </a:solidFill>
              <a:latin typeface="Calibri"/>
              <a:ea typeface="Calibri"/>
              <a:cs typeface="Calibri"/>
              <a:sym typeface="Calibri"/>
            </a:endParaRPr>
          </a:p>
        </p:txBody>
      </p:sp>
      <p:sp>
        <p:nvSpPr>
          <p:cNvPr id="333" name="Google Shape;333;p20"/>
          <p:cNvSpPr/>
          <p:nvPr/>
        </p:nvSpPr>
        <p:spPr>
          <a:xfrm>
            <a:off x="7464981" y="1675090"/>
            <a:ext cx="4164330" cy="659368"/>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192"/>
              <a:buFont typeface="Montserrat"/>
              <a:buNone/>
            </a:pPr>
            <a:r>
              <a:rPr b="1" i="0" lang="en-US" sz="5192" u="none" cap="none" strike="noStrike">
                <a:solidFill>
                  <a:srgbClr val="000000"/>
                </a:solidFill>
                <a:latin typeface="Montserrat"/>
                <a:ea typeface="Montserrat"/>
                <a:cs typeface="Montserrat"/>
                <a:sym typeface="Montserrat"/>
              </a:rPr>
              <a:t>$25K</a:t>
            </a:r>
            <a:endParaRPr b="0" i="0" sz="5192" u="none" cap="none" strike="noStrike">
              <a:solidFill>
                <a:schemeClr val="dk1"/>
              </a:solidFill>
              <a:latin typeface="Calibri"/>
              <a:ea typeface="Calibri"/>
              <a:cs typeface="Calibri"/>
              <a:sym typeface="Calibri"/>
            </a:endParaRPr>
          </a:p>
        </p:txBody>
      </p:sp>
      <p:sp>
        <p:nvSpPr>
          <p:cNvPr id="334" name="Google Shape;334;p20"/>
          <p:cNvSpPr/>
          <p:nvPr/>
        </p:nvSpPr>
        <p:spPr>
          <a:xfrm>
            <a:off x="8298299" y="2584133"/>
            <a:ext cx="2497574" cy="312182"/>
          </a:xfrm>
          <a:prstGeom prst="rect">
            <a:avLst/>
          </a:prstGeom>
          <a:noFill/>
          <a:ln>
            <a:noFill/>
          </a:ln>
        </p:spPr>
        <p:txBody>
          <a:bodyPr anchorCtr="0" anchor="t" bIns="45700" lIns="91425" spcFirstLastPara="1" rIns="91425" wrap="square" tIns="45700">
            <a:noAutofit/>
          </a:bodyPr>
          <a:lstStyle/>
          <a:p>
            <a:pPr indent="0" lvl="0" marL="0" marR="0" rtl="0" algn="ctr">
              <a:lnSpc>
                <a:spcPct val="124961"/>
              </a:lnSpc>
              <a:spcBef>
                <a:spcPts val="0"/>
              </a:spcBef>
              <a:spcAft>
                <a:spcPts val="0"/>
              </a:spcAft>
              <a:buClr>
                <a:srgbClr val="000000"/>
              </a:buClr>
              <a:buSzPts val="1967"/>
              <a:buFont typeface="Montserrat"/>
              <a:buNone/>
            </a:pPr>
            <a:r>
              <a:rPr b="1" i="0" lang="en-US" sz="1967" u="none" cap="none" strike="noStrike">
                <a:solidFill>
                  <a:srgbClr val="000000"/>
                </a:solidFill>
                <a:latin typeface="Montserrat"/>
                <a:ea typeface="Montserrat"/>
                <a:cs typeface="Montserrat"/>
                <a:sym typeface="Montserrat"/>
              </a:rPr>
              <a:t>Budget</a:t>
            </a:r>
            <a:endParaRPr b="0" i="0" sz="1967" u="none" cap="none" strike="noStrike">
              <a:solidFill>
                <a:schemeClr val="dk1"/>
              </a:solidFill>
              <a:latin typeface="Calibri"/>
              <a:ea typeface="Calibri"/>
              <a:cs typeface="Calibri"/>
              <a:sym typeface="Calibri"/>
            </a:endParaRPr>
          </a:p>
        </p:txBody>
      </p:sp>
      <p:sp>
        <p:nvSpPr>
          <p:cNvPr id="335" name="Google Shape;335;p20"/>
          <p:cNvSpPr/>
          <p:nvPr/>
        </p:nvSpPr>
        <p:spPr>
          <a:xfrm>
            <a:off x="7464981" y="3016091"/>
            <a:ext cx="4164330" cy="599361"/>
          </a:xfrm>
          <a:prstGeom prst="rect">
            <a:avLst/>
          </a:prstGeom>
          <a:noFill/>
          <a:ln>
            <a:noFill/>
          </a:ln>
        </p:spPr>
        <p:txBody>
          <a:bodyPr anchorCtr="0" anchor="t" bIns="45700" lIns="91425" spcFirstLastPara="1" rIns="91425" wrap="square" tIns="45700">
            <a:noAutofit/>
          </a:bodyPr>
          <a:lstStyle/>
          <a:p>
            <a:pPr indent="0" lvl="0" marL="0" marR="0" rtl="0" algn="ctr">
              <a:lnSpc>
                <a:spcPct val="150031"/>
              </a:lnSpc>
              <a:spcBef>
                <a:spcPts val="0"/>
              </a:spcBef>
              <a:spcAft>
                <a:spcPts val="0"/>
              </a:spcAft>
              <a:buClr>
                <a:srgbClr val="3D3838"/>
              </a:buClr>
              <a:buSzPts val="1573"/>
              <a:buFont typeface="Arial"/>
              <a:buNone/>
            </a:pPr>
            <a:r>
              <a:rPr b="0" i="0" lang="en-US" sz="1573" u="none" cap="none" strike="noStrike">
                <a:solidFill>
                  <a:srgbClr val="3D3838"/>
                </a:solidFill>
                <a:latin typeface="Arial"/>
                <a:ea typeface="Arial"/>
                <a:cs typeface="Arial"/>
                <a:sym typeface="Arial"/>
              </a:rPr>
              <a:t>Allocated testing budget for comprehensive coverage</a:t>
            </a:r>
            <a:endParaRPr b="0" i="0" sz="1573" u="none" cap="none" strike="noStrike">
              <a:solidFill>
                <a:schemeClr val="dk1"/>
              </a:solidFill>
              <a:latin typeface="Calibri"/>
              <a:ea typeface="Calibri"/>
              <a:cs typeface="Calibri"/>
              <a:sym typeface="Calibri"/>
            </a:endParaRPr>
          </a:p>
        </p:txBody>
      </p:sp>
      <p:sp>
        <p:nvSpPr>
          <p:cNvPr id="336" name="Google Shape;336;p20"/>
          <p:cNvSpPr/>
          <p:nvPr/>
        </p:nvSpPr>
        <p:spPr>
          <a:xfrm>
            <a:off x="3001089" y="4314706"/>
            <a:ext cx="4164211" cy="659368"/>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192"/>
              <a:buFont typeface="Montserrat"/>
              <a:buNone/>
            </a:pPr>
            <a:r>
              <a:rPr b="1" i="0" lang="en-US" sz="5192" u="none" cap="none" strike="noStrike">
                <a:solidFill>
                  <a:srgbClr val="000000"/>
                </a:solidFill>
                <a:latin typeface="Montserrat"/>
                <a:ea typeface="Montserrat"/>
                <a:cs typeface="Montserrat"/>
                <a:sym typeface="Montserrat"/>
              </a:rPr>
              <a:t>95%</a:t>
            </a:r>
            <a:endParaRPr b="0" i="0" sz="5192" u="none" cap="none" strike="noStrike">
              <a:solidFill>
                <a:schemeClr val="dk1"/>
              </a:solidFill>
              <a:latin typeface="Calibri"/>
              <a:ea typeface="Calibri"/>
              <a:cs typeface="Calibri"/>
              <a:sym typeface="Calibri"/>
            </a:endParaRPr>
          </a:p>
        </p:txBody>
      </p:sp>
      <p:sp>
        <p:nvSpPr>
          <p:cNvPr id="337" name="Google Shape;337;p20"/>
          <p:cNvSpPr/>
          <p:nvPr/>
        </p:nvSpPr>
        <p:spPr>
          <a:xfrm>
            <a:off x="3834408" y="5223748"/>
            <a:ext cx="2497574" cy="312182"/>
          </a:xfrm>
          <a:prstGeom prst="rect">
            <a:avLst/>
          </a:prstGeom>
          <a:noFill/>
          <a:ln>
            <a:noFill/>
          </a:ln>
        </p:spPr>
        <p:txBody>
          <a:bodyPr anchorCtr="0" anchor="t" bIns="45700" lIns="91425" spcFirstLastPara="1" rIns="91425" wrap="square" tIns="45700">
            <a:noAutofit/>
          </a:bodyPr>
          <a:lstStyle/>
          <a:p>
            <a:pPr indent="0" lvl="0" marL="0" marR="0" rtl="0" algn="ctr">
              <a:lnSpc>
                <a:spcPct val="124961"/>
              </a:lnSpc>
              <a:spcBef>
                <a:spcPts val="0"/>
              </a:spcBef>
              <a:spcAft>
                <a:spcPts val="0"/>
              </a:spcAft>
              <a:buClr>
                <a:srgbClr val="000000"/>
              </a:buClr>
              <a:buSzPts val="1967"/>
              <a:buFont typeface="Montserrat"/>
              <a:buNone/>
            </a:pPr>
            <a:r>
              <a:rPr b="1" i="0" lang="en-US" sz="1967" u="none" cap="none" strike="noStrike">
                <a:solidFill>
                  <a:srgbClr val="000000"/>
                </a:solidFill>
                <a:latin typeface="Montserrat"/>
                <a:ea typeface="Montserrat"/>
                <a:cs typeface="Montserrat"/>
                <a:sym typeface="Montserrat"/>
              </a:rPr>
              <a:t>Automation</a:t>
            </a:r>
            <a:endParaRPr b="0" i="0" sz="1967" u="none" cap="none" strike="noStrike">
              <a:solidFill>
                <a:schemeClr val="dk1"/>
              </a:solidFill>
              <a:latin typeface="Calibri"/>
              <a:ea typeface="Calibri"/>
              <a:cs typeface="Calibri"/>
              <a:sym typeface="Calibri"/>
            </a:endParaRPr>
          </a:p>
        </p:txBody>
      </p:sp>
      <p:sp>
        <p:nvSpPr>
          <p:cNvPr id="338" name="Google Shape;338;p20"/>
          <p:cNvSpPr/>
          <p:nvPr/>
        </p:nvSpPr>
        <p:spPr>
          <a:xfrm>
            <a:off x="3001089" y="5655707"/>
            <a:ext cx="4164211" cy="599361"/>
          </a:xfrm>
          <a:prstGeom prst="rect">
            <a:avLst/>
          </a:prstGeom>
          <a:noFill/>
          <a:ln>
            <a:noFill/>
          </a:ln>
        </p:spPr>
        <p:txBody>
          <a:bodyPr anchorCtr="0" anchor="t" bIns="45700" lIns="91425" spcFirstLastPara="1" rIns="91425" wrap="square" tIns="45700">
            <a:noAutofit/>
          </a:bodyPr>
          <a:lstStyle/>
          <a:p>
            <a:pPr indent="0" lvl="0" marL="0" marR="0" rtl="0" algn="ctr">
              <a:lnSpc>
                <a:spcPct val="150031"/>
              </a:lnSpc>
              <a:spcBef>
                <a:spcPts val="0"/>
              </a:spcBef>
              <a:spcAft>
                <a:spcPts val="0"/>
              </a:spcAft>
              <a:buClr>
                <a:srgbClr val="3D3838"/>
              </a:buClr>
              <a:buSzPts val="1573"/>
              <a:buFont typeface="Arial"/>
              <a:buNone/>
            </a:pPr>
            <a:r>
              <a:rPr b="0" i="0" lang="en-US" sz="1573" u="none" cap="none" strike="noStrike">
                <a:solidFill>
                  <a:srgbClr val="3D3838"/>
                </a:solidFill>
                <a:latin typeface="Arial"/>
                <a:ea typeface="Arial"/>
                <a:cs typeface="Arial"/>
                <a:sym typeface="Arial"/>
              </a:rPr>
              <a:t>Percentage of test cases automated for faster, more reliable execution</a:t>
            </a:r>
            <a:endParaRPr b="0" i="0" sz="1573" u="none" cap="none" strike="noStrike">
              <a:solidFill>
                <a:schemeClr val="dk1"/>
              </a:solidFill>
              <a:latin typeface="Calibri"/>
              <a:ea typeface="Calibri"/>
              <a:cs typeface="Calibri"/>
              <a:sym typeface="Calibri"/>
            </a:endParaRPr>
          </a:p>
        </p:txBody>
      </p:sp>
      <p:sp>
        <p:nvSpPr>
          <p:cNvPr id="339" name="Google Shape;339;p20"/>
          <p:cNvSpPr/>
          <p:nvPr/>
        </p:nvSpPr>
        <p:spPr>
          <a:xfrm>
            <a:off x="7464981" y="4314706"/>
            <a:ext cx="4164330" cy="659368"/>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192"/>
              <a:buFont typeface="Montserrat"/>
              <a:buNone/>
            </a:pPr>
            <a:r>
              <a:rPr b="1" i="0" lang="en-US" sz="5192" u="none" cap="none" strike="noStrike">
                <a:solidFill>
                  <a:srgbClr val="000000"/>
                </a:solidFill>
                <a:latin typeface="Montserrat"/>
                <a:ea typeface="Montserrat"/>
                <a:cs typeface="Montserrat"/>
                <a:sym typeface="Montserrat"/>
              </a:rPr>
              <a:t>99.9%</a:t>
            </a:r>
            <a:endParaRPr b="0" i="0" sz="5192" u="none" cap="none" strike="noStrike">
              <a:solidFill>
                <a:schemeClr val="dk1"/>
              </a:solidFill>
              <a:latin typeface="Calibri"/>
              <a:ea typeface="Calibri"/>
              <a:cs typeface="Calibri"/>
              <a:sym typeface="Calibri"/>
            </a:endParaRPr>
          </a:p>
        </p:txBody>
      </p:sp>
      <p:sp>
        <p:nvSpPr>
          <p:cNvPr id="340" name="Google Shape;340;p20"/>
          <p:cNvSpPr/>
          <p:nvPr/>
        </p:nvSpPr>
        <p:spPr>
          <a:xfrm>
            <a:off x="8298299" y="5223748"/>
            <a:ext cx="2497574" cy="312182"/>
          </a:xfrm>
          <a:prstGeom prst="rect">
            <a:avLst/>
          </a:prstGeom>
          <a:noFill/>
          <a:ln>
            <a:noFill/>
          </a:ln>
        </p:spPr>
        <p:txBody>
          <a:bodyPr anchorCtr="0" anchor="t" bIns="45700" lIns="91425" spcFirstLastPara="1" rIns="91425" wrap="square" tIns="45700">
            <a:noAutofit/>
          </a:bodyPr>
          <a:lstStyle/>
          <a:p>
            <a:pPr indent="0" lvl="0" marL="0" marR="0" rtl="0" algn="ctr">
              <a:lnSpc>
                <a:spcPct val="124961"/>
              </a:lnSpc>
              <a:spcBef>
                <a:spcPts val="0"/>
              </a:spcBef>
              <a:spcAft>
                <a:spcPts val="0"/>
              </a:spcAft>
              <a:buClr>
                <a:srgbClr val="000000"/>
              </a:buClr>
              <a:buSzPts val="1967"/>
              <a:buFont typeface="Montserrat"/>
              <a:buNone/>
            </a:pPr>
            <a:r>
              <a:rPr b="1" i="0" lang="en-US" sz="1967" u="none" cap="none" strike="noStrike">
                <a:solidFill>
                  <a:srgbClr val="000000"/>
                </a:solidFill>
                <a:latin typeface="Montserrat"/>
                <a:ea typeface="Montserrat"/>
                <a:cs typeface="Montserrat"/>
                <a:sym typeface="Montserrat"/>
              </a:rPr>
              <a:t>Reliability</a:t>
            </a:r>
            <a:endParaRPr b="0" i="0" sz="1967" u="none" cap="none" strike="noStrike">
              <a:solidFill>
                <a:schemeClr val="dk1"/>
              </a:solidFill>
              <a:latin typeface="Calibri"/>
              <a:ea typeface="Calibri"/>
              <a:cs typeface="Calibri"/>
              <a:sym typeface="Calibri"/>
            </a:endParaRPr>
          </a:p>
        </p:txBody>
      </p:sp>
      <p:sp>
        <p:nvSpPr>
          <p:cNvPr id="341" name="Google Shape;341;p20"/>
          <p:cNvSpPr/>
          <p:nvPr/>
        </p:nvSpPr>
        <p:spPr>
          <a:xfrm>
            <a:off x="7464981" y="5655707"/>
            <a:ext cx="4164330" cy="599361"/>
          </a:xfrm>
          <a:prstGeom prst="rect">
            <a:avLst/>
          </a:prstGeom>
          <a:noFill/>
          <a:ln>
            <a:noFill/>
          </a:ln>
        </p:spPr>
        <p:txBody>
          <a:bodyPr anchorCtr="0" anchor="t" bIns="45700" lIns="91425" spcFirstLastPara="1" rIns="91425" wrap="square" tIns="45700">
            <a:noAutofit/>
          </a:bodyPr>
          <a:lstStyle/>
          <a:p>
            <a:pPr indent="0" lvl="0" marL="0" marR="0" rtl="0" algn="ctr">
              <a:lnSpc>
                <a:spcPct val="150031"/>
              </a:lnSpc>
              <a:spcBef>
                <a:spcPts val="0"/>
              </a:spcBef>
              <a:spcAft>
                <a:spcPts val="0"/>
              </a:spcAft>
              <a:buClr>
                <a:srgbClr val="3D3838"/>
              </a:buClr>
              <a:buSzPts val="1573"/>
              <a:buFont typeface="Arial"/>
              <a:buNone/>
            </a:pPr>
            <a:r>
              <a:rPr b="0" i="0" lang="en-US" sz="1573" u="none" cap="none" strike="noStrike">
                <a:solidFill>
                  <a:srgbClr val="3D3838"/>
                </a:solidFill>
                <a:latin typeface="Arial"/>
                <a:ea typeface="Arial"/>
                <a:cs typeface="Arial"/>
                <a:sym typeface="Arial"/>
              </a:rPr>
              <a:t>Target success rate for passing test cases to ensure high-quality releases</a:t>
            </a:r>
            <a:endParaRPr b="0" i="0" sz="1573" u="none" cap="none" strike="noStrike">
              <a:solidFill>
                <a:schemeClr val="dk1"/>
              </a:solidFill>
              <a:latin typeface="Calibri"/>
              <a:ea typeface="Calibri"/>
              <a:cs typeface="Calibri"/>
              <a:sym typeface="Calibri"/>
            </a:endParaRPr>
          </a:p>
        </p:txBody>
      </p:sp>
      <p:sp>
        <p:nvSpPr>
          <p:cNvPr id="342" name="Google Shape;342;p20"/>
          <p:cNvSpPr/>
          <p:nvPr/>
        </p:nvSpPr>
        <p:spPr>
          <a:xfrm>
            <a:off x="3001089" y="6479738"/>
            <a:ext cx="8628221" cy="1198721"/>
          </a:xfrm>
          <a:prstGeom prst="rect">
            <a:avLst/>
          </a:prstGeom>
          <a:noFill/>
          <a:ln>
            <a:noFill/>
          </a:ln>
        </p:spPr>
        <p:txBody>
          <a:bodyPr anchorCtr="0" anchor="t" bIns="45700" lIns="91425" spcFirstLastPara="1" rIns="91425" wrap="square" tIns="45700">
            <a:noAutofit/>
          </a:bodyPr>
          <a:lstStyle/>
          <a:p>
            <a:pPr indent="0" lvl="0" marL="0" marR="0" rtl="0" algn="l">
              <a:lnSpc>
                <a:spcPct val="150031"/>
              </a:lnSpc>
              <a:spcBef>
                <a:spcPts val="0"/>
              </a:spcBef>
              <a:spcAft>
                <a:spcPts val="0"/>
              </a:spcAft>
              <a:buClr>
                <a:srgbClr val="3D3838"/>
              </a:buClr>
              <a:buSzPts val="1573"/>
              <a:buFont typeface="Arial"/>
              <a:buNone/>
            </a:pPr>
            <a:r>
              <a:rPr b="0" i="0" lang="en-US" sz="1573" u="none" cap="none" strike="noStrike">
                <a:solidFill>
                  <a:srgbClr val="3D3838"/>
                </a:solidFill>
                <a:latin typeface="Arial"/>
                <a:ea typeface="Arial"/>
                <a:cs typeface="Arial"/>
                <a:sym typeface="Arial"/>
              </a:rPr>
              <a:t>Comprehensive test reporting and insightful metrics are essential for measuring the success of the testing process and driving continuous improvement. By tracking key performance indicators, budget utilization, automation coverage, and overall reliability, organizations can gain valuable insights to optimize their testing strategies and ensure software quality throughout the development lifecycle.</a:t>
            </a:r>
            <a:endParaRPr b="0" i="0" sz="1573"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1"/>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0" name="Google Shape;350;p21"/>
          <p:cNvPicPr preferRelativeResize="0"/>
          <p:nvPr/>
        </p:nvPicPr>
        <p:blipFill rotWithShape="1">
          <a:blip r:embed="rId3">
            <a:alphaModFix/>
          </a:blip>
          <a:srcRect b="0" l="0" r="0" t="0"/>
          <a:stretch/>
        </p:blipFill>
        <p:spPr>
          <a:xfrm>
            <a:off x="0" y="0"/>
            <a:ext cx="14630400" cy="2487216"/>
          </a:xfrm>
          <a:prstGeom prst="rect">
            <a:avLst/>
          </a:prstGeom>
          <a:noFill/>
          <a:ln>
            <a:noFill/>
          </a:ln>
        </p:spPr>
      </p:pic>
      <p:sp>
        <p:nvSpPr>
          <p:cNvPr id="351" name="Google Shape;351;p21"/>
          <p:cNvSpPr/>
          <p:nvPr/>
        </p:nvSpPr>
        <p:spPr>
          <a:xfrm>
            <a:off x="3018949" y="3036094"/>
            <a:ext cx="6174819" cy="621744"/>
          </a:xfrm>
          <a:prstGeom prst="rect">
            <a:avLst/>
          </a:prstGeom>
          <a:noFill/>
          <a:ln>
            <a:noFill/>
          </a:ln>
        </p:spPr>
        <p:txBody>
          <a:bodyPr anchorCtr="0" anchor="t" bIns="45700" lIns="91425" spcFirstLastPara="1" rIns="91425" wrap="square" tIns="45700">
            <a:noAutofit/>
          </a:bodyPr>
          <a:lstStyle/>
          <a:p>
            <a:pPr indent="0" lvl="0" marL="0" marR="0" rtl="0" algn="l">
              <a:lnSpc>
                <a:spcPct val="125025"/>
              </a:lnSpc>
              <a:spcBef>
                <a:spcPts val="0"/>
              </a:spcBef>
              <a:spcAft>
                <a:spcPts val="0"/>
              </a:spcAft>
              <a:buClr>
                <a:srgbClr val="000000"/>
              </a:buClr>
              <a:buSzPts val="3916"/>
              <a:buFont typeface="Montserrat"/>
              <a:buNone/>
            </a:pPr>
            <a:r>
              <a:rPr b="1" i="0" lang="en-US" sz="3916" u="none" cap="none" strike="noStrike">
                <a:solidFill>
                  <a:srgbClr val="000000"/>
                </a:solidFill>
                <a:latin typeface="Montserrat"/>
                <a:ea typeface="Montserrat"/>
                <a:cs typeface="Montserrat"/>
                <a:sym typeface="Montserrat"/>
              </a:rPr>
              <a:t>Test Environment Setup</a:t>
            </a:r>
            <a:endParaRPr b="0" i="0" sz="3916" u="none" cap="none" strike="noStrike">
              <a:solidFill>
                <a:schemeClr val="dk1"/>
              </a:solidFill>
              <a:latin typeface="Calibri"/>
              <a:ea typeface="Calibri"/>
              <a:cs typeface="Calibri"/>
              <a:sym typeface="Calibri"/>
            </a:endParaRPr>
          </a:p>
        </p:txBody>
      </p:sp>
      <p:sp>
        <p:nvSpPr>
          <p:cNvPr id="352" name="Google Shape;352;p21"/>
          <p:cNvSpPr/>
          <p:nvPr/>
        </p:nvSpPr>
        <p:spPr>
          <a:xfrm>
            <a:off x="3018949" y="4115395"/>
            <a:ext cx="447675" cy="447675"/>
          </a:xfrm>
          <a:prstGeom prst="roundRect">
            <a:avLst>
              <a:gd fmla="val 26669"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1"/>
          <p:cNvSpPr/>
          <p:nvPr/>
        </p:nvSpPr>
        <p:spPr>
          <a:xfrm>
            <a:off x="3185755" y="4152662"/>
            <a:ext cx="114062" cy="373023"/>
          </a:xfrm>
          <a:prstGeom prst="rect">
            <a:avLst/>
          </a:prstGeom>
          <a:noFill/>
          <a:ln>
            <a:noFill/>
          </a:ln>
        </p:spPr>
        <p:txBody>
          <a:bodyPr anchorCtr="0" anchor="t" bIns="45700" lIns="91425" spcFirstLastPara="1" rIns="91425" wrap="square" tIns="45700">
            <a:noAutofit/>
          </a:bodyPr>
          <a:lstStyle/>
          <a:p>
            <a:pPr indent="0" lvl="0" marL="0" marR="0" rtl="0" algn="ctr">
              <a:lnSpc>
                <a:spcPct val="125021"/>
              </a:lnSpc>
              <a:spcBef>
                <a:spcPts val="0"/>
              </a:spcBef>
              <a:spcAft>
                <a:spcPts val="0"/>
              </a:spcAft>
              <a:buClr>
                <a:srgbClr val="000000"/>
              </a:buClr>
              <a:buSzPts val="2350"/>
              <a:buFont typeface="Montserrat"/>
              <a:buNone/>
            </a:pPr>
            <a:r>
              <a:rPr b="1" i="0" lang="en-US" sz="2350" u="none" cap="none" strike="noStrike">
                <a:solidFill>
                  <a:srgbClr val="000000"/>
                </a:solidFill>
                <a:latin typeface="Montserrat"/>
                <a:ea typeface="Montserrat"/>
                <a:cs typeface="Montserrat"/>
                <a:sym typeface="Montserrat"/>
              </a:rPr>
              <a:t>1</a:t>
            </a:r>
            <a:endParaRPr b="0" i="0" sz="2350" u="none" cap="none" strike="noStrike">
              <a:solidFill>
                <a:schemeClr val="dk1"/>
              </a:solidFill>
              <a:latin typeface="Calibri"/>
              <a:ea typeface="Calibri"/>
              <a:cs typeface="Calibri"/>
              <a:sym typeface="Calibri"/>
            </a:endParaRPr>
          </a:p>
        </p:txBody>
      </p:sp>
      <p:sp>
        <p:nvSpPr>
          <p:cNvPr id="354" name="Google Shape;354;p21"/>
          <p:cNvSpPr/>
          <p:nvPr/>
        </p:nvSpPr>
        <p:spPr>
          <a:xfrm>
            <a:off x="3983831" y="4180046"/>
            <a:ext cx="7627620" cy="636508"/>
          </a:xfrm>
          <a:prstGeom prst="rect">
            <a:avLst/>
          </a:prstGeom>
          <a:noFill/>
          <a:ln>
            <a:noFill/>
          </a:ln>
        </p:spPr>
        <p:txBody>
          <a:bodyPr anchorCtr="0" anchor="t" bIns="45700" lIns="91425" spcFirstLastPara="1" rIns="91425" wrap="square" tIns="45700">
            <a:noAutofit/>
          </a:bodyPr>
          <a:lstStyle/>
          <a:p>
            <a:pPr indent="0" lvl="0" marL="0" marR="0" rtl="0" algn="l">
              <a:lnSpc>
                <a:spcPct val="159987"/>
              </a:lnSpc>
              <a:spcBef>
                <a:spcPts val="0"/>
              </a:spcBef>
              <a:spcAft>
                <a:spcPts val="0"/>
              </a:spcAft>
              <a:buClr>
                <a:srgbClr val="3D3838"/>
              </a:buClr>
              <a:buSzPts val="1567"/>
              <a:buFont typeface="Arial"/>
              <a:buNone/>
            </a:pPr>
            <a:r>
              <a:rPr b="0" i="0" lang="en-US" sz="1567" u="none" cap="none" strike="noStrike">
                <a:solidFill>
                  <a:srgbClr val="3D3838"/>
                </a:solidFill>
                <a:latin typeface="Arial"/>
                <a:ea typeface="Arial"/>
                <a:cs typeface="Arial"/>
                <a:sym typeface="Arial"/>
              </a:rPr>
              <a:t>Establish a </a:t>
            </a:r>
            <a:r>
              <a:rPr b="1" i="0" lang="en-US" sz="1567" u="none" cap="none" strike="noStrike">
                <a:solidFill>
                  <a:srgbClr val="3D3838"/>
                </a:solidFill>
                <a:latin typeface="Arial"/>
                <a:ea typeface="Arial"/>
                <a:cs typeface="Arial"/>
                <a:sym typeface="Arial"/>
              </a:rPr>
              <a:t>dedicated testing infrastructure</a:t>
            </a:r>
            <a:r>
              <a:rPr b="0" i="0" lang="en-US" sz="1567" u="none" cap="none" strike="noStrike">
                <a:solidFill>
                  <a:srgbClr val="3D3838"/>
                </a:solidFill>
                <a:latin typeface="Arial"/>
                <a:ea typeface="Arial"/>
                <a:cs typeface="Arial"/>
                <a:sym typeface="Arial"/>
              </a:rPr>
              <a:t> with necessary hardware, software, and network resources</a:t>
            </a:r>
            <a:endParaRPr b="0" i="0" sz="1567" u="none" cap="none" strike="noStrike">
              <a:solidFill>
                <a:schemeClr val="dk1"/>
              </a:solidFill>
              <a:latin typeface="Calibri"/>
              <a:ea typeface="Calibri"/>
              <a:cs typeface="Calibri"/>
              <a:sym typeface="Calibri"/>
            </a:endParaRPr>
          </a:p>
        </p:txBody>
      </p:sp>
      <p:sp>
        <p:nvSpPr>
          <p:cNvPr id="355" name="Google Shape;355;p21"/>
          <p:cNvSpPr/>
          <p:nvPr/>
        </p:nvSpPr>
        <p:spPr>
          <a:xfrm>
            <a:off x="3983831" y="4896088"/>
            <a:ext cx="7627620" cy="636508"/>
          </a:xfrm>
          <a:prstGeom prst="rect">
            <a:avLst/>
          </a:prstGeom>
          <a:noFill/>
          <a:ln>
            <a:noFill/>
          </a:ln>
        </p:spPr>
        <p:txBody>
          <a:bodyPr anchorCtr="0" anchor="t" bIns="45700" lIns="91425" spcFirstLastPara="1" rIns="91425" wrap="square" tIns="45700">
            <a:noAutofit/>
          </a:bodyPr>
          <a:lstStyle/>
          <a:p>
            <a:pPr indent="0" lvl="0" marL="0" marR="0" rtl="0" algn="l">
              <a:lnSpc>
                <a:spcPct val="159987"/>
              </a:lnSpc>
              <a:spcBef>
                <a:spcPts val="0"/>
              </a:spcBef>
              <a:spcAft>
                <a:spcPts val="0"/>
              </a:spcAft>
              <a:buClr>
                <a:srgbClr val="3D3838"/>
              </a:buClr>
              <a:buSzPts val="1567"/>
              <a:buFont typeface="Arial"/>
              <a:buNone/>
            </a:pPr>
            <a:r>
              <a:rPr b="0" i="0" lang="en-US" sz="1567" u="none" cap="none" strike="noStrike">
                <a:solidFill>
                  <a:srgbClr val="3D3838"/>
                </a:solidFill>
                <a:latin typeface="Arial"/>
                <a:ea typeface="Arial"/>
                <a:cs typeface="Arial"/>
                <a:sym typeface="Arial"/>
              </a:rPr>
              <a:t>Configure </a:t>
            </a:r>
            <a:r>
              <a:rPr b="0" i="0" lang="en-US" sz="1567" u="sng" cap="none" strike="noStrike">
                <a:solidFill>
                  <a:srgbClr val="3D3838"/>
                </a:solidFill>
                <a:latin typeface="Arial"/>
                <a:ea typeface="Arial"/>
                <a:cs typeface="Arial"/>
                <a:sym typeface="Arial"/>
              </a:rPr>
              <a:t>test data environments</a:t>
            </a:r>
            <a:r>
              <a:rPr b="0" i="0" lang="en-US" sz="1567" u="none" cap="none" strike="noStrike">
                <a:solidFill>
                  <a:srgbClr val="3D3838"/>
                </a:solidFill>
                <a:latin typeface="Arial"/>
                <a:ea typeface="Arial"/>
                <a:cs typeface="Arial"/>
                <a:sym typeface="Arial"/>
              </a:rPr>
              <a:t> with representative data, including both production-like and edge-case scenarios</a:t>
            </a:r>
            <a:endParaRPr b="0" i="0" sz="1567" u="none" cap="none" strike="noStrike">
              <a:solidFill>
                <a:schemeClr val="dk1"/>
              </a:solidFill>
              <a:latin typeface="Calibri"/>
              <a:ea typeface="Calibri"/>
              <a:cs typeface="Calibri"/>
              <a:sym typeface="Calibri"/>
            </a:endParaRPr>
          </a:p>
        </p:txBody>
      </p:sp>
      <p:sp>
        <p:nvSpPr>
          <p:cNvPr id="356" name="Google Shape;356;p21"/>
          <p:cNvSpPr/>
          <p:nvPr/>
        </p:nvSpPr>
        <p:spPr>
          <a:xfrm>
            <a:off x="3983831" y="5612130"/>
            <a:ext cx="7627620" cy="636508"/>
          </a:xfrm>
          <a:prstGeom prst="rect">
            <a:avLst/>
          </a:prstGeom>
          <a:noFill/>
          <a:ln>
            <a:noFill/>
          </a:ln>
        </p:spPr>
        <p:txBody>
          <a:bodyPr anchorCtr="0" anchor="t" bIns="45700" lIns="91425" spcFirstLastPara="1" rIns="91425" wrap="square" tIns="45700">
            <a:noAutofit/>
          </a:bodyPr>
          <a:lstStyle/>
          <a:p>
            <a:pPr indent="0" lvl="0" marL="0" marR="0" rtl="0" algn="l">
              <a:lnSpc>
                <a:spcPct val="159987"/>
              </a:lnSpc>
              <a:spcBef>
                <a:spcPts val="0"/>
              </a:spcBef>
              <a:spcAft>
                <a:spcPts val="0"/>
              </a:spcAft>
              <a:buClr>
                <a:srgbClr val="3D3838"/>
              </a:buClr>
              <a:buSzPts val="1567"/>
              <a:buFont typeface="Arial"/>
              <a:buNone/>
            </a:pPr>
            <a:r>
              <a:rPr b="0" i="0" lang="en-US" sz="1567" u="none" cap="none" strike="noStrike">
                <a:solidFill>
                  <a:srgbClr val="3D3838"/>
                </a:solidFill>
                <a:latin typeface="Arial"/>
                <a:ea typeface="Arial"/>
                <a:cs typeface="Arial"/>
                <a:sym typeface="Arial"/>
              </a:rPr>
              <a:t>Implement </a:t>
            </a:r>
            <a:r>
              <a:rPr b="1" i="0" lang="en-US" sz="1567" u="none" cap="none" strike="noStrike">
                <a:solidFill>
                  <a:srgbClr val="3D3838"/>
                </a:solidFill>
                <a:latin typeface="Arial"/>
                <a:ea typeface="Arial"/>
                <a:cs typeface="Arial"/>
                <a:sym typeface="Arial"/>
              </a:rPr>
              <a:t>virtualization and containerization techniques</a:t>
            </a:r>
            <a:r>
              <a:rPr b="0" i="0" lang="en-US" sz="1567" u="none" cap="none" strike="noStrike">
                <a:solidFill>
                  <a:srgbClr val="3D3838"/>
                </a:solidFill>
                <a:latin typeface="Arial"/>
                <a:ea typeface="Arial"/>
                <a:cs typeface="Arial"/>
                <a:sym typeface="Arial"/>
              </a:rPr>
              <a:t> to facilitate reproducible and scalable test environments</a:t>
            </a:r>
            <a:endParaRPr b="0" i="0" sz="1567" u="none" cap="none" strike="noStrike">
              <a:solidFill>
                <a:schemeClr val="dk1"/>
              </a:solidFill>
              <a:latin typeface="Calibri"/>
              <a:ea typeface="Calibri"/>
              <a:cs typeface="Calibri"/>
              <a:sym typeface="Calibri"/>
            </a:endParaRPr>
          </a:p>
        </p:txBody>
      </p:sp>
      <p:sp>
        <p:nvSpPr>
          <p:cNvPr id="357" name="Google Shape;357;p21"/>
          <p:cNvSpPr/>
          <p:nvPr/>
        </p:nvSpPr>
        <p:spPr>
          <a:xfrm>
            <a:off x="3983831" y="6328172"/>
            <a:ext cx="7627620" cy="636508"/>
          </a:xfrm>
          <a:prstGeom prst="rect">
            <a:avLst/>
          </a:prstGeom>
          <a:noFill/>
          <a:ln>
            <a:noFill/>
          </a:ln>
        </p:spPr>
        <p:txBody>
          <a:bodyPr anchorCtr="0" anchor="t" bIns="45700" lIns="91425" spcFirstLastPara="1" rIns="91425" wrap="square" tIns="45700">
            <a:noAutofit/>
          </a:bodyPr>
          <a:lstStyle/>
          <a:p>
            <a:pPr indent="0" lvl="0" marL="0" marR="0" rtl="0" algn="l">
              <a:lnSpc>
                <a:spcPct val="159987"/>
              </a:lnSpc>
              <a:spcBef>
                <a:spcPts val="0"/>
              </a:spcBef>
              <a:spcAft>
                <a:spcPts val="0"/>
              </a:spcAft>
              <a:buClr>
                <a:srgbClr val="3D3838"/>
              </a:buClr>
              <a:buSzPts val="1567"/>
              <a:buFont typeface="Arial"/>
              <a:buNone/>
            </a:pPr>
            <a:r>
              <a:rPr b="0" i="0" lang="en-US" sz="1567" u="none" cap="none" strike="noStrike">
                <a:solidFill>
                  <a:srgbClr val="3D3838"/>
                </a:solidFill>
                <a:latin typeface="Arial"/>
                <a:ea typeface="Arial"/>
                <a:cs typeface="Arial"/>
                <a:sym typeface="Arial"/>
              </a:rPr>
              <a:t>Integrate </a:t>
            </a:r>
            <a:r>
              <a:rPr b="0" i="0" lang="en-US" sz="1567" u="sng" cap="none" strike="noStrike">
                <a:solidFill>
                  <a:srgbClr val="3D3838"/>
                </a:solidFill>
                <a:latin typeface="Arial"/>
                <a:ea typeface="Arial"/>
                <a:cs typeface="Arial"/>
                <a:sym typeface="Arial"/>
              </a:rPr>
              <a:t>monitoring and logging tools</a:t>
            </a:r>
            <a:r>
              <a:rPr b="0" i="0" lang="en-US" sz="1567" u="none" cap="none" strike="noStrike">
                <a:solidFill>
                  <a:srgbClr val="3D3838"/>
                </a:solidFill>
                <a:latin typeface="Arial"/>
                <a:ea typeface="Arial"/>
                <a:cs typeface="Arial"/>
                <a:sym typeface="Arial"/>
              </a:rPr>
              <a:t> to track system performance, resource utilization, and potential bottlenecks</a:t>
            </a:r>
            <a:endParaRPr b="0" i="0" sz="1567" u="none" cap="none" strike="noStrike">
              <a:solidFill>
                <a:schemeClr val="dk1"/>
              </a:solidFill>
              <a:latin typeface="Calibri"/>
              <a:ea typeface="Calibri"/>
              <a:cs typeface="Calibri"/>
              <a:sym typeface="Calibri"/>
            </a:endParaRPr>
          </a:p>
        </p:txBody>
      </p:sp>
      <p:sp>
        <p:nvSpPr>
          <p:cNvPr id="358" name="Google Shape;358;p21"/>
          <p:cNvSpPr/>
          <p:nvPr/>
        </p:nvSpPr>
        <p:spPr>
          <a:xfrm>
            <a:off x="3983831" y="7044214"/>
            <a:ext cx="7627620" cy="636508"/>
          </a:xfrm>
          <a:prstGeom prst="rect">
            <a:avLst/>
          </a:prstGeom>
          <a:noFill/>
          <a:ln>
            <a:noFill/>
          </a:ln>
        </p:spPr>
        <p:txBody>
          <a:bodyPr anchorCtr="0" anchor="t" bIns="45700" lIns="91425" spcFirstLastPara="1" rIns="91425" wrap="square" tIns="45700">
            <a:noAutofit/>
          </a:bodyPr>
          <a:lstStyle/>
          <a:p>
            <a:pPr indent="0" lvl="0" marL="0" marR="0" rtl="0" algn="l">
              <a:lnSpc>
                <a:spcPct val="159987"/>
              </a:lnSpc>
              <a:spcBef>
                <a:spcPts val="0"/>
              </a:spcBef>
              <a:spcAft>
                <a:spcPts val="0"/>
              </a:spcAft>
              <a:buClr>
                <a:srgbClr val="3D3838"/>
              </a:buClr>
              <a:buSzPts val="1567"/>
              <a:buFont typeface="Arial"/>
              <a:buNone/>
            </a:pPr>
            <a:r>
              <a:rPr b="0" i="0" lang="en-US" sz="1567" u="none" cap="none" strike="noStrike">
                <a:solidFill>
                  <a:srgbClr val="3D3838"/>
                </a:solidFill>
                <a:latin typeface="Arial"/>
                <a:ea typeface="Arial"/>
                <a:cs typeface="Arial"/>
                <a:sym typeface="Arial"/>
              </a:rPr>
              <a:t>Ensure </a:t>
            </a:r>
            <a:r>
              <a:rPr b="1" i="0" lang="en-US" sz="1567" u="none" cap="none" strike="noStrike">
                <a:solidFill>
                  <a:srgbClr val="3D3838"/>
                </a:solidFill>
                <a:latin typeface="Arial"/>
                <a:ea typeface="Arial"/>
                <a:cs typeface="Arial"/>
                <a:sym typeface="Arial"/>
              </a:rPr>
              <a:t>compatibility with target platforms, browsers, and devices</a:t>
            </a:r>
            <a:r>
              <a:rPr b="0" i="0" lang="en-US" sz="1567" u="none" cap="none" strike="noStrike">
                <a:solidFill>
                  <a:srgbClr val="3D3838"/>
                </a:solidFill>
                <a:latin typeface="Arial"/>
                <a:ea typeface="Arial"/>
                <a:cs typeface="Arial"/>
                <a:sym typeface="Arial"/>
              </a:rPr>
              <a:t> by maintaining a comprehensive test matrix</a:t>
            </a:r>
            <a:endParaRPr b="0" i="0" sz="1567"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2"/>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6" name="Google Shape;366;p22"/>
          <p:cNvPicPr preferRelativeResize="0"/>
          <p:nvPr/>
        </p:nvPicPr>
        <p:blipFill rotWithShape="1">
          <a:blip r:embed="rId3">
            <a:alphaModFix/>
          </a:blip>
          <a:srcRect b="0" l="0" r="0" t="0"/>
          <a:stretch/>
        </p:blipFill>
        <p:spPr>
          <a:xfrm>
            <a:off x="10980420" y="0"/>
            <a:ext cx="3657600" cy="8229600"/>
          </a:xfrm>
          <a:prstGeom prst="rect">
            <a:avLst/>
          </a:prstGeom>
          <a:noFill/>
          <a:ln>
            <a:noFill/>
          </a:ln>
        </p:spPr>
      </p:pic>
      <p:sp>
        <p:nvSpPr>
          <p:cNvPr id="367" name="Google Shape;367;p22"/>
          <p:cNvSpPr/>
          <p:nvPr/>
        </p:nvSpPr>
        <p:spPr>
          <a:xfrm>
            <a:off x="833199" y="991910"/>
            <a:ext cx="8750260"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Test Execution and Monitoring</a:t>
            </a:r>
            <a:endParaRPr b="0" i="0" sz="4374" u="none" cap="none" strike="noStrike">
              <a:solidFill>
                <a:schemeClr val="dk1"/>
              </a:solidFill>
              <a:latin typeface="Calibri"/>
              <a:ea typeface="Calibri"/>
              <a:cs typeface="Calibri"/>
              <a:sym typeface="Calibri"/>
            </a:endParaRPr>
          </a:p>
        </p:txBody>
      </p:sp>
      <p:sp>
        <p:nvSpPr>
          <p:cNvPr id="368" name="Google Shape;368;p22"/>
          <p:cNvSpPr/>
          <p:nvPr/>
        </p:nvSpPr>
        <p:spPr>
          <a:xfrm>
            <a:off x="1144310" y="2019538"/>
            <a:ext cx="44410" cy="5218152"/>
          </a:xfrm>
          <a:prstGeom prst="rect">
            <a:avLst/>
          </a:prstGeom>
          <a:solidFill>
            <a:srgbClr val="CAC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2"/>
          <p:cNvSpPr/>
          <p:nvPr/>
        </p:nvSpPr>
        <p:spPr>
          <a:xfrm>
            <a:off x="1416427" y="2420838"/>
            <a:ext cx="777597" cy="44410"/>
          </a:xfrm>
          <a:prstGeom prst="rect">
            <a:avLst/>
          </a:prstGeom>
          <a:solidFill>
            <a:srgbClr val="CAC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2"/>
          <p:cNvSpPr/>
          <p:nvPr/>
        </p:nvSpPr>
        <p:spPr>
          <a:xfrm>
            <a:off x="916484" y="2193131"/>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2"/>
          <p:cNvSpPr/>
          <p:nvPr/>
        </p:nvSpPr>
        <p:spPr>
          <a:xfrm>
            <a:off x="1102697" y="2234803"/>
            <a:ext cx="127397"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1</a:t>
            </a:r>
            <a:endParaRPr b="0" i="0" sz="2624" u="none" cap="none" strike="noStrike">
              <a:solidFill>
                <a:schemeClr val="dk1"/>
              </a:solidFill>
              <a:latin typeface="Calibri"/>
              <a:ea typeface="Calibri"/>
              <a:cs typeface="Calibri"/>
              <a:sym typeface="Calibri"/>
            </a:endParaRPr>
          </a:p>
        </p:txBody>
      </p:sp>
      <p:sp>
        <p:nvSpPr>
          <p:cNvPr id="372" name="Google Shape;372;p22"/>
          <p:cNvSpPr/>
          <p:nvPr/>
        </p:nvSpPr>
        <p:spPr>
          <a:xfrm>
            <a:off x="2388513" y="2241709"/>
            <a:ext cx="277749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Preparation</a:t>
            </a:r>
            <a:endParaRPr b="0" i="0" sz="2187" u="none" cap="none" strike="noStrike">
              <a:solidFill>
                <a:schemeClr val="dk1"/>
              </a:solidFill>
              <a:latin typeface="Calibri"/>
              <a:ea typeface="Calibri"/>
              <a:cs typeface="Calibri"/>
              <a:sym typeface="Calibri"/>
            </a:endParaRPr>
          </a:p>
        </p:txBody>
      </p:sp>
      <p:sp>
        <p:nvSpPr>
          <p:cNvPr id="373" name="Google Shape;373;p22"/>
          <p:cNvSpPr/>
          <p:nvPr/>
        </p:nvSpPr>
        <p:spPr>
          <a:xfrm>
            <a:off x="2388513" y="2722126"/>
            <a:ext cx="7751088" cy="666512"/>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Ensure test environments are set up, test data is available, and all necessary tools and scripts are in place.</a:t>
            </a:r>
            <a:endParaRPr b="0" i="0" sz="1750" u="none" cap="none" strike="noStrike">
              <a:solidFill>
                <a:schemeClr val="dk1"/>
              </a:solidFill>
              <a:latin typeface="Calibri"/>
              <a:ea typeface="Calibri"/>
              <a:cs typeface="Calibri"/>
              <a:sym typeface="Calibri"/>
            </a:endParaRPr>
          </a:p>
        </p:txBody>
      </p:sp>
      <p:sp>
        <p:nvSpPr>
          <p:cNvPr id="374" name="Google Shape;374;p22"/>
          <p:cNvSpPr/>
          <p:nvPr/>
        </p:nvSpPr>
        <p:spPr>
          <a:xfrm>
            <a:off x="1416427" y="4234279"/>
            <a:ext cx="777597" cy="44410"/>
          </a:xfrm>
          <a:prstGeom prst="rect">
            <a:avLst/>
          </a:prstGeom>
          <a:solidFill>
            <a:srgbClr val="CAC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2"/>
          <p:cNvSpPr/>
          <p:nvPr/>
        </p:nvSpPr>
        <p:spPr>
          <a:xfrm>
            <a:off x="916484" y="4006572"/>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2"/>
          <p:cNvSpPr/>
          <p:nvPr/>
        </p:nvSpPr>
        <p:spPr>
          <a:xfrm>
            <a:off x="1069717" y="4048244"/>
            <a:ext cx="193358"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2</a:t>
            </a:r>
            <a:endParaRPr b="0" i="0" sz="2624" u="none" cap="none" strike="noStrike">
              <a:solidFill>
                <a:schemeClr val="dk1"/>
              </a:solidFill>
              <a:latin typeface="Calibri"/>
              <a:ea typeface="Calibri"/>
              <a:cs typeface="Calibri"/>
              <a:sym typeface="Calibri"/>
            </a:endParaRPr>
          </a:p>
        </p:txBody>
      </p:sp>
      <p:sp>
        <p:nvSpPr>
          <p:cNvPr id="377" name="Google Shape;377;p22"/>
          <p:cNvSpPr/>
          <p:nvPr/>
        </p:nvSpPr>
        <p:spPr>
          <a:xfrm>
            <a:off x="2388513" y="4055150"/>
            <a:ext cx="277749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Execution</a:t>
            </a:r>
            <a:endParaRPr b="0" i="0" sz="2187" u="none" cap="none" strike="noStrike">
              <a:solidFill>
                <a:schemeClr val="dk1"/>
              </a:solidFill>
              <a:latin typeface="Calibri"/>
              <a:ea typeface="Calibri"/>
              <a:cs typeface="Calibri"/>
              <a:sym typeface="Calibri"/>
            </a:endParaRPr>
          </a:p>
        </p:txBody>
      </p:sp>
      <p:sp>
        <p:nvSpPr>
          <p:cNvPr id="378" name="Google Shape;378;p22"/>
          <p:cNvSpPr/>
          <p:nvPr/>
        </p:nvSpPr>
        <p:spPr>
          <a:xfrm>
            <a:off x="2388513" y="4535567"/>
            <a:ext cx="7751088" cy="666512"/>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Run automated and manual test cases, carefully following test protocols and documenting any deviations or issues.</a:t>
            </a:r>
            <a:endParaRPr b="0" i="0" sz="1750" u="none" cap="none" strike="noStrike">
              <a:solidFill>
                <a:schemeClr val="dk1"/>
              </a:solidFill>
              <a:latin typeface="Calibri"/>
              <a:ea typeface="Calibri"/>
              <a:cs typeface="Calibri"/>
              <a:sym typeface="Calibri"/>
            </a:endParaRPr>
          </a:p>
        </p:txBody>
      </p:sp>
      <p:sp>
        <p:nvSpPr>
          <p:cNvPr id="379" name="Google Shape;379;p22"/>
          <p:cNvSpPr/>
          <p:nvPr/>
        </p:nvSpPr>
        <p:spPr>
          <a:xfrm>
            <a:off x="1416427" y="6047720"/>
            <a:ext cx="777597" cy="44410"/>
          </a:xfrm>
          <a:prstGeom prst="rect">
            <a:avLst/>
          </a:prstGeom>
          <a:solidFill>
            <a:srgbClr val="CAC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2"/>
          <p:cNvSpPr/>
          <p:nvPr/>
        </p:nvSpPr>
        <p:spPr>
          <a:xfrm>
            <a:off x="916484" y="5820013"/>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
          <p:cNvSpPr/>
          <p:nvPr/>
        </p:nvSpPr>
        <p:spPr>
          <a:xfrm>
            <a:off x="1069360" y="5861685"/>
            <a:ext cx="194072"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3</a:t>
            </a:r>
            <a:endParaRPr b="0" i="0" sz="2624" u="none" cap="none" strike="noStrike">
              <a:solidFill>
                <a:schemeClr val="dk1"/>
              </a:solidFill>
              <a:latin typeface="Calibri"/>
              <a:ea typeface="Calibri"/>
              <a:cs typeface="Calibri"/>
              <a:sym typeface="Calibri"/>
            </a:endParaRPr>
          </a:p>
        </p:txBody>
      </p:sp>
      <p:sp>
        <p:nvSpPr>
          <p:cNvPr id="382" name="Google Shape;382;p22"/>
          <p:cNvSpPr/>
          <p:nvPr/>
        </p:nvSpPr>
        <p:spPr>
          <a:xfrm>
            <a:off x="2388513" y="5868591"/>
            <a:ext cx="277749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Monitoring</a:t>
            </a:r>
            <a:endParaRPr b="0" i="0" sz="2187" u="none" cap="none" strike="noStrike">
              <a:solidFill>
                <a:schemeClr val="dk1"/>
              </a:solidFill>
              <a:latin typeface="Calibri"/>
              <a:ea typeface="Calibri"/>
              <a:cs typeface="Calibri"/>
              <a:sym typeface="Calibri"/>
            </a:endParaRPr>
          </a:p>
        </p:txBody>
      </p:sp>
      <p:sp>
        <p:nvSpPr>
          <p:cNvPr id="383" name="Google Shape;383;p22"/>
          <p:cNvSpPr/>
          <p:nvPr/>
        </p:nvSpPr>
        <p:spPr>
          <a:xfrm>
            <a:off x="2388513" y="6349008"/>
            <a:ext cx="7751088" cy="666512"/>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Closely track test progress, monitor system performance, and analyze results to identify any problems or bottlenecks.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3"/>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3"/>
          <p:cNvSpPr/>
          <p:nvPr/>
        </p:nvSpPr>
        <p:spPr>
          <a:xfrm>
            <a:off x="2517696" y="1925717"/>
            <a:ext cx="5849183"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Test Documentation</a:t>
            </a:r>
            <a:endParaRPr b="0" i="0" sz="4374" u="none" cap="none" strike="noStrike">
              <a:solidFill>
                <a:schemeClr val="dk1"/>
              </a:solidFill>
              <a:latin typeface="Calibri"/>
              <a:ea typeface="Calibri"/>
              <a:cs typeface="Calibri"/>
              <a:sym typeface="Calibri"/>
            </a:endParaRPr>
          </a:p>
        </p:txBody>
      </p:sp>
      <p:pic>
        <p:nvPicPr>
          <p:cNvPr descr="preencoded.png" id="392" name="Google Shape;392;p23"/>
          <p:cNvPicPr preferRelativeResize="0"/>
          <p:nvPr/>
        </p:nvPicPr>
        <p:blipFill rotWithShape="1">
          <a:blip r:embed="rId3">
            <a:alphaModFix/>
          </a:blip>
          <a:srcRect b="0" l="0" r="0" t="0"/>
          <a:stretch/>
        </p:blipFill>
        <p:spPr>
          <a:xfrm>
            <a:off x="2517696" y="3064431"/>
            <a:ext cx="537091" cy="537091"/>
          </a:xfrm>
          <a:prstGeom prst="rect">
            <a:avLst/>
          </a:prstGeom>
          <a:noFill/>
          <a:ln>
            <a:noFill/>
          </a:ln>
        </p:spPr>
      </p:pic>
      <p:sp>
        <p:nvSpPr>
          <p:cNvPr id="393" name="Google Shape;393;p23"/>
          <p:cNvSpPr/>
          <p:nvPr/>
        </p:nvSpPr>
        <p:spPr>
          <a:xfrm>
            <a:off x="2517696" y="3823692"/>
            <a:ext cx="2148721"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Test Plans</a:t>
            </a:r>
            <a:endParaRPr b="0" i="0" sz="2187" u="none" cap="none" strike="noStrike">
              <a:solidFill>
                <a:schemeClr val="dk1"/>
              </a:solidFill>
              <a:latin typeface="Calibri"/>
              <a:ea typeface="Calibri"/>
              <a:cs typeface="Calibri"/>
              <a:sym typeface="Calibri"/>
            </a:endParaRPr>
          </a:p>
        </p:txBody>
      </p:sp>
      <p:sp>
        <p:nvSpPr>
          <p:cNvPr id="394" name="Google Shape;394;p23"/>
          <p:cNvSpPr/>
          <p:nvPr/>
        </p:nvSpPr>
        <p:spPr>
          <a:xfrm>
            <a:off x="2517696" y="4304109"/>
            <a:ext cx="2148721" cy="199953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Comprehensive documentation of testing strategies, scope, and objectives to guide the testing process.</a:t>
            </a:r>
            <a:endParaRPr b="0" i="0" sz="1750" u="none" cap="none" strike="noStrike">
              <a:solidFill>
                <a:schemeClr val="dk1"/>
              </a:solidFill>
              <a:latin typeface="Calibri"/>
              <a:ea typeface="Calibri"/>
              <a:cs typeface="Calibri"/>
              <a:sym typeface="Calibri"/>
            </a:endParaRPr>
          </a:p>
        </p:txBody>
      </p:sp>
      <p:pic>
        <p:nvPicPr>
          <p:cNvPr descr="preencoded.png" id="395" name="Google Shape;395;p23"/>
          <p:cNvPicPr preferRelativeResize="0"/>
          <p:nvPr/>
        </p:nvPicPr>
        <p:blipFill rotWithShape="1">
          <a:blip r:embed="rId4">
            <a:alphaModFix/>
          </a:blip>
          <a:srcRect b="0" l="0" r="0" t="0"/>
          <a:stretch/>
        </p:blipFill>
        <p:spPr>
          <a:xfrm>
            <a:off x="4999673" y="3064431"/>
            <a:ext cx="537210" cy="537210"/>
          </a:xfrm>
          <a:prstGeom prst="rect">
            <a:avLst/>
          </a:prstGeom>
          <a:noFill/>
          <a:ln>
            <a:noFill/>
          </a:ln>
        </p:spPr>
      </p:pic>
      <p:sp>
        <p:nvSpPr>
          <p:cNvPr id="396" name="Google Shape;396;p23"/>
          <p:cNvSpPr/>
          <p:nvPr/>
        </p:nvSpPr>
        <p:spPr>
          <a:xfrm>
            <a:off x="4999673" y="3823811"/>
            <a:ext cx="214884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Test Cases</a:t>
            </a:r>
            <a:endParaRPr b="0" i="0" sz="2187" u="none" cap="none" strike="noStrike">
              <a:solidFill>
                <a:schemeClr val="dk1"/>
              </a:solidFill>
              <a:latin typeface="Calibri"/>
              <a:ea typeface="Calibri"/>
              <a:cs typeface="Calibri"/>
              <a:sym typeface="Calibri"/>
            </a:endParaRPr>
          </a:p>
        </p:txBody>
      </p:sp>
      <p:sp>
        <p:nvSpPr>
          <p:cNvPr id="397" name="Google Shape;397;p23"/>
          <p:cNvSpPr/>
          <p:nvPr/>
        </p:nvSpPr>
        <p:spPr>
          <a:xfrm>
            <a:off x="4999673" y="4304228"/>
            <a:ext cx="2148840" cy="1666280"/>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Detailed specifications and steps for executing individual test scenarios, with expected results.</a:t>
            </a:r>
            <a:endParaRPr b="0" i="0" sz="1750" u="none" cap="none" strike="noStrike">
              <a:solidFill>
                <a:schemeClr val="dk1"/>
              </a:solidFill>
              <a:latin typeface="Calibri"/>
              <a:ea typeface="Calibri"/>
              <a:cs typeface="Calibri"/>
              <a:sym typeface="Calibri"/>
            </a:endParaRPr>
          </a:p>
        </p:txBody>
      </p:sp>
      <p:pic>
        <p:nvPicPr>
          <p:cNvPr descr="preencoded.png" id="398" name="Google Shape;398;p23"/>
          <p:cNvPicPr preferRelativeResize="0"/>
          <p:nvPr/>
        </p:nvPicPr>
        <p:blipFill rotWithShape="1">
          <a:blip r:embed="rId5">
            <a:alphaModFix/>
          </a:blip>
          <a:srcRect b="0" l="0" r="0" t="0"/>
          <a:stretch/>
        </p:blipFill>
        <p:spPr>
          <a:xfrm>
            <a:off x="7481768" y="3064431"/>
            <a:ext cx="537091" cy="537091"/>
          </a:xfrm>
          <a:prstGeom prst="rect">
            <a:avLst/>
          </a:prstGeom>
          <a:noFill/>
          <a:ln>
            <a:noFill/>
          </a:ln>
        </p:spPr>
      </p:pic>
      <p:sp>
        <p:nvSpPr>
          <p:cNvPr id="399" name="Google Shape;399;p23"/>
          <p:cNvSpPr/>
          <p:nvPr/>
        </p:nvSpPr>
        <p:spPr>
          <a:xfrm>
            <a:off x="7481768" y="3823692"/>
            <a:ext cx="2148721"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Test Reports</a:t>
            </a:r>
            <a:endParaRPr b="0" i="0" sz="2187" u="none" cap="none" strike="noStrike">
              <a:solidFill>
                <a:schemeClr val="dk1"/>
              </a:solidFill>
              <a:latin typeface="Calibri"/>
              <a:ea typeface="Calibri"/>
              <a:cs typeface="Calibri"/>
              <a:sym typeface="Calibri"/>
            </a:endParaRPr>
          </a:p>
        </p:txBody>
      </p:sp>
      <p:sp>
        <p:nvSpPr>
          <p:cNvPr id="400" name="Google Shape;400;p23"/>
          <p:cNvSpPr/>
          <p:nvPr/>
        </p:nvSpPr>
        <p:spPr>
          <a:xfrm>
            <a:off x="7481768" y="4304109"/>
            <a:ext cx="2148721" cy="199953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Consolidated documentation of test execution, results, and analysis to track progress and identify issues.</a:t>
            </a:r>
            <a:endParaRPr b="0" i="0" sz="1750" u="none" cap="none" strike="noStrike">
              <a:solidFill>
                <a:schemeClr val="dk1"/>
              </a:solidFill>
              <a:latin typeface="Calibri"/>
              <a:ea typeface="Calibri"/>
              <a:cs typeface="Calibri"/>
              <a:sym typeface="Calibri"/>
            </a:endParaRPr>
          </a:p>
        </p:txBody>
      </p:sp>
      <p:pic>
        <p:nvPicPr>
          <p:cNvPr descr="preencoded.png" id="401" name="Google Shape;401;p23"/>
          <p:cNvPicPr preferRelativeResize="0"/>
          <p:nvPr/>
        </p:nvPicPr>
        <p:blipFill rotWithShape="1">
          <a:blip r:embed="rId6">
            <a:alphaModFix/>
          </a:blip>
          <a:srcRect b="0" l="0" r="0" t="0"/>
          <a:stretch/>
        </p:blipFill>
        <p:spPr>
          <a:xfrm>
            <a:off x="9963745" y="3064431"/>
            <a:ext cx="537210" cy="537210"/>
          </a:xfrm>
          <a:prstGeom prst="rect">
            <a:avLst/>
          </a:prstGeom>
          <a:noFill/>
          <a:ln>
            <a:noFill/>
          </a:ln>
        </p:spPr>
      </p:pic>
      <p:sp>
        <p:nvSpPr>
          <p:cNvPr id="402" name="Google Shape;402;p23"/>
          <p:cNvSpPr/>
          <p:nvPr/>
        </p:nvSpPr>
        <p:spPr>
          <a:xfrm>
            <a:off x="9963745" y="3823811"/>
            <a:ext cx="214884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Test Logs</a:t>
            </a:r>
            <a:endParaRPr b="0" i="0" sz="2187" u="none" cap="none" strike="noStrike">
              <a:solidFill>
                <a:schemeClr val="dk1"/>
              </a:solidFill>
              <a:latin typeface="Calibri"/>
              <a:ea typeface="Calibri"/>
              <a:cs typeface="Calibri"/>
              <a:sym typeface="Calibri"/>
            </a:endParaRPr>
          </a:p>
        </p:txBody>
      </p:sp>
      <p:sp>
        <p:nvSpPr>
          <p:cNvPr id="403" name="Google Shape;403;p23"/>
          <p:cNvSpPr/>
          <p:nvPr/>
        </p:nvSpPr>
        <p:spPr>
          <a:xfrm>
            <a:off x="9963745" y="4304228"/>
            <a:ext cx="2148840" cy="199953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Thorough records of all testing activities, including any deviations, defects, and environmental details.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4"/>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4"/>
          <p:cNvSpPr/>
          <p:nvPr/>
        </p:nvSpPr>
        <p:spPr>
          <a:xfrm>
            <a:off x="2517696" y="765453"/>
            <a:ext cx="9369504"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Debugging and Troubleshooting</a:t>
            </a:r>
            <a:endParaRPr b="0" i="0" sz="4374" u="none" cap="none" strike="noStrike">
              <a:solidFill>
                <a:schemeClr val="dk1"/>
              </a:solidFill>
              <a:latin typeface="Calibri"/>
              <a:ea typeface="Calibri"/>
              <a:cs typeface="Calibri"/>
              <a:sym typeface="Calibri"/>
            </a:endParaRPr>
          </a:p>
        </p:txBody>
      </p:sp>
      <p:sp>
        <p:nvSpPr>
          <p:cNvPr id="412" name="Google Shape;412;p24"/>
          <p:cNvSpPr/>
          <p:nvPr/>
        </p:nvSpPr>
        <p:spPr>
          <a:xfrm>
            <a:off x="2517696" y="2015252"/>
            <a:ext cx="1992154"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Systematic Approach</a:t>
            </a:r>
            <a:endParaRPr b="0" i="0" sz="2187" u="none" cap="none" strike="noStrike">
              <a:solidFill>
                <a:schemeClr val="dk1"/>
              </a:solidFill>
              <a:latin typeface="Calibri"/>
              <a:ea typeface="Calibri"/>
              <a:cs typeface="Calibri"/>
              <a:sym typeface="Calibri"/>
            </a:endParaRPr>
          </a:p>
        </p:txBody>
      </p:sp>
      <p:sp>
        <p:nvSpPr>
          <p:cNvPr id="413" name="Google Shape;413;p24"/>
          <p:cNvSpPr/>
          <p:nvPr/>
        </p:nvSpPr>
        <p:spPr>
          <a:xfrm>
            <a:off x="2517696" y="2931795"/>
            <a:ext cx="1992154" cy="3332559"/>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Adopt a structured process to identify and resolve software issues. Start with gathering relevant information, then isolate the problem, and systematically test potential solutions.</a:t>
            </a:r>
            <a:endParaRPr b="0" i="0" sz="1750" u="none" cap="none" strike="noStrike">
              <a:solidFill>
                <a:schemeClr val="dk1"/>
              </a:solidFill>
              <a:latin typeface="Calibri"/>
              <a:ea typeface="Calibri"/>
              <a:cs typeface="Calibri"/>
              <a:sym typeface="Calibri"/>
            </a:endParaRPr>
          </a:p>
        </p:txBody>
      </p:sp>
      <p:sp>
        <p:nvSpPr>
          <p:cNvPr id="414" name="Google Shape;414;p24"/>
          <p:cNvSpPr/>
          <p:nvPr/>
        </p:nvSpPr>
        <p:spPr>
          <a:xfrm>
            <a:off x="5059442" y="2015252"/>
            <a:ext cx="1992154"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Logging and Monitoring</a:t>
            </a:r>
            <a:endParaRPr b="0" i="0" sz="2187" u="none" cap="none" strike="noStrike">
              <a:solidFill>
                <a:schemeClr val="dk1"/>
              </a:solidFill>
              <a:latin typeface="Calibri"/>
              <a:ea typeface="Calibri"/>
              <a:cs typeface="Calibri"/>
              <a:sym typeface="Calibri"/>
            </a:endParaRPr>
          </a:p>
        </p:txBody>
      </p:sp>
      <p:sp>
        <p:nvSpPr>
          <p:cNvPr id="415" name="Google Shape;415;p24"/>
          <p:cNvSpPr/>
          <p:nvPr/>
        </p:nvSpPr>
        <p:spPr>
          <a:xfrm>
            <a:off x="5059442" y="2931795"/>
            <a:ext cx="1992154" cy="3999071"/>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Leverage comprehensive logging and monitoring tools to capture detailed data about application behavior, system performance, and error conditions. This provides valuable insights during the debugging process.</a:t>
            </a:r>
            <a:endParaRPr b="0" i="0" sz="1750" u="none" cap="none" strike="noStrike">
              <a:solidFill>
                <a:schemeClr val="dk1"/>
              </a:solidFill>
              <a:latin typeface="Calibri"/>
              <a:ea typeface="Calibri"/>
              <a:cs typeface="Calibri"/>
              <a:sym typeface="Calibri"/>
            </a:endParaRPr>
          </a:p>
        </p:txBody>
      </p:sp>
      <p:sp>
        <p:nvSpPr>
          <p:cNvPr id="416" name="Google Shape;416;p24"/>
          <p:cNvSpPr/>
          <p:nvPr/>
        </p:nvSpPr>
        <p:spPr>
          <a:xfrm>
            <a:off x="7601188" y="2015252"/>
            <a:ext cx="1992154"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Reproducibility</a:t>
            </a:r>
            <a:endParaRPr b="0" i="0" sz="2187" u="none" cap="none" strike="noStrike">
              <a:solidFill>
                <a:schemeClr val="dk1"/>
              </a:solidFill>
              <a:latin typeface="Calibri"/>
              <a:ea typeface="Calibri"/>
              <a:cs typeface="Calibri"/>
              <a:sym typeface="Calibri"/>
            </a:endParaRPr>
          </a:p>
        </p:txBody>
      </p:sp>
      <p:sp>
        <p:nvSpPr>
          <p:cNvPr id="417" name="Google Shape;417;p24"/>
          <p:cNvSpPr/>
          <p:nvPr/>
        </p:nvSpPr>
        <p:spPr>
          <a:xfrm>
            <a:off x="7601188" y="2931795"/>
            <a:ext cx="1992154" cy="3999071"/>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Ensure that you can consistently reproduce the issue to understand its root cause. Carefully document the steps to recreate the problem, including specific inputs, environmental factors, and user actions.</a:t>
            </a:r>
            <a:endParaRPr b="0" i="0" sz="1750" u="none" cap="none" strike="noStrike">
              <a:solidFill>
                <a:schemeClr val="dk1"/>
              </a:solidFill>
              <a:latin typeface="Calibri"/>
              <a:ea typeface="Calibri"/>
              <a:cs typeface="Calibri"/>
              <a:sym typeface="Calibri"/>
            </a:endParaRPr>
          </a:p>
        </p:txBody>
      </p:sp>
      <p:sp>
        <p:nvSpPr>
          <p:cNvPr id="418" name="Google Shape;418;p24"/>
          <p:cNvSpPr/>
          <p:nvPr/>
        </p:nvSpPr>
        <p:spPr>
          <a:xfrm>
            <a:off x="10142934" y="2015252"/>
            <a:ext cx="1992154"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Collaborative Debugging</a:t>
            </a:r>
            <a:endParaRPr b="0" i="0" sz="2187" u="none" cap="none" strike="noStrike">
              <a:solidFill>
                <a:schemeClr val="dk1"/>
              </a:solidFill>
              <a:latin typeface="Calibri"/>
              <a:ea typeface="Calibri"/>
              <a:cs typeface="Calibri"/>
              <a:sym typeface="Calibri"/>
            </a:endParaRPr>
          </a:p>
        </p:txBody>
      </p:sp>
      <p:sp>
        <p:nvSpPr>
          <p:cNvPr id="419" name="Google Shape;419;p24"/>
          <p:cNvSpPr/>
          <p:nvPr/>
        </p:nvSpPr>
        <p:spPr>
          <a:xfrm>
            <a:off x="10142934" y="2931795"/>
            <a:ext cx="1992154" cy="4332327"/>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Engage cross-functional teams, including developers, testers, and subject matter experts, to collectively analyze the problem and explore potential solutions. Diverse perspectives often lead to faster issue resolution.</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5"/>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5"/>
          <p:cNvSpPr/>
          <p:nvPr/>
        </p:nvSpPr>
        <p:spPr>
          <a:xfrm>
            <a:off x="2655808" y="593527"/>
            <a:ext cx="8428196" cy="674251"/>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000000"/>
              </a:buClr>
              <a:buSzPts val="4248"/>
              <a:buFont typeface="Montserrat"/>
              <a:buNone/>
            </a:pPr>
            <a:r>
              <a:rPr b="1" i="0" lang="en-US" sz="4248" u="none" cap="none" strike="noStrike">
                <a:solidFill>
                  <a:srgbClr val="000000"/>
                </a:solidFill>
                <a:latin typeface="Montserrat"/>
                <a:ea typeface="Montserrat"/>
                <a:cs typeface="Montserrat"/>
                <a:sym typeface="Montserrat"/>
              </a:rPr>
              <a:t>Testing Tools and Frameworks</a:t>
            </a:r>
            <a:endParaRPr b="0" i="0" sz="4248" u="none" cap="none" strike="noStrike">
              <a:solidFill>
                <a:schemeClr val="dk1"/>
              </a:solidFill>
              <a:latin typeface="Calibri"/>
              <a:ea typeface="Calibri"/>
              <a:cs typeface="Calibri"/>
              <a:sym typeface="Calibri"/>
            </a:endParaRPr>
          </a:p>
        </p:txBody>
      </p:sp>
      <p:pic>
        <p:nvPicPr>
          <p:cNvPr descr="preencoded.png" id="428" name="Google Shape;428;p25"/>
          <p:cNvPicPr preferRelativeResize="0"/>
          <p:nvPr/>
        </p:nvPicPr>
        <p:blipFill rotWithShape="1">
          <a:blip r:embed="rId3">
            <a:alphaModFix/>
          </a:blip>
          <a:srcRect b="0" l="0" r="0" t="0"/>
          <a:stretch/>
        </p:blipFill>
        <p:spPr>
          <a:xfrm>
            <a:off x="2655808" y="1699379"/>
            <a:ext cx="2086928" cy="1289804"/>
          </a:xfrm>
          <a:prstGeom prst="rect">
            <a:avLst/>
          </a:prstGeom>
          <a:noFill/>
          <a:ln>
            <a:noFill/>
          </a:ln>
        </p:spPr>
      </p:pic>
      <p:sp>
        <p:nvSpPr>
          <p:cNvPr id="429" name="Google Shape;429;p25"/>
          <p:cNvSpPr/>
          <p:nvPr/>
        </p:nvSpPr>
        <p:spPr>
          <a:xfrm>
            <a:off x="2655808" y="3258860"/>
            <a:ext cx="2086928" cy="1011555"/>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000000"/>
              </a:buClr>
              <a:buSzPts val="2124"/>
              <a:buFont typeface="Montserrat"/>
              <a:buNone/>
            </a:pPr>
            <a:r>
              <a:rPr b="1" i="0" lang="en-US" sz="2124" u="none" cap="none" strike="noStrike">
                <a:solidFill>
                  <a:srgbClr val="000000"/>
                </a:solidFill>
                <a:latin typeface="Montserrat"/>
                <a:ea typeface="Montserrat"/>
                <a:cs typeface="Montserrat"/>
                <a:sym typeface="Montserrat"/>
              </a:rPr>
              <a:t>Test Automation Frameworks</a:t>
            </a:r>
            <a:endParaRPr b="0" i="0" sz="2124" u="none" cap="none" strike="noStrike">
              <a:solidFill>
                <a:schemeClr val="dk1"/>
              </a:solidFill>
              <a:latin typeface="Calibri"/>
              <a:ea typeface="Calibri"/>
              <a:cs typeface="Calibri"/>
              <a:sym typeface="Calibri"/>
            </a:endParaRPr>
          </a:p>
        </p:txBody>
      </p:sp>
      <p:sp>
        <p:nvSpPr>
          <p:cNvPr id="430" name="Google Shape;430;p25"/>
          <p:cNvSpPr/>
          <p:nvPr/>
        </p:nvSpPr>
        <p:spPr>
          <a:xfrm>
            <a:off x="2655808" y="4399836"/>
            <a:ext cx="2086928" cy="3236119"/>
          </a:xfrm>
          <a:prstGeom prst="rect">
            <a:avLst/>
          </a:prstGeom>
          <a:noFill/>
          <a:ln>
            <a:noFill/>
          </a:ln>
        </p:spPr>
        <p:txBody>
          <a:bodyPr anchorCtr="0" anchor="t" bIns="45700" lIns="91425" spcFirstLastPara="1" rIns="91425" wrap="square" tIns="45700">
            <a:noAutofit/>
          </a:bodyPr>
          <a:lstStyle/>
          <a:p>
            <a:pPr indent="0" lvl="0" marL="0" marR="0" rtl="0" algn="l">
              <a:lnSpc>
                <a:spcPct val="150029"/>
              </a:lnSpc>
              <a:spcBef>
                <a:spcPts val="0"/>
              </a:spcBef>
              <a:spcAft>
                <a:spcPts val="0"/>
              </a:spcAft>
              <a:buClr>
                <a:srgbClr val="3D3838"/>
              </a:buClr>
              <a:buSzPts val="1699"/>
              <a:buFont typeface="Arial"/>
              <a:buNone/>
            </a:pPr>
            <a:r>
              <a:rPr b="0" i="0" lang="en-US" sz="1699" u="none" cap="none" strike="noStrike">
                <a:solidFill>
                  <a:srgbClr val="3D3838"/>
                </a:solidFill>
                <a:latin typeface="Arial"/>
                <a:ea typeface="Arial"/>
                <a:cs typeface="Arial"/>
                <a:sym typeface="Arial"/>
              </a:rPr>
              <a:t>Leverage robust test automation frameworks like Selenium, Cypress, and Playwright to streamline the execution of repetitive test cases and improve overall testing efficiency.</a:t>
            </a:r>
            <a:endParaRPr b="0" i="0" sz="1699" u="none" cap="none" strike="noStrike">
              <a:solidFill>
                <a:schemeClr val="dk1"/>
              </a:solidFill>
              <a:latin typeface="Calibri"/>
              <a:ea typeface="Calibri"/>
              <a:cs typeface="Calibri"/>
              <a:sym typeface="Calibri"/>
            </a:endParaRPr>
          </a:p>
        </p:txBody>
      </p:sp>
      <p:pic>
        <p:nvPicPr>
          <p:cNvPr descr="preencoded.png" id="431" name="Google Shape;431;p25"/>
          <p:cNvPicPr preferRelativeResize="0"/>
          <p:nvPr/>
        </p:nvPicPr>
        <p:blipFill rotWithShape="1">
          <a:blip r:embed="rId4">
            <a:alphaModFix/>
          </a:blip>
          <a:srcRect b="0" l="0" r="0" t="0"/>
          <a:stretch/>
        </p:blipFill>
        <p:spPr>
          <a:xfrm>
            <a:off x="5066348" y="1699379"/>
            <a:ext cx="2087047" cy="1289804"/>
          </a:xfrm>
          <a:prstGeom prst="rect">
            <a:avLst/>
          </a:prstGeom>
          <a:noFill/>
          <a:ln>
            <a:noFill/>
          </a:ln>
        </p:spPr>
      </p:pic>
      <p:sp>
        <p:nvSpPr>
          <p:cNvPr id="432" name="Google Shape;432;p25"/>
          <p:cNvSpPr/>
          <p:nvPr/>
        </p:nvSpPr>
        <p:spPr>
          <a:xfrm>
            <a:off x="5066348" y="3258860"/>
            <a:ext cx="2087047" cy="1011555"/>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000000"/>
              </a:buClr>
              <a:buSzPts val="2124"/>
              <a:buFont typeface="Montserrat"/>
              <a:buNone/>
            </a:pPr>
            <a:r>
              <a:rPr b="1" i="0" lang="en-US" sz="2124" u="none" cap="none" strike="noStrike">
                <a:solidFill>
                  <a:srgbClr val="000000"/>
                </a:solidFill>
                <a:latin typeface="Montserrat"/>
                <a:ea typeface="Montserrat"/>
                <a:cs typeface="Montserrat"/>
                <a:sym typeface="Montserrat"/>
              </a:rPr>
              <a:t>Test Management Tools</a:t>
            </a:r>
            <a:endParaRPr b="0" i="0" sz="2124" u="none" cap="none" strike="noStrike">
              <a:solidFill>
                <a:schemeClr val="dk1"/>
              </a:solidFill>
              <a:latin typeface="Calibri"/>
              <a:ea typeface="Calibri"/>
              <a:cs typeface="Calibri"/>
              <a:sym typeface="Calibri"/>
            </a:endParaRPr>
          </a:p>
        </p:txBody>
      </p:sp>
      <p:sp>
        <p:nvSpPr>
          <p:cNvPr id="433" name="Google Shape;433;p25"/>
          <p:cNvSpPr/>
          <p:nvPr/>
        </p:nvSpPr>
        <p:spPr>
          <a:xfrm>
            <a:off x="5066348" y="4399836"/>
            <a:ext cx="2087047" cy="2912507"/>
          </a:xfrm>
          <a:prstGeom prst="rect">
            <a:avLst/>
          </a:prstGeom>
          <a:noFill/>
          <a:ln>
            <a:noFill/>
          </a:ln>
        </p:spPr>
        <p:txBody>
          <a:bodyPr anchorCtr="0" anchor="t" bIns="45700" lIns="91425" spcFirstLastPara="1" rIns="91425" wrap="square" tIns="45700">
            <a:noAutofit/>
          </a:bodyPr>
          <a:lstStyle/>
          <a:p>
            <a:pPr indent="0" lvl="0" marL="0" marR="0" rtl="0" algn="l">
              <a:lnSpc>
                <a:spcPct val="150029"/>
              </a:lnSpc>
              <a:spcBef>
                <a:spcPts val="0"/>
              </a:spcBef>
              <a:spcAft>
                <a:spcPts val="0"/>
              </a:spcAft>
              <a:buClr>
                <a:srgbClr val="3D3838"/>
              </a:buClr>
              <a:buSzPts val="1699"/>
              <a:buFont typeface="Arial"/>
              <a:buNone/>
            </a:pPr>
            <a:r>
              <a:rPr b="0" i="0" lang="en-US" sz="1699" u="none" cap="none" strike="noStrike">
                <a:solidFill>
                  <a:srgbClr val="3D3838"/>
                </a:solidFill>
                <a:latin typeface="Arial"/>
                <a:ea typeface="Arial"/>
                <a:cs typeface="Arial"/>
                <a:sym typeface="Arial"/>
              </a:rPr>
              <a:t>Utilize integrated test management tools like Jira, TestRail, and qTest to centralize test planning, execution, and reporting, enabling seamless collaboration and traceability.</a:t>
            </a:r>
            <a:endParaRPr b="0" i="0" sz="1699" u="none" cap="none" strike="noStrike">
              <a:solidFill>
                <a:schemeClr val="dk1"/>
              </a:solidFill>
              <a:latin typeface="Calibri"/>
              <a:ea typeface="Calibri"/>
              <a:cs typeface="Calibri"/>
              <a:sym typeface="Calibri"/>
            </a:endParaRPr>
          </a:p>
        </p:txBody>
      </p:sp>
      <p:pic>
        <p:nvPicPr>
          <p:cNvPr descr="preencoded.png" id="434" name="Google Shape;434;p25"/>
          <p:cNvPicPr preferRelativeResize="0"/>
          <p:nvPr/>
        </p:nvPicPr>
        <p:blipFill rotWithShape="1">
          <a:blip r:embed="rId5">
            <a:alphaModFix/>
          </a:blip>
          <a:srcRect b="0" l="0" r="0" t="0"/>
          <a:stretch/>
        </p:blipFill>
        <p:spPr>
          <a:xfrm>
            <a:off x="7477006" y="1699379"/>
            <a:ext cx="2086928" cy="1289804"/>
          </a:xfrm>
          <a:prstGeom prst="rect">
            <a:avLst/>
          </a:prstGeom>
          <a:noFill/>
          <a:ln>
            <a:noFill/>
          </a:ln>
        </p:spPr>
      </p:pic>
      <p:sp>
        <p:nvSpPr>
          <p:cNvPr id="435" name="Google Shape;435;p25"/>
          <p:cNvSpPr/>
          <p:nvPr/>
        </p:nvSpPr>
        <p:spPr>
          <a:xfrm>
            <a:off x="7477006" y="3258860"/>
            <a:ext cx="2086928" cy="1011555"/>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000000"/>
              </a:buClr>
              <a:buSzPts val="2124"/>
              <a:buFont typeface="Montserrat"/>
              <a:buNone/>
            </a:pPr>
            <a:r>
              <a:rPr b="1" i="0" lang="en-US" sz="2124" u="none" cap="none" strike="noStrike">
                <a:solidFill>
                  <a:srgbClr val="000000"/>
                </a:solidFill>
                <a:latin typeface="Montserrat"/>
                <a:ea typeface="Montserrat"/>
                <a:cs typeface="Montserrat"/>
                <a:sym typeface="Montserrat"/>
              </a:rPr>
              <a:t>Performance and Load Testing Tools</a:t>
            </a:r>
            <a:endParaRPr b="0" i="0" sz="2124" u="none" cap="none" strike="noStrike">
              <a:solidFill>
                <a:schemeClr val="dk1"/>
              </a:solidFill>
              <a:latin typeface="Calibri"/>
              <a:ea typeface="Calibri"/>
              <a:cs typeface="Calibri"/>
              <a:sym typeface="Calibri"/>
            </a:endParaRPr>
          </a:p>
        </p:txBody>
      </p:sp>
      <p:sp>
        <p:nvSpPr>
          <p:cNvPr id="436" name="Google Shape;436;p25"/>
          <p:cNvSpPr/>
          <p:nvPr/>
        </p:nvSpPr>
        <p:spPr>
          <a:xfrm>
            <a:off x="7477006" y="4399836"/>
            <a:ext cx="2086928" cy="2912507"/>
          </a:xfrm>
          <a:prstGeom prst="rect">
            <a:avLst/>
          </a:prstGeom>
          <a:noFill/>
          <a:ln>
            <a:noFill/>
          </a:ln>
        </p:spPr>
        <p:txBody>
          <a:bodyPr anchorCtr="0" anchor="t" bIns="45700" lIns="91425" spcFirstLastPara="1" rIns="91425" wrap="square" tIns="45700">
            <a:noAutofit/>
          </a:bodyPr>
          <a:lstStyle/>
          <a:p>
            <a:pPr indent="0" lvl="0" marL="0" marR="0" rtl="0" algn="l">
              <a:lnSpc>
                <a:spcPct val="150029"/>
              </a:lnSpc>
              <a:spcBef>
                <a:spcPts val="0"/>
              </a:spcBef>
              <a:spcAft>
                <a:spcPts val="0"/>
              </a:spcAft>
              <a:buClr>
                <a:srgbClr val="3D3838"/>
              </a:buClr>
              <a:buSzPts val="1699"/>
              <a:buFont typeface="Arial"/>
              <a:buNone/>
            </a:pPr>
            <a:r>
              <a:rPr b="0" i="0" lang="en-US" sz="1699" u="none" cap="none" strike="noStrike">
                <a:solidFill>
                  <a:srgbClr val="3D3838"/>
                </a:solidFill>
                <a:latin typeface="Arial"/>
                <a:ea typeface="Arial"/>
                <a:cs typeface="Arial"/>
                <a:sym typeface="Arial"/>
              </a:rPr>
              <a:t>Adopt specialized performance and load testing tools such as JMeter, Gatling, and LoadRunner to assess application scalability, responsiveness, and capacity under varying user loads.</a:t>
            </a:r>
            <a:endParaRPr b="0" i="0" sz="1699" u="none" cap="none" strike="noStrike">
              <a:solidFill>
                <a:schemeClr val="dk1"/>
              </a:solidFill>
              <a:latin typeface="Calibri"/>
              <a:ea typeface="Calibri"/>
              <a:cs typeface="Calibri"/>
              <a:sym typeface="Calibri"/>
            </a:endParaRPr>
          </a:p>
        </p:txBody>
      </p:sp>
      <p:pic>
        <p:nvPicPr>
          <p:cNvPr descr="preencoded.png" id="437" name="Google Shape;437;p25"/>
          <p:cNvPicPr preferRelativeResize="0"/>
          <p:nvPr/>
        </p:nvPicPr>
        <p:blipFill rotWithShape="1">
          <a:blip r:embed="rId6">
            <a:alphaModFix/>
          </a:blip>
          <a:srcRect b="0" l="0" r="0" t="0"/>
          <a:stretch/>
        </p:blipFill>
        <p:spPr>
          <a:xfrm>
            <a:off x="9887545" y="1699379"/>
            <a:ext cx="2087047" cy="1289804"/>
          </a:xfrm>
          <a:prstGeom prst="rect">
            <a:avLst/>
          </a:prstGeom>
          <a:noFill/>
          <a:ln>
            <a:noFill/>
          </a:ln>
        </p:spPr>
      </p:pic>
      <p:sp>
        <p:nvSpPr>
          <p:cNvPr id="438" name="Google Shape;438;p25"/>
          <p:cNvSpPr/>
          <p:nvPr/>
        </p:nvSpPr>
        <p:spPr>
          <a:xfrm>
            <a:off x="9887545" y="3258860"/>
            <a:ext cx="2087047" cy="67437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000000"/>
              </a:buClr>
              <a:buSzPts val="2124"/>
              <a:buFont typeface="Montserrat"/>
              <a:buNone/>
            </a:pPr>
            <a:r>
              <a:rPr b="1" i="0" lang="en-US" sz="2124" u="none" cap="none" strike="noStrike">
                <a:solidFill>
                  <a:srgbClr val="000000"/>
                </a:solidFill>
                <a:latin typeface="Montserrat"/>
                <a:ea typeface="Montserrat"/>
                <a:cs typeface="Montserrat"/>
                <a:sym typeface="Montserrat"/>
              </a:rPr>
              <a:t>Visual UI Testing Tools</a:t>
            </a:r>
            <a:endParaRPr b="0" i="0" sz="2124" u="none" cap="none" strike="noStrike">
              <a:solidFill>
                <a:schemeClr val="dk1"/>
              </a:solidFill>
              <a:latin typeface="Calibri"/>
              <a:ea typeface="Calibri"/>
              <a:cs typeface="Calibri"/>
              <a:sym typeface="Calibri"/>
            </a:endParaRPr>
          </a:p>
        </p:txBody>
      </p:sp>
      <p:sp>
        <p:nvSpPr>
          <p:cNvPr id="439" name="Google Shape;439;p25"/>
          <p:cNvSpPr/>
          <p:nvPr/>
        </p:nvSpPr>
        <p:spPr>
          <a:xfrm>
            <a:off x="9887545" y="4062651"/>
            <a:ext cx="2087047" cy="2588895"/>
          </a:xfrm>
          <a:prstGeom prst="rect">
            <a:avLst/>
          </a:prstGeom>
          <a:noFill/>
          <a:ln>
            <a:noFill/>
          </a:ln>
        </p:spPr>
        <p:txBody>
          <a:bodyPr anchorCtr="0" anchor="t" bIns="45700" lIns="91425" spcFirstLastPara="1" rIns="91425" wrap="square" tIns="45700">
            <a:noAutofit/>
          </a:bodyPr>
          <a:lstStyle/>
          <a:p>
            <a:pPr indent="0" lvl="0" marL="0" marR="0" rtl="0" algn="l">
              <a:lnSpc>
                <a:spcPct val="150029"/>
              </a:lnSpc>
              <a:spcBef>
                <a:spcPts val="0"/>
              </a:spcBef>
              <a:spcAft>
                <a:spcPts val="0"/>
              </a:spcAft>
              <a:buClr>
                <a:srgbClr val="3D3838"/>
              </a:buClr>
              <a:buSzPts val="1699"/>
              <a:buFont typeface="Arial"/>
              <a:buNone/>
            </a:pPr>
            <a:r>
              <a:rPr b="0" i="0" lang="en-US" sz="1699" u="none" cap="none" strike="noStrike">
                <a:solidFill>
                  <a:srgbClr val="3D3838"/>
                </a:solidFill>
                <a:latin typeface="Arial"/>
                <a:ea typeface="Arial"/>
                <a:cs typeface="Arial"/>
                <a:sym typeface="Arial"/>
              </a:rPr>
              <a:t>Leverage visual testing tools like Applitools, Selenium IDE, and Cypress to automate the verification of user interface elements, layouts, and cross-browser compatibility.</a:t>
            </a:r>
            <a:endParaRPr b="0" i="0" sz="1699"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6"/>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7" name="Google Shape;447;p26"/>
          <p:cNvPicPr preferRelativeResize="0"/>
          <p:nvPr/>
        </p:nvPicPr>
        <p:blipFill rotWithShape="1">
          <a:blip r:embed="rId3">
            <a:alphaModFix/>
          </a:blip>
          <a:srcRect b="0" l="0" r="0" t="0"/>
          <a:stretch/>
        </p:blipFill>
        <p:spPr>
          <a:xfrm>
            <a:off x="9151620" y="0"/>
            <a:ext cx="5486400" cy="8229600"/>
          </a:xfrm>
          <a:prstGeom prst="rect">
            <a:avLst/>
          </a:prstGeom>
          <a:noFill/>
          <a:ln>
            <a:noFill/>
          </a:ln>
        </p:spPr>
      </p:pic>
      <p:sp>
        <p:nvSpPr>
          <p:cNvPr id="448" name="Google Shape;448;p26"/>
          <p:cNvSpPr/>
          <p:nvPr/>
        </p:nvSpPr>
        <p:spPr>
          <a:xfrm>
            <a:off x="833199" y="1795820"/>
            <a:ext cx="7477601" cy="1388745"/>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Effective Communication in Testing</a:t>
            </a:r>
            <a:endParaRPr b="0" i="0" sz="4374" u="none" cap="none" strike="noStrike">
              <a:solidFill>
                <a:schemeClr val="dk1"/>
              </a:solidFill>
              <a:latin typeface="Calibri"/>
              <a:ea typeface="Calibri"/>
              <a:cs typeface="Calibri"/>
              <a:sym typeface="Calibri"/>
            </a:endParaRPr>
          </a:p>
        </p:txBody>
      </p:sp>
      <p:sp>
        <p:nvSpPr>
          <p:cNvPr id="449" name="Google Shape;449;p26"/>
          <p:cNvSpPr/>
          <p:nvPr/>
        </p:nvSpPr>
        <p:spPr>
          <a:xfrm>
            <a:off x="833199" y="3517821"/>
            <a:ext cx="7477601" cy="1333024"/>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Clear and consistent communication is crucial for the success of any software testing initiative. Establishing open dialogues between developers, testers, and stakeholders ensures alignment, facilitates knowledge sharing, and promotes a culture of continuous improvement.</a:t>
            </a:r>
            <a:endParaRPr b="0" i="0" sz="1750" u="none" cap="none" strike="noStrike">
              <a:solidFill>
                <a:schemeClr val="dk1"/>
              </a:solidFill>
              <a:latin typeface="Calibri"/>
              <a:ea typeface="Calibri"/>
              <a:cs typeface="Calibri"/>
              <a:sym typeface="Calibri"/>
            </a:endParaRPr>
          </a:p>
        </p:txBody>
      </p:sp>
      <p:sp>
        <p:nvSpPr>
          <p:cNvPr id="450" name="Google Shape;450;p26"/>
          <p:cNvSpPr/>
          <p:nvPr/>
        </p:nvSpPr>
        <p:spPr>
          <a:xfrm>
            <a:off x="833199" y="5100757"/>
            <a:ext cx="7477601" cy="1333024"/>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Effective communication practices, such as regular status updates, issue reporting, and collaborative problem-solving, help to identify and address testing-related challenges in a timely manner, leading to better software quality and a more efficient development process.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7"/>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8" name="Google Shape;458;p27"/>
          <p:cNvPicPr preferRelativeResize="0"/>
          <p:nvPr/>
        </p:nvPicPr>
        <p:blipFill rotWithShape="1">
          <a:blip r:embed="rId3">
            <a:alphaModFix/>
          </a:blip>
          <a:srcRect b="0" l="0" r="0" t="0"/>
          <a:stretch/>
        </p:blipFill>
        <p:spPr>
          <a:xfrm>
            <a:off x="10980420" y="0"/>
            <a:ext cx="3657600" cy="8229600"/>
          </a:xfrm>
          <a:prstGeom prst="rect">
            <a:avLst/>
          </a:prstGeom>
          <a:noFill/>
          <a:ln>
            <a:noFill/>
          </a:ln>
        </p:spPr>
      </p:pic>
      <p:sp>
        <p:nvSpPr>
          <p:cNvPr id="459" name="Google Shape;459;p27"/>
          <p:cNvSpPr/>
          <p:nvPr/>
        </p:nvSpPr>
        <p:spPr>
          <a:xfrm>
            <a:off x="833199" y="1121569"/>
            <a:ext cx="8843486"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Challenges in Software Testing</a:t>
            </a:r>
            <a:endParaRPr b="0" i="0" sz="4374" u="none" cap="none" strike="noStrike">
              <a:solidFill>
                <a:schemeClr val="dk1"/>
              </a:solidFill>
              <a:latin typeface="Calibri"/>
              <a:ea typeface="Calibri"/>
              <a:cs typeface="Calibri"/>
              <a:sym typeface="Calibri"/>
            </a:endParaRPr>
          </a:p>
        </p:txBody>
      </p:sp>
      <p:sp>
        <p:nvSpPr>
          <p:cNvPr id="460" name="Google Shape;460;p27"/>
          <p:cNvSpPr/>
          <p:nvPr/>
        </p:nvSpPr>
        <p:spPr>
          <a:xfrm>
            <a:off x="833199" y="2326838"/>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7"/>
          <p:cNvSpPr/>
          <p:nvPr/>
        </p:nvSpPr>
        <p:spPr>
          <a:xfrm>
            <a:off x="1019413" y="2368510"/>
            <a:ext cx="127397"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1</a:t>
            </a:r>
            <a:endParaRPr b="0" i="0" sz="2624" u="none" cap="none" strike="noStrike">
              <a:solidFill>
                <a:schemeClr val="dk1"/>
              </a:solidFill>
              <a:latin typeface="Calibri"/>
              <a:ea typeface="Calibri"/>
              <a:cs typeface="Calibri"/>
              <a:sym typeface="Calibri"/>
            </a:endParaRPr>
          </a:p>
        </p:txBody>
      </p:sp>
      <p:sp>
        <p:nvSpPr>
          <p:cNvPr id="462" name="Google Shape;462;p27"/>
          <p:cNvSpPr/>
          <p:nvPr/>
        </p:nvSpPr>
        <p:spPr>
          <a:xfrm>
            <a:off x="1910715" y="2399109"/>
            <a:ext cx="8228886" cy="710803"/>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Keeping up with </a:t>
            </a:r>
            <a:r>
              <a:rPr b="1" i="0" lang="en-US" sz="1750" u="none" cap="none" strike="noStrike">
                <a:solidFill>
                  <a:srgbClr val="3D3838"/>
                </a:solidFill>
                <a:latin typeface="Arial"/>
                <a:ea typeface="Arial"/>
                <a:cs typeface="Arial"/>
                <a:sym typeface="Arial"/>
              </a:rPr>
              <a:t>rapidly evolving technologies and frameworks</a:t>
            </a:r>
            <a:r>
              <a:rPr b="0" i="0" lang="en-US" sz="1750" u="none" cap="none" strike="noStrike">
                <a:solidFill>
                  <a:srgbClr val="3D3838"/>
                </a:solidFill>
                <a:latin typeface="Arial"/>
                <a:ea typeface="Arial"/>
                <a:cs typeface="Arial"/>
                <a:sym typeface="Arial"/>
              </a:rPr>
              <a:t> to ensure comprehensive test coverage</a:t>
            </a:r>
            <a:endParaRPr b="0" i="0" sz="1750" u="none" cap="none" strike="noStrike">
              <a:solidFill>
                <a:schemeClr val="dk1"/>
              </a:solidFill>
              <a:latin typeface="Calibri"/>
              <a:ea typeface="Calibri"/>
              <a:cs typeface="Calibri"/>
              <a:sym typeface="Calibri"/>
            </a:endParaRPr>
          </a:p>
        </p:txBody>
      </p:sp>
      <p:sp>
        <p:nvSpPr>
          <p:cNvPr id="463" name="Google Shape;463;p27"/>
          <p:cNvSpPr/>
          <p:nvPr/>
        </p:nvSpPr>
        <p:spPr>
          <a:xfrm>
            <a:off x="1910715" y="3198733"/>
            <a:ext cx="8228886" cy="710803"/>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Achieving a </a:t>
            </a:r>
            <a:r>
              <a:rPr b="0" i="0" lang="en-US" sz="1750" u="sng" cap="none" strike="noStrike">
                <a:solidFill>
                  <a:srgbClr val="3D3838"/>
                </a:solidFill>
                <a:latin typeface="Arial"/>
                <a:ea typeface="Arial"/>
                <a:cs typeface="Arial"/>
                <a:sym typeface="Arial"/>
              </a:rPr>
              <a:t>balance between manual and automated testing</a:t>
            </a:r>
            <a:r>
              <a:rPr b="0" i="0" lang="en-US" sz="1750" u="none" cap="none" strike="noStrike">
                <a:solidFill>
                  <a:srgbClr val="3D3838"/>
                </a:solidFill>
                <a:latin typeface="Arial"/>
                <a:ea typeface="Arial"/>
                <a:cs typeface="Arial"/>
                <a:sym typeface="Arial"/>
              </a:rPr>
              <a:t> to maximize efficiency and reliability</a:t>
            </a:r>
            <a:endParaRPr b="0" i="0" sz="1750" u="none" cap="none" strike="noStrike">
              <a:solidFill>
                <a:schemeClr val="dk1"/>
              </a:solidFill>
              <a:latin typeface="Calibri"/>
              <a:ea typeface="Calibri"/>
              <a:cs typeface="Calibri"/>
              <a:sym typeface="Calibri"/>
            </a:endParaRPr>
          </a:p>
        </p:txBody>
      </p:sp>
      <p:sp>
        <p:nvSpPr>
          <p:cNvPr id="464" name="Google Shape;464;p27"/>
          <p:cNvSpPr/>
          <p:nvPr/>
        </p:nvSpPr>
        <p:spPr>
          <a:xfrm>
            <a:off x="1910715" y="3998357"/>
            <a:ext cx="8228886" cy="710803"/>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Establishing </a:t>
            </a:r>
            <a:r>
              <a:rPr b="1" i="0" lang="en-US" sz="1750" u="none" cap="none" strike="noStrike">
                <a:solidFill>
                  <a:srgbClr val="3D3838"/>
                </a:solidFill>
                <a:latin typeface="Arial"/>
                <a:ea typeface="Arial"/>
                <a:cs typeface="Arial"/>
                <a:sym typeface="Arial"/>
              </a:rPr>
              <a:t>effective test data management</a:t>
            </a:r>
            <a:r>
              <a:rPr b="0" i="0" lang="en-US" sz="1750" u="none" cap="none" strike="noStrike">
                <a:solidFill>
                  <a:srgbClr val="3D3838"/>
                </a:solidFill>
                <a:latin typeface="Arial"/>
                <a:ea typeface="Arial"/>
                <a:cs typeface="Arial"/>
                <a:sym typeface="Arial"/>
              </a:rPr>
              <a:t> strategies to handle large volumes of complex data</a:t>
            </a:r>
            <a:endParaRPr b="0" i="0" sz="1750" u="none" cap="none" strike="noStrike">
              <a:solidFill>
                <a:schemeClr val="dk1"/>
              </a:solidFill>
              <a:latin typeface="Calibri"/>
              <a:ea typeface="Calibri"/>
              <a:cs typeface="Calibri"/>
              <a:sym typeface="Calibri"/>
            </a:endParaRPr>
          </a:p>
        </p:txBody>
      </p:sp>
      <p:sp>
        <p:nvSpPr>
          <p:cNvPr id="465" name="Google Shape;465;p27"/>
          <p:cNvSpPr/>
          <p:nvPr/>
        </p:nvSpPr>
        <p:spPr>
          <a:xfrm>
            <a:off x="1910715" y="4797981"/>
            <a:ext cx="8228886" cy="710803"/>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Aligning testing efforts with </a:t>
            </a:r>
            <a:r>
              <a:rPr b="0" i="0" lang="en-US" sz="1750" u="sng" cap="none" strike="noStrike">
                <a:solidFill>
                  <a:srgbClr val="3D3838"/>
                </a:solidFill>
                <a:latin typeface="Arial"/>
                <a:ea typeface="Arial"/>
                <a:cs typeface="Arial"/>
                <a:sym typeface="Arial"/>
              </a:rPr>
              <a:t>agile development methodologies</a:t>
            </a:r>
            <a:r>
              <a:rPr b="0" i="0" lang="en-US" sz="1750" u="none" cap="none" strike="noStrike">
                <a:solidFill>
                  <a:srgbClr val="3D3838"/>
                </a:solidFill>
                <a:latin typeface="Arial"/>
                <a:ea typeface="Arial"/>
                <a:cs typeface="Arial"/>
                <a:sym typeface="Arial"/>
              </a:rPr>
              <a:t> and tight project timelines</a:t>
            </a:r>
            <a:endParaRPr b="0" i="0" sz="1750" u="none" cap="none" strike="noStrike">
              <a:solidFill>
                <a:schemeClr val="dk1"/>
              </a:solidFill>
              <a:latin typeface="Calibri"/>
              <a:ea typeface="Calibri"/>
              <a:cs typeface="Calibri"/>
              <a:sym typeface="Calibri"/>
            </a:endParaRPr>
          </a:p>
        </p:txBody>
      </p:sp>
      <p:sp>
        <p:nvSpPr>
          <p:cNvPr id="466" name="Google Shape;466;p27"/>
          <p:cNvSpPr/>
          <p:nvPr/>
        </p:nvSpPr>
        <p:spPr>
          <a:xfrm>
            <a:off x="1910715" y="5597604"/>
            <a:ext cx="8228886" cy="710803"/>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Overcoming </a:t>
            </a:r>
            <a:r>
              <a:rPr b="1" i="0" lang="en-US" sz="1750" u="none" cap="none" strike="noStrike">
                <a:solidFill>
                  <a:srgbClr val="3D3838"/>
                </a:solidFill>
                <a:latin typeface="Arial"/>
                <a:ea typeface="Arial"/>
                <a:cs typeface="Arial"/>
                <a:sym typeface="Arial"/>
              </a:rPr>
              <a:t>organizational silos and communication barriers</a:t>
            </a:r>
            <a:r>
              <a:rPr b="0" i="0" lang="en-US" sz="1750" u="none" cap="none" strike="noStrike">
                <a:solidFill>
                  <a:srgbClr val="3D3838"/>
                </a:solidFill>
                <a:latin typeface="Arial"/>
                <a:ea typeface="Arial"/>
                <a:cs typeface="Arial"/>
                <a:sym typeface="Arial"/>
              </a:rPr>
              <a:t> to foster a collaborative testing culture</a:t>
            </a:r>
            <a:endParaRPr b="0" i="0" sz="1750" u="none" cap="none" strike="noStrike">
              <a:solidFill>
                <a:schemeClr val="dk1"/>
              </a:solidFill>
              <a:latin typeface="Calibri"/>
              <a:ea typeface="Calibri"/>
              <a:cs typeface="Calibri"/>
              <a:sym typeface="Calibri"/>
            </a:endParaRPr>
          </a:p>
        </p:txBody>
      </p:sp>
      <p:sp>
        <p:nvSpPr>
          <p:cNvPr id="467" name="Google Shape;467;p27"/>
          <p:cNvSpPr/>
          <p:nvPr/>
        </p:nvSpPr>
        <p:spPr>
          <a:xfrm>
            <a:off x="1910715" y="6397228"/>
            <a:ext cx="8228886" cy="710803"/>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Ensuring </a:t>
            </a:r>
            <a:r>
              <a:rPr b="0" i="0" lang="en-US" sz="1750" u="sng" cap="none" strike="noStrike">
                <a:solidFill>
                  <a:srgbClr val="3D3838"/>
                </a:solidFill>
                <a:latin typeface="Arial"/>
                <a:ea typeface="Arial"/>
                <a:cs typeface="Arial"/>
                <a:sym typeface="Arial"/>
              </a:rPr>
              <a:t>scalable and reproducible test environments</a:t>
            </a:r>
            <a:r>
              <a:rPr b="0" i="0" lang="en-US" sz="1750" u="none" cap="none" strike="noStrike">
                <a:solidFill>
                  <a:srgbClr val="3D3838"/>
                </a:solidFill>
                <a:latin typeface="Arial"/>
                <a:ea typeface="Arial"/>
                <a:cs typeface="Arial"/>
                <a:sym typeface="Arial"/>
              </a:rPr>
              <a:t> to mimic production-like conditions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28"/>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8"/>
          <p:cNvSpPr/>
          <p:nvPr/>
        </p:nvSpPr>
        <p:spPr>
          <a:xfrm>
            <a:off x="2517696" y="1183481"/>
            <a:ext cx="9594890" cy="1388745"/>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Best Practices in Software Testing</a:t>
            </a:r>
            <a:endParaRPr b="0" i="0" sz="4374" u="none" cap="none" strike="noStrike">
              <a:solidFill>
                <a:schemeClr val="dk1"/>
              </a:solidFill>
              <a:latin typeface="Calibri"/>
              <a:ea typeface="Calibri"/>
              <a:cs typeface="Calibri"/>
              <a:sym typeface="Calibri"/>
            </a:endParaRPr>
          </a:p>
        </p:txBody>
      </p:sp>
      <p:sp>
        <p:nvSpPr>
          <p:cNvPr id="476" name="Google Shape;476;p28"/>
          <p:cNvSpPr/>
          <p:nvPr/>
        </p:nvSpPr>
        <p:spPr>
          <a:xfrm>
            <a:off x="2517696" y="3190161"/>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8"/>
          <p:cNvSpPr/>
          <p:nvPr/>
        </p:nvSpPr>
        <p:spPr>
          <a:xfrm>
            <a:off x="2703909" y="3231833"/>
            <a:ext cx="127397"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1</a:t>
            </a:r>
            <a:endParaRPr b="0" i="0" sz="2624" u="none" cap="none" strike="noStrike">
              <a:solidFill>
                <a:schemeClr val="dk1"/>
              </a:solidFill>
              <a:latin typeface="Calibri"/>
              <a:ea typeface="Calibri"/>
              <a:cs typeface="Calibri"/>
              <a:sym typeface="Calibri"/>
            </a:endParaRPr>
          </a:p>
        </p:txBody>
      </p:sp>
      <p:sp>
        <p:nvSpPr>
          <p:cNvPr id="478" name="Google Shape;478;p28"/>
          <p:cNvSpPr/>
          <p:nvPr/>
        </p:nvSpPr>
        <p:spPr>
          <a:xfrm>
            <a:off x="3239810" y="3266480"/>
            <a:ext cx="277749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Shift-Left Testing</a:t>
            </a:r>
            <a:endParaRPr b="0" i="0" sz="2187" u="none" cap="none" strike="noStrike">
              <a:solidFill>
                <a:schemeClr val="dk1"/>
              </a:solidFill>
              <a:latin typeface="Calibri"/>
              <a:ea typeface="Calibri"/>
              <a:cs typeface="Calibri"/>
              <a:sym typeface="Calibri"/>
            </a:endParaRPr>
          </a:p>
        </p:txBody>
      </p:sp>
      <p:sp>
        <p:nvSpPr>
          <p:cNvPr id="479" name="Google Shape;479;p28"/>
          <p:cNvSpPr/>
          <p:nvPr/>
        </p:nvSpPr>
        <p:spPr>
          <a:xfrm>
            <a:off x="3239810" y="3746897"/>
            <a:ext cx="3964305"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Shift testing activities earlier in the development lifecycle to catch issues sooner and reduce rework.</a:t>
            </a:r>
            <a:endParaRPr b="0" i="0" sz="1750" u="none" cap="none" strike="noStrike">
              <a:solidFill>
                <a:schemeClr val="dk1"/>
              </a:solidFill>
              <a:latin typeface="Calibri"/>
              <a:ea typeface="Calibri"/>
              <a:cs typeface="Calibri"/>
              <a:sym typeface="Calibri"/>
            </a:endParaRPr>
          </a:p>
        </p:txBody>
      </p:sp>
      <p:sp>
        <p:nvSpPr>
          <p:cNvPr id="480" name="Google Shape;480;p28"/>
          <p:cNvSpPr/>
          <p:nvPr/>
        </p:nvSpPr>
        <p:spPr>
          <a:xfrm>
            <a:off x="7426285" y="3190161"/>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8"/>
          <p:cNvSpPr/>
          <p:nvPr/>
        </p:nvSpPr>
        <p:spPr>
          <a:xfrm>
            <a:off x="7579519" y="3231833"/>
            <a:ext cx="193358"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2</a:t>
            </a:r>
            <a:endParaRPr b="0" i="0" sz="2624" u="none" cap="none" strike="noStrike">
              <a:solidFill>
                <a:schemeClr val="dk1"/>
              </a:solidFill>
              <a:latin typeface="Calibri"/>
              <a:ea typeface="Calibri"/>
              <a:cs typeface="Calibri"/>
              <a:sym typeface="Calibri"/>
            </a:endParaRPr>
          </a:p>
        </p:txBody>
      </p:sp>
      <p:sp>
        <p:nvSpPr>
          <p:cNvPr id="482" name="Google Shape;482;p28"/>
          <p:cNvSpPr/>
          <p:nvPr/>
        </p:nvSpPr>
        <p:spPr>
          <a:xfrm>
            <a:off x="8148399" y="3266480"/>
            <a:ext cx="2777490" cy="347186"/>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Test Automation</a:t>
            </a:r>
            <a:endParaRPr b="0" i="0" sz="2187" u="none" cap="none" strike="noStrike">
              <a:solidFill>
                <a:schemeClr val="dk1"/>
              </a:solidFill>
              <a:latin typeface="Calibri"/>
              <a:ea typeface="Calibri"/>
              <a:cs typeface="Calibri"/>
              <a:sym typeface="Calibri"/>
            </a:endParaRPr>
          </a:p>
        </p:txBody>
      </p:sp>
      <p:sp>
        <p:nvSpPr>
          <p:cNvPr id="483" name="Google Shape;483;p28"/>
          <p:cNvSpPr/>
          <p:nvPr/>
        </p:nvSpPr>
        <p:spPr>
          <a:xfrm>
            <a:off x="8148399" y="3746897"/>
            <a:ext cx="3964305"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Automate repetitive tests to improve efficiency, reliability, and coverage across the codebase.</a:t>
            </a:r>
            <a:endParaRPr b="0" i="0" sz="1750" u="none" cap="none" strike="noStrike">
              <a:solidFill>
                <a:schemeClr val="dk1"/>
              </a:solidFill>
              <a:latin typeface="Calibri"/>
              <a:ea typeface="Calibri"/>
              <a:cs typeface="Calibri"/>
              <a:sym typeface="Calibri"/>
            </a:endParaRPr>
          </a:p>
        </p:txBody>
      </p:sp>
      <p:sp>
        <p:nvSpPr>
          <p:cNvPr id="484" name="Google Shape;484;p28"/>
          <p:cNvSpPr/>
          <p:nvPr/>
        </p:nvSpPr>
        <p:spPr>
          <a:xfrm>
            <a:off x="2517696" y="5142428"/>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8"/>
          <p:cNvSpPr/>
          <p:nvPr/>
        </p:nvSpPr>
        <p:spPr>
          <a:xfrm>
            <a:off x="2670572" y="5184100"/>
            <a:ext cx="194072"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3</a:t>
            </a:r>
            <a:endParaRPr b="0" i="0" sz="2624" u="none" cap="none" strike="noStrike">
              <a:solidFill>
                <a:schemeClr val="dk1"/>
              </a:solidFill>
              <a:latin typeface="Calibri"/>
              <a:ea typeface="Calibri"/>
              <a:cs typeface="Calibri"/>
              <a:sym typeface="Calibri"/>
            </a:endParaRPr>
          </a:p>
        </p:txBody>
      </p:sp>
      <p:sp>
        <p:nvSpPr>
          <p:cNvPr id="486" name="Google Shape;486;p28"/>
          <p:cNvSpPr/>
          <p:nvPr/>
        </p:nvSpPr>
        <p:spPr>
          <a:xfrm>
            <a:off x="3239810" y="5218748"/>
            <a:ext cx="3964305"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Continuous Integration and Deployment</a:t>
            </a:r>
            <a:endParaRPr b="0" i="0" sz="2187" u="none" cap="none" strike="noStrike">
              <a:solidFill>
                <a:schemeClr val="dk1"/>
              </a:solidFill>
              <a:latin typeface="Calibri"/>
              <a:ea typeface="Calibri"/>
              <a:cs typeface="Calibri"/>
              <a:sym typeface="Calibri"/>
            </a:endParaRPr>
          </a:p>
        </p:txBody>
      </p:sp>
      <p:sp>
        <p:nvSpPr>
          <p:cNvPr id="487" name="Google Shape;487;p28"/>
          <p:cNvSpPr/>
          <p:nvPr/>
        </p:nvSpPr>
        <p:spPr>
          <a:xfrm>
            <a:off x="3239810" y="6046351"/>
            <a:ext cx="3964305"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Implement CI/CD pipelines to ensure frequent, automated, and reliable software releases.</a:t>
            </a:r>
            <a:endParaRPr b="0" i="0" sz="1750" u="none" cap="none" strike="noStrike">
              <a:solidFill>
                <a:schemeClr val="dk1"/>
              </a:solidFill>
              <a:latin typeface="Calibri"/>
              <a:ea typeface="Calibri"/>
              <a:cs typeface="Calibri"/>
              <a:sym typeface="Calibri"/>
            </a:endParaRPr>
          </a:p>
        </p:txBody>
      </p:sp>
      <p:sp>
        <p:nvSpPr>
          <p:cNvPr id="488" name="Google Shape;488;p28"/>
          <p:cNvSpPr/>
          <p:nvPr/>
        </p:nvSpPr>
        <p:spPr>
          <a:xfrm>
            <a:off x="7426285" y="5142428"/>
            <a:ext cx="499943" cy="499943"/>
          </a:xfrm>
          <a:prstGeom prst="roundRect">
            <a:avLst>
              <a:gd fmla="val 26667" name="adj"/>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8"/>
          <p:cNvSpPr/>
          <p:nvPr/>
        </p:nvSpPr>
        <p:spPr>
          <a:xfrm>
            <a:off x="7563088" y="5184100"/>
            <a:ext cx="226338" cy="416481"/>
          </a:xfrm>
          <a:prstGeom prst="rect">
            <a:avLst/>
          </a:prstGeom>
          <a:noFill/>
          <a:ln>
            <a:noFill/>
          </a:ln>
        </p:spPr>
        <p:txBody>
          <a:bodyPr anchorCtr="0" anchor="t" bIns="45700" lIns="91425" spcFirstLastPara="1" rIns="91425" wrap="square" tIns="45700">
            <a:noAutofit/>
          </a:bodyPr>
          <a:lstStyle/>
          <a:p>
            <a:pPr indent="0" lvl="0" marL="0" marR="0" rtl="0" algn="ctr">
              <a:lnSpc>
                <a:spcPct val="125038"/>
              </a:lnSpc>
              <a:spcBef>
                <a:spcPts val="0"/>
              </a:spcBef>
              <a:spcAft>
                <a:spcPts val="0"/>
              </a:spcAft>
              <a:buClr>
                <a:srgbClr val="000000"/>
              </a:buClr>
              <a:buSzPts val="2624"/>
              <a:buFont typeface="Montserrat"/>
              <a:buNone/>
            </a:pPr>
            <a:r>
              <a:rPr b="1" i="0" lang="en-US" sz="2624" u="none" cap="none" strike="noStrike">
                <a:solidFill>
                  <a:srgbClr val="000000"/>
                </a:solidFill>
                <a:latin typeface="Montserrat"/>
                <a:ea typeface="Montserrat"/>
                <a:cs typeface="Montserrat"/>
                <a:sym typeface="Montserrat"/>
              </a:rPr>
              <a:t>4</a:t>
            </a:r>
            <a:endParaRPr b="0" i="0" sz="2624" u="none" cap="none" strike="noStrike">
              <a:solidFill>
                <a:schemeClr val="dk1"/>
              </a:solidFill>
              <a:latin typeface="Calibri"/>
              <a:ea typeface="Calibri"/>
              <a:cs typeface="Calibri"/>
              <a:sym typeface="Calibri"/>
            </a:endParaRPr>
          </a:p>
        </p:txBody>
      </p:sp>
      <p:sp>
        <p:nvSpPr>
          <p:cNvPr id="490" name="Google Shape;490;p28"/>
          <p:cNvSpPr/>
          <p:nvPr/>
        </p:nvSpPr>
        <p:spPr>
          <a:xfrm>
            <a:off x="8148399" y="5218748"/>
            <a:ext cx="3964305"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Comprehensive Test Planning</a:t>
            </a:r>
            <a:endParaRPr b="0" i="0" sz="2187" u="none" cap="none" strike="noStrike">
              <a:solidFill>
                <a:schemeClr val="dk1"/>
              </a:solidFill>
              <a:latin typeface="Calibri"/>
              <a:ea typeface="Calibri"/>
              <a:cs typeface="Calibri"/>
              <a:sym typeface="Calibri"/>
            </a:endParaRPr>
          </a:p>
        </p:txBody>
      </p:sp>
      <p:sp>
        <p:nvSpPr>
          <p:cNvPr id="491" name="Google Shape;491;p28"/>
          <p:cNvSpPr/>
          <p:nvPr/>
        </p:nvSpPr>
        <p:spPr>
          <a:xfrm>
            <a:off x="8148399" y="6046351"/>
            <a:ext cx="3964305" cy="999768"/>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Develop a detailed test strategy and plan to align testing efforts with business objectives.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9"/>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9"/>
          <p:cNvSpPr/>
          <p:nvPr/>
        </p:nvSpPr>
        <p:spPr>
          <a:xfrm>
            <a:off x="2517696" y="895945"/>
            <a:ext cx="9594890" cy="1388745"/>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4374"/>
              <a:buFont typeface="Montserrat"/>
              <a:buNone/>
            </a:pPr>
            <a:r>
              <a:rPr b="1" i="0" lang="en-US" sz="4374" u="none" cap="none" strike="noStrike">
                <a:solidFill>
                  <a:srgbClr val="000000"/>
                </a:solidFill>
                <a:latin typeface="Montserrat"/>
                <a:ea typeface="Montserrat"/>
                <a:cs typeface="Montserrat"/>
                <a:sym typeface="Montserrat"/>
              </a:rPr>
              <a:t>Continuous Learning and Professional Development</a:t>
            </a:r>
            <a:endParaRPr b="0" i="0" sz="4374" u="none" cap="none" strike="noStrike">
              <a:solidFill>
                <a:schemeClr val="dk1"/>
              </a:solidFill>
              <a:latin typeface="Calibri"/>
              <a:ea typeface="Calibri"/>
              <a:cs typeface="Calibri"/>
              <a:sym typeface="Calibri"/>
            </a:endParaRPr>
          </a:p>
        </p:txBody>
      </p:sp>
      <p:pic>
        <p:nvPicPr>
          <p:cNvPr descr="preencoded.png" id="500" name="Google Shape;500;p29"/>
          <p:cNvPicPr preferRelativeResize="0"/>
          <p:nvPr/>
        </p:nvPicPr>
        <p:blipFill rotWithShape="1">
          <a:blip r:embed="rId3">
            <a:alphaModFix/>
          </a:blip>
          <a:srcRect b="0" l="0" r="0" t="0"/>
          <a:stretch/>
        </p:blipFill>
        <p:spPr>
          <a:xfrm>
            <a:off x="2517696" y="2729032"/>
            <a:ext cx="2398633" cy="888682"/>
          </a:xfrm>
          <a:prstGeom prst="rect">
            <a:avLst/>
          </a:prstGeom>
          <a:noFill/>
          <a:ln>
            <a:noFill/>
          </a:ln>
        </p:spPr>
      </p:pic>
      <p:sp>
        <p:nvSpPr>
          <p:cNvPr id="501" name="Google Shape;501;p29"/>
          <p:cNvSpPr/>
          <p:nvPr/>
        </p:nvSpPr>
        <p:spPr>
          <a:xfrm>
            <a:off x="2739866" y="3950970"/>
            <a:ext cx="1954292"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Identify Skill Gaps</a:t>
            </a:r>
            <a:endParaRPr b="0" i="0" sz="2187" u="none" cap="none" strike="noStrike">
              <a:solidFill>
                <a:schemeClr val="dk1"/>
              </a:solidFill>
              <a:latin typeface="Calibri"/>
              <a:ea typeface="Calibri"/>
              <a:cs typeface="Calibri"/>
              <a:sym typeface="Calibri"/>
            </a:endParaRPr>
          </a:p>
        </p:txBody>
      </p:sp>
      <p:sp>
        <p:nvSpPr>
          <p:cNvPr id="502" name="Google Shape;502;p29"/>
          <p:cNvSpPr/>
          <p:nvPr/>
        </p:nvSpPr>
        <p:spPr>
          <a:xfrm>
            <a:off x="2739866" y="4778573"/>
            <a:ext cx="1954292" cy="199953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Regularly assess your knowledge and skills to pinpoint areas for improvement and growth.</a:t>
            </a:r>
            <a:endParaRPr b="0" i="0" sz="1750" u="none" cap="none" strike="noStrike">
              <a:solidFill>
                <a:schemeClr val="dk1"/>
              </a:solidFill>
              <a:latin typeface="Calibri"/>
              <a:ea typeface="Calibri"/>
              <a:cs typeface="Calibri"/>
              <a:sym typeface="Calibri"/>
            </a:endParaRPr>
          </a:p>
        </p:txBody>
      </p:sp>
      <p:pic>
        <p:nvPicPr>
          <p:cNvPr descr="preencoded.png" id="503" name="Google Shape;503;p29"/>
          <p:cNvPicPr preferRelativeResize="0"/>
          <p:nvPr/>
        </p:nvPicPr>
        <p:blipFill rotWithShape="1">
          <a:blip r:embed="rId4">
            <a:alphaModFix/>
          </a:blip>
          <a:srcRect b="0" l="0" r="0" t="0"/>
          <a:stretch/>
        </p:blipFill>
        <p:spPr>
          <a:xfrm>
            <a:off x="4916329" y="2729032"/>
            <a:ext cx="2398752" cy="888682"/>
          </a:xfrm>
          <a:prstGeom prst="rect">
            <a:avLst/>
          </a:prstGeom>
          <a:noFill/>
          <a:ln>
            <a:noFill/>
          </a:ln>
        </p:spPr>
      </p:pic>
      <p:sp>
        <p:nvSpPr>
          <p:cNvPr id="504" name="Google Shape;504;p29"/>
          <p:cNvSpPr/>
          <p:nvPr/>
        </p:nvSpPr>
        <p:spPr>
          <a:xfrm>
            <a:off x="5138499" y="3950970"/>
            <a:ext cx="1954411"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Seek Out Training</a:t>
            </a:r>
            <a:endParaRPr b="0" i="0" sz="2187" u="none" cap="none" strike="noStrike">
              <a:solidFill>
                <a:schemeClr val="dk1"/>
              </a:solidFill>
              <a:latin typeface="Calibri"/>
              <a:ea typeface="Calibri"/>
              <a:cs typeface="Calibri"/>
              <a:sym typeface="Calibri"/>
            </a:endParaRPr>
          </a:p>
        </p:txBody>
      </p:sp>
      <p:sp>
        <p:nvSpPr>
          <p:cNvPr id="505" name="Google Shape;505;p29"/>
          <p:cNvSpPr/>
          <p:nvPr/>
        </p:nvSpPr>
        <p:spPr>
          <a:xfrm>
            <a:off x="5138499" y="4778573"/>
            <a:ext cx="1954411" cy="2332792"/>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Explore online courses, workshops, certifications, and mentorship opportunities to expand your expertise.</a:t>
            </a:r>
            <a:endParaRPr b="0" i="0" sz="1750" u="none" cap="none" strike="noStrike">
              <a:solidFill>
                <a:schemeClr val="dk1"/>
              </a:solidFill>
              <a:latin typeface="Calibri"/>
              <a:ea typeface="Calibri"/>
              <a:cs typeface="Calibri"/>
              <a:sym typeface="Calibri"/>
            </a:endParaRPr>
          </a:p>
        </p:txBody>
      </p:sp>
      <p:pic>
        <p:nvPicPr>
          <p:cNvPr descr="preencoded.png" id="506" name="Google Shape;506;p29"/>
          <p:cNvPicPr preferRelativeResize="0"/>
          <p:nvPr/>
        </p:nvPicPr>
        <p:blipFill rotWithShape="1">
          <a:blip r:embed="rId5">
            <a:alphaModFix/>
          </a:blip>
          <a:srcRect b="0" l="0" r="0" t="0"/>
          <a:stretch/>
        </p:blipFill>
        <p:spPr>
          <a:xfrm>
            <a:off x="7315081" y="2729032"/>
            <a:ext cx="2398752" cy="888682"/>
          </a:xfrm>
          <a:prstGeom prst="rect">
            <a:avLst/>
          </a:prstGeom>
          <a:noFill/>
          <a:ln>
            <a:noFill/>
          </a:ln>
        </p:spPr>
      </p:pic>
      <p:sp>
        <p:nvSpPr>
          <p:cNvPr id="507" name="Google Shape;507;p29"/>
          <p:cNvSpPr/>
          <p:nvPr/>
        </p:nvSpPr>
        <p:spPr>
          <a:xfrm>
            <a:off x="7537252" y="3950970"/>
            <a:ext cx="1954411"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Apply New Knowledge</a:t>
            </a:r>
            <a:endParaRPr b="0" i="0" sz="2187" u="none" cap="none" strike="noStrike">
              <a:solidFill>
                <a:schemeClr val="dk1"/>
              </a:solidFill>
              <a:latin typeface="Calibri"/>
              <a:ea typeface="Calibri"/>
              <a:cs typeface="Calibri"/>
              <a:sym typeface="Calibri"/>
            </a:endParaRPr>
          </a:p>
        </p:txBody>
      </p:sp>
      <p:sp>
        <p:nvSpPr>
          <p:cNvPr id="508" name="Google Shape;508;p29"/>
          <p:cNvSpPr/>
          <p:nvPr/>
        </p:nvSpPr>
        <p:spPr>
          <a:xfrm>
            <a:off x="7537252" y="4778573"/>
            <a:ext cx="1954411" cy="1999536"/>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Actively apply what you've learned to real-world projects, seeking feedback to further refine your skills.</a:t>
            </a:r>
            <a:endParaRPr b="0" i="0" sz="1750" u="none" cap="none" strike="noStrike">
              <a:solidFill>
                <a:schemeClr val="dk1"/>
              </a:solidFill>
              <a:latin typeface="Calibri"/>
              <a:ea typeface="Calibri"/>
              <a:cs typeface="Calibri"/>
              <a:sym typeface="Calibri"/>
            </a:endParaRPr>
          </a:p>
        </p:txBody>
      </p:sp>
      <p:pic>
        <p:nvPicPr>
          <p:cNvPr descr="preencoded.png" id="509" name="Google Shape;509;p29"/>
          <p:cNvPicPr preferRelativeResize="0"/>
          <p:nvPr/>
        </p:nvPicPr>
        <p:blipFill rotWithShape="1">
          <a:blip r:embed="rId6">
            <a:alphaModFix/>
          </a:blip>
          <a:srcRect b="0" l="0" r="0" t="0"/>
          <a:stretch/>
        </p:blipFill>
        <p:spPr>
          <a:xfrm>
            <a:off x="9713833" y="2729032"/>
            <a:ext cx="2398752" cy="888682"/>
          </a:xfrm>
          <a:prstGeom prst="rect">
            <a:avLst/>
          </a:prstGeom>
          <a:noFill/>
          <a:ln>
            <a:noFill/>
          </a:ln>
        </p:spPr>
      </p:pic>
      <p:sp>
        <p:nvSpPr>
          <p:cNvPr id="510" name="Google Shape;510;p29"/>
          <p:cNvSpPr/>
          <p:nvPr/>
        </p:nvSpPr>
        <p:spPr>
          <a:xfrm>
            <a:off x="9936004" y="3950970"/>
            <a:ext cx="1954411" cy="694373"/>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000000"/>
              </a:buClr>
              <a:buSzPts val="2187"/>
              <a:buFont typeface="Montserrat"/>
              <a:buNone/>
            </a:pPr>
            <a:r>
              <a:rPr b="1" i="0" lang="en-US" sz="2187" u="none" cap="none" strike="noStrike">
                <a:solidFill>
                  <a:srgbClr val="000000"/>
                </a:solidFill>
                <a:latin typeface="Montserrat"/>
                <a:ea typeface="Montserrat"/>
                <a:cs typeface="Montserrat"/>
                <a:sym typeface="Montserrat"/>
              </a:rPr>
              <a:t>Foster Collaboration</a:t>
            </a:r>
            <a:endParaRPr b="0" i="0" sz="2187" u="none" cap="none" strike="noStrike">
              <a:solidFill>
                <a:schemeClr val="dk1"/>
              </a:solidFill>
              <a:latin typeface="Calibri"/>
              <a:ea typeface="Calibri"/>
              <a:cs typeface="Calibri"/>
              <a:sym typeface="Calibri"/>
            </a:endParaRPr>
          </a:p>
        </p:txBody>
      </p:sp>
      <p:sp>
        <p:nvSpPr>
          <p:cNvPr id="511" name="Google Shape;511;p29"/>
          <p:cNvSpPr/>
          <p:nvPr/>
        </p:nvSpPr>
        <p:spPr>
          <a:xfrm>
            <a:off x="9936004" y="4778573"/>
            <a:ext cx="1954411" cy="1666280"/>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Engage with peers and industry experts to stay up-to-date on the latest trends and best practices.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0"/>
          <p:cNvSpPr/>
          <p:nvPr/>
        </p:nvSpPr>
        <p:spPr>
          <a:xfrm>
            <a:off x="0" y="0"/>
            <a:ext cx="14630400" cy="8229600"/>
          </a:xfrm>
          <a:prstGeom prst="rect">
            <a:avLst/>
          </a:pr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9" name="Google Shape;519;p30"/>
          <p:cNvPicPr preferRelativeResize="0"/>
          <p:nvPr/>
        </p:nvPicPr>
        <p:blipFill rotWithShape="1">
          <a:blip r:embed="rId3">
            <a:alphaModFix/>
          </a:blip>
          <a:srcRect b="0" l="0" r="0" t="0"/>
          <a:stretch/>
        </p:blipFill>
        <p:spPr>
          <a:xfrm>
            <a:off x="9151620" y="0"/>
            <a:ext cx="5486400" cy="8229600"/>
          </a:xfrm>
          <a:prstGeom prst="rect">
            <a:avLst/>
          </a:prstGeom>
          <a:noFill/>
          <a:ln>
            <a:noFill/>
          </a:ln>
        </p:spPr>
      </p:pic>
      <p:sp>
        <p:nvSpPr>
          <p:cNvPr id="520" name="Google Shape;520;p30"/>
          <p:cNvSpPr/>
          <p:nvPr/>
        </p:nvSpPr>
        <p:spPr>
          <a:xfrm>
            <a:off x="833199" y="2323386"/>
            <a:ext cx="7477601" cy="191643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000000"/>
              </a:buClr>
              <a:buSzPts val="6036"/>
              <a:buFont typeface="Montserrat"/>
              <a:buNone/>
            </a:pPr>
            <a:r>
              <a:rPr b="1" i="0" lang="en-US" sz="6036" u="none" cap="none" strike="noStrike">
                <a:solidFill>
                  <a:srgbClr val="000000"/>
                </a:solidFill>
                <a:latin typeface="Montserrat"/>
                <a:ea typeface="Montserrat"/>
                <a:cs typeface="Montserrat"/>
                <a:sym typeface="Montserrat"/>
              </a:rPr>
              <a:t>Conclusion and Key Takeaways</a:t>
            </a:r>
            <a:endParaRPr b="0" i="0" sz="6036" u="none" cap="none" strike="noStrike">
              <a:solidFill>
                <a:schemeClr val="dk1"/>
              </a:solidFill>
              <a:latin typeface="Calibri"/>
              <a:ea typeface="Calibri"/>
              <a:cs typeface="Calibri"/>
              <a:sym typeface="Calibri"/>
            </a:endParaRPr>
          </a:p>
        </p:txBody>
      </p:sp>
      <p:sp>
        <p:nvSpPr>
          <p:cNvPr id="521" name="Google Shape;521;p30"/>
          <p:cNvSpPr/>
          <p:nvPr/>
        </p:nvSpPr>
        <p:spPr>
          <a:xfrm>
            <a:off x="833199" y="4573072"/>
            <a:ext cx="7477601" cy="1333024"/>
          </a:xfrm>
          <a:prstGeom prst="rect">
            <a:avLst/>
          </a:prstGeom>
          <a:noFill/>
          <a:ln>
            <a:noFill/>
          </a:ln>
        </p:spPr>
        <p:txBody>
          <a:bodyPr anchorCtr="0" anchor="t" bIns="45700" lIns="91425" spcFirstLastPara="1" rIns="91425" wrap="square" tIns="45700">
            <a:noAutofit/>
          </a:bodyPr>
          <a:lstStyle/>
          <a:p>
            <a:pPr indent="0" lvl="0" marL="0" marR="0" rtl="0" algn="l">
              <a:lnSpc>
                <a:spcPct val="149942"/>
              </a:lnSpc>
              <a:spcBef>
                <a:spcPts val="0"/>
              </a:spcBef>
              <a:spcAft>
                <a:spcPts val="0"/>
              </a:spcAft>
              <a:buClr>
                <a:srgbClr val="3D3838"/>
              </a:buClr>
              <a:buSzPts val="1750"/>
              <a:buFont typeface="Arial"/>
              <a:buNone/>
            </a:pPr>
            <a:r>
              <a:rPr b="0" i="0" lang="en-US" sz="1750" u="none" cap="none" strike="noStrike">
                <a:solidFill>
                  <a:srgbClr val="3D3838"/>
                </a:solidFill>
                <a:latin typeface="Arial"/>
                <a:ea typeface="Arial"/>
                <a:cs typeface="Arial"/>
                <a:sym typeface="Arial"/>
              </a:rPr>
              <a:t>In this comprehensive exploration of software testing essentials, we've uncovered the critical importance of quality assurance. By embracing a culture of continuous learning and applying proven best practices, teams can deliver reliable, high-performing applications that delight users.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2024-05-08T17:24:49Z</dcterms:created>
  <dc:creator>PptxGenJS</dc:creator>
</cp:coreProperties>
</file>