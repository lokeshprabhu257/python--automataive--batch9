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Bell MT"/>
      <p:regular r:id="rId23"/>
      <p:bold r:id="rId24"/>
      <p:italic r:id="rId25"/>
      <p:boldItalic r:id="rId26"/>
    </p:embeddedFont>
    <p:embeddedFont>
      <p:font typeface="Century Gothic"/>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1" roundtripDataSignature="AMtx7mhNdASjMyRRiW7i4rdCiSpQ7Yi7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BellMT-bold.fntdata"/><Relationship Id="rId23" Type="http://schemas.openxmlformats.org/officeDocument/2006/relationships/font" Target="fonts/BellM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ellMT-boldItalic.fntdata"/><Relationship Id="rId25" Type="http://schemas.openxmlformats.org/officeDocument/2006/relationships/font" Target="fonts/BellMT-italic.fntdata"/><Relationship Id="rId28" Type="http://schemas.openxmlformats.org/officeDocument/2006/relationships/font" Target="fonts/CenturyGothic-bold.fntdata"/><Relationship Id="rId27" Type="http://schemas.openxmlformats.org/officeDocument/2006/relationships/font" Target="fonts/CenturyGothic-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f802528ed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f802528e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9"/>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9"/>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9"/>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9"/>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0" name="Shape 30"/>
        <p:cNvGrpSpPr/>
        <p:nvPr/>
      </p:nvGrpSpPr>
      <p:grpSpPr>
        <a:xfrm>
          <a:off x="0" y="0"/>
          <a:ext cx="0" cy="0"/>
          <a:chOff x="0" y="0"/>
          <a:chExt cx="0" cy="0"/>
        </a:xfrm>
      </p:grpSpPr>
      <p:pic>
        <p:nvPicPr>
          <p:cNvPr descr="C0-HD-BTM.png" id="31" name="Google Shape;31;p2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32" name="Google Shape;32;p22"/>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34" name="Google Shape;34;p22"/>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0" name="Google Shape;40;p23"/>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1" name="Google Shape;4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7" name="Google Shape;47;p24"/>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8" name="Google Shape;48;p24"/>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9" name="Google Shape;49;p24"/>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26"/>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6"/>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6" name="Google Shape;56;p26"/>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7" name="Google Shape;57;p2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27"/>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p:nvPr>
            <p:ph idx="2" type="pic"/>
          </p:nvPr>
        </p:nvSpPr>
        <p:spPr>
          <a:xfrm>
            <a:off x="7861238" y="751241"/>
            <a:ext cx="3644962" cy="5467443"/>
          </a:xfrm>
          <a:prstGeom prst="rect">
            <a:avLst/>
          </a:prstGeom>
          <a:noFill/>
          <a:ln>
            <a:noFill/>
          </a:ln>
        </p:spPr>
      </p:sp>
      <p:sp>
        <p:nvSpPr>
          <p:cNvPr id="63" name="Google Shape;63;p27"/>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4" name="Google Shape;64;p2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67" name="Shape 67"/>
        <p:cNvGrpSpPr/>
        <p:nvPr/>
      </p:nvGrpSpPr>
      <p:grpSpPr>
        <a:xfrm>
          <a:off x="0" y="0"/>
          <a:ext cx="0" cy="0"/>
          <a:chOff x="0" y="0"/>
          <a:chExt cx="0" cy="0"/>
        </a:xfrm>
      </p:grpSpPr>
      <p:sp>
        <p:nvSpPr>
          <p:cNvPr id="68" name="Google Shape;68;p28"/>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8"/>
          <p:cNvSpPr/>
          <p:nvPr>
            <p:ph idx="2" type="pic"/>
          </p:nvPr>
        </p:nvSpPr>
        <p:spPr>
          <a:xfrm>
            <a:off x="681727" y="941439"/>
            <a:ext cx="10821840" cy="3478161"/>
          </a:xfrm>
          <a:prstGeom prst="rect">
            <a:avLst/>
          </a:prstGeom>
          <a:noFill/>
          <a:ln>
            <a:noFill/>
          </a:ln>
        </p:spPr>
      </p:sp>
      <p:sp>
        <p:nvSpPr>
          <p:cNvPr id="70" name="Google Shape;70;p28"/>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1" name="Google Shape;71;p2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4" name="Shape 74"/>
        <p:cNvGrpSpPr/>
        <p:nvPr/>
      </p:nvGrpSpPr>
      <p:grpSpPr>
        <a:xfrm>
          <a:off x="0" y="0"/>
          <a:ext cx="0" cy="0"/>
          <a:chOff x="0" y="0"/>
          <a:chExt cx="0" cy="0"/>
        </a:xfrm>
      </p:grpSpPr>
      <p:pic>
        <p:nvPicPr>
          <p:cNvPr descr="C0-HD-BTM.png" id="75" name="Google Shape;75;p29"/>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76" name="Google Shape;76;p29"/>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9"/>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8" name="Google Shape;78;p29"/>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1" name="Shape 81"/>
        <p:cNvGrpSpPr/>
        <p:nvPr/>
      </p:nvGrpSpPr>
      <p:grpSpPr>
        <a:xfrm>
          <a:off x="0" y="0"/>
          <a:ext cx="0" cy="0"/>
          <a:chOff x="0" y="0"/>
          <a:chExt cx="0" cy="0"/>
        </a:xfrm>
      </p:grpSpPr>
      <p:pic>
        <p:nvPicPr>
          <p:cNvPr descr="C0-HD-BTM.png" id="82" name="Google Shape;82;p30"/>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3" name="Google Shape;83;p30"/>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0"/>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5" name="Google Shape;85;p30"/>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6" name="Google Shape;86;p30"/>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0"/>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0"/>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30"/>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0" name="Google Shape;90;p30"/>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transition spd="slow">
    <p:split orient="vert" dir="in"/>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1" name="Shape 91"/>
        <p:cNvGrpSpPr/>
        <p:nvPr/>
      </p:nvGrpSpPr>
      <p:grpSpPr>
        <a:xfrm>
          <a:off x="0" y="0"/>
          <a:ext cx="0" cy="0"/>
          <a:chOff x="0" y="0"/>
          <a:chExt cx="0" cy="0"/>
        </a:xfrm>
      </p:grpSpPr>
      <p:pic>
        <p:nvPicPr>
          <p:cNvPr descr="C0-HD-BTM.png" id="92" name="Google Shape;92;p31"/>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3" name="Google Shape;93;p31"/>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1"/>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5" name="Google Shape;95;p31"/>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1"/>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1"/>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98" name="Shape 98"/>
        <p:cNvGrpSpPr/>
        <p:nvPr/>
      </p:nvGrpSpPr>
      <p:grpSpPr>
        <a:xfrm>
          <a:off x="0" y="0"/>
          <a:ext cx="0" cy="0"/>
          <a:chOff x="0" y="0"/>
          <a:chExt cx="0" cy="0"/>
        </a:xfrm>
      </p:grpSpPr>
      <p:sp>
        <p:nvSpPr>
          <p:cNvPr id="99" name="Google Shape;99;p32"/>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2"/>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1" name="Google Shape;101;p32"/>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2" name="Google Shape;102;p32"/>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32"/>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4" name="Google Shape;104;p32"/>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32"/>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3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09" name="Shape 109"/>
        <p:cNvGrpSpPr/>
        <p:nvPr/>
      </p:nvGrpSpPr>
      <p:grpSpPr>
        <a:xfrm>
          <a:off x="0" y="0"/>
          <a:ext cx="0" cy="0"/>
          <a:chOff x="0" y="0"/>
          <a:chExt cx="0" cy="0"/>
        </a:xfrm>
      </p:grpSpPr>
      <p:sp>
        <p:nvSpPr>
          <p:cNvPr id="110" name="Google Shape;110;p33"/>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3"/>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2" name="Google Shape;112;p33"/>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13" name="Google Shape;113;p33"/>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4" name="Google Shape;114;p33"/>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5" name="Google Shape;115;p33"/>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16" name="Google Shape;116;p33"/>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7" name="Google Shape;117;p33"/>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8" name="Google Shape;118;p33"/>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19" name="Google Shape;119;p33"/>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0" name="Google Shape;120;p3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p3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4"/>
          <p:cNvSpPr txBox="1"/>
          <p:nvPr>
            <p:ph idx="1" type="body"/>
          </p:nvPr>
        </p:nvSpPr>
        <p:spPr>
          <a:xfrm rot="5400000">
            <a:off x="4083938"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6" name="Google Shape;126;p3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9" name="Shape 129"/>
        <p:cNvGrpSpPr/>
        <p:nvPr/>
      </p:nvGrpSpPr>
      <p:grpSpPr>
        <a:xfrm>
          <a:off x="0" y="0"/>
          <a:ext cx="0" cy="0"/>
          <a:chOff x="0" y="0"/>
          <a:chExt cx="0" cy="0"/>
        </a:xfrm>
      </p:grpSpPr>
      <p:pic>
        <p:nvPicPr>
          <p:cNvPr descr="C0-HD-BTM.png" id="130" name="Google Shape;130;p35"/>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1" name="Google Shape;131;p35"/>
          <p:cNvSpPr txBox="1"/>
          <p:nvPr>
            <p:ph type="title"/>
          </p:nvPr>
        </p:nvSpPr>
        <p:spPr>
          <a:xfrm rot="5400000">
            <a:off x="8525934"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5"/>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3" name="Google Shape;133;p35"/>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5"/>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5"/>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split orient="vert" dir="in"/>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8"/>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spd="slow">
    <p:split orient="vert" dir="in"/>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nvSpPr>
        <p:spPr>
          <a:xfrm>
            <a:off x="1317812" y="1874514"/>
            <a:ext cx="89691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FF0000"/>
                </a:solidFill>
                <a:latin typeface="Bell MT"/>
                <a:ea typeface="Bell MT"/>
                <a:cs typeface="Bell MT"/>
                <a:sym typeface="Bell MT"/>
              </a:rPr>
              <a:t> AUTOSAR integrated </a:t>
            </a:r>
            <a:r>
              <a:rPr lang="en-US" sz="4400">
                <a:solidFill>
                  <a:srgbClr val="FF0000"/>
                </a:solidFill>
                <a:latin typeface="Bell MT"/>
                <a:ea typeface="Bell MT"/>
                <a:cs typeface="Bell MT"/>
                <a:sym typeface="Bell MT"/>
              </a:rPr>
              <a:t>with</a:t>
            </a:r>
            <a:r>
              <a:rPr b="0" i="0" lang="en-US" sz="4400" u="none" cap="none" strike="noStrike">
                <a:solidFill>
                  <a:srgbClr val="FF0000"/>
                </a:solidFill>
                <a:latin typeface="Bell MT"/>
                <a:ea typeface="Bell MT"/>
                <a:cs typeface="Bell MT"/>
                <a:sym typeface="Bell MT"/>
              </a:rPr>
              <a:t> </a:t>
            </a:r>
            <a:r>
              <a:rPr lang="en-US" sz="4400">
                <a:solidFill>
                  <a:srgbClr val="FF0000"/>
                </a:solidFill>
                <a:latin typeface="Bell MT"/>
                <a:ea typeface="Bell MT"/>
                <a:cs typeface="Bell MT"/>
                <a:sym typeface="Bell MT"/>
              </a:rPr>
              <a:t>Anti-lock Braking System (ABS)</a:t>
            </a:r>
            <a:endParaRPr b="0" i="0" sz="1400" u="none" cap="none" strike="noStrike">
              <a:solidFill>
                <a:srgbClr val="FF0000"/>
              </a:solidFill>
              <a:latin typeface="Arial"/>
              <a:ea typeface="Arial"/>
              <a:cs typeface="Arial"/>
              <a:sym typeface="Arial"/>
            </a:endParaRPr>
          </a:p>
        </p:txBody>
      </p:sp>
      <p:sp>
        <p:nvSpPr>
          <p:cNvPr id="141" name="Google Shape;141;p1"/>
          <p:cNvSpPr txBox="1"/>
          <p:nvPr/>
        </p:nvSpPr>
        <p:spPr>
          <a:xfrm>
            <a:off x="1317812" y="3783106"/>
            <a:ext cx="3039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Bell MT"/>
                <a:ea typeface="Bell MT"/>
                <a:cs typeface="Bell MT"/>
                <a:sym typeface="Bell MT"/>
              </a:rPr>
              <a:t>Team Members : </a:t>
            </a:r>
            <a:endParaRPr b="0" i="0" sz="1400" u="none" cap="none" strike="noStrike">
              <a:solidFill>
                <a:srgbClr val="000000"/>
              </a:solidFill>
              <a:latin typeface="Arial"/>
              <a:ea typeface="Arial"/>
              <a:cs typeface="Arial"/>
              <a:sym typeface="Arial"/>
            </a:endParaRPr>
          </a:p>
        </p:txBody>
      </p:sp>
      <p:sp>
        <p:nvSpPr>
          <p:cNvPr id="142" name="Google Shape;142;p1"/>
          <p:cNvSpPr txBox="1"/>
          <p:nvPr/>
        </p:nvSpPr>
        <p:spPr>
          <a:xfrm flipH="1">
            <a:off x="3173954" y="4240121"/>
            <a:ext cx="2096846" cy="12002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Bell MT"/>
              <a:buAutoNum type="arabicPeriod"/>
            </a:pPr>
            <a:r>
              <a:rPr b="0" i="0" lang="en-US" sz="1800" u="none" cap="none" strike="noStrike">
                <a:solidFill>
                  <a:schemeClr val="lt1"/>
                </a:solidFill>
                <a:latin typeface="Bell MT"/>
                <a:ea typeface="Bell MT"/>
                <a:cs typeface="Bell MT"/>
                <a:sym typeface="Bell MT"/>
              </a:rPr>
              <a:t>Amar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Bell MT"/>
              <a:buAutoNum type="arabicPeriod"/>
            </a:pPr>
            <a:r>
              <a:rPr b="0" i="0" lang="en-US" sz="1800" u="none" cap="none" strike="noStrike">
                <a:solidFill>
                  <a:schemeClr val="lt1"/>
                </a:solidFill>
                <a:latin typeface="Bell MT"/>
                <a:ea typeface="Bell MT"/>
                <a:cs typeface="Bell MT"/>
                <a:sym typeface="Bell MT"/>
              </a:rPr>
              <a:t>Aakanksha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Bell MT"/>
              <a:buAutoNum type="arabicPeriod"/>
            </a:pPr>
            <a:r>
              <a:rPr b="0" i="0" lang="en-US" sz="1800" u="none" cap="none" strike="noStrike">
                <a:solidFill>
                  <a:schemeClr val="lt1"/>
                </a:solidFill>
                <a:latin typeface="Bell MT"/>
                <a:ea typeface="Bell MT"/>
                <a:cs typeface="Bell MT"/>
                <a:sym typeface="Bell MT"/>
              </a:rPr>
              <a:t>Abarna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Bell MT"/>
              <a:buAutoNum type="arabicPeriod"/>
            </a:pPr>
            <a:r>
              <a:rPr b="0" i="0" lang="en-US" sz="1800" u="none" cap="none" strike="noStrike">
                <a:solidFill>
                  <a:schemeClr val="lt1"/>
                </a:solidFill>
                <a:latin typeface="Bell MT"/>
                <a:ea typeface="Bell MT"/>
                <a:cs typeface="Bell MT"/>
                <a:sym typeface="Bell MT"/>
              </a:rPr>
              <a:t>Tarun</a:t>
            </a:r>
            <a:endParaRPr b="0" i="0" sz="1400" u="none" cap="none" strike="noStrike">
              <a:solidFill>
                <a:srgbClr val="000000"/>
              </a:solidFill>
              <a:latin typeface="Arial"/>
              <a:ea typeface="Arial"/>
              <a:cs typeface="Arial"/>
              <a:sym typeface="Arial"/>
            </a:endParaRPr>
          </a:p>
        </p:txBody>
      </p:sp>
      <p:sp>
        <p:nvSpPr>
          <p:cNvPr id="143" name="Google Shape;143;p1"/>
          <p:cNvSpPr txBox="1"/>
          <p:nvPr/>
        </p:nvSpPr>
        <p:spPr>
          <a:xfrm>
            <a:off x="9668256" y="6452808"/>
            <a:ext cx="25237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US" sz="1800" u="none" cap="none" strike="noStrike">
                <a:solidFill>
                  <a:schemeClr val="lt1"/>
                </a:solidFill>
                <a:latin typeface="Times New Roman"/>
                <a:ea typeface="Times New Roman"/>
                <a:cs typeface="Times New Roman"/>
                <a:sym typeface="Times New Roman"/>
              </a:rPr>
              <a:t>Date : 27</a:t>
            </a:r>
            <a:r>
              <a:rPr baseline="30000" i="0" lang="en-US" sz="1800" u="none" cap="none" strike="noStrike">
                <a:solidFill>
                  <a:schemeClr val="lt1"/>
                </a:solidFill>
                <a:latin typeface="Times New Roman"/>
                <a:ea typeface="Times New Roman"/>
                <a:cs typeface="Times New Roman"/>
                <a:sym typeface="Times New Roman"/>
              </a:rPr>
              <a:t>th</a:t>
            </a:r>
            <a:r>
              <a:rPr i="0" lang="en-US" sz="1800" u="none" cap="none" strike="noStrike">
                <a:solidFill>
                  <a:schemeClr val="lt1"/>
                </a:solidFill>
                <a:latin typeface="Times New Roman"/>
                <a:ea typeface="Times New Roman"/>
                <a:cs typeface="Times New Roman"/>
                <a:sym typeface="Times New Roman"/>
              </a:rPr>
              <a:t> August 2024</a:t>
            </a:r>
            <a:endParaRPr i="0" sz="1400" u="none" cap="none" strike="noStrike">
              <a:solidFill>
                <a:srgbClr val="000000"/>
              </a:solidFill>
              <a:latin typeface="Times New Roman"/>
              <a:ea typeface="Times New Roman"/>
              <a:cs typeface="Times New Roman"/>
              <a:sym typeface="Times New Roman"/>
            </a:endParaRPr>
          </a:p>
        </p:txBody>
      </p:sp>
      <p:sp>
        <p:nvSpPr>
          <p:cNvPr id="144" name="Google Shape;144;p1"/>
          <p:cNvSpPr txBox="1"/>
          <p:nvPr/>
        </p:nvSpPr>
        <p:spPr>
          <a:xfrm>
            <a:off x="10163598" y="542638"/>
            <a:ext cx="198742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Group No . 01</a:t>
            </a:r>
            <a:endParaRPr b="0" i="0" sz="1400" u="none" cap="none" strike="noStrike">
              <a:solidFill>
                <a:srgbClr val="000000"/>
              </a:solidFill>
              <a:latin typeface="Arial"/>
              <a:ea typeface="Arial"/>
              <a:cs typeface="Arial"/>
              <a:sym typeface="Arial"/>
            </a:endParaRPr>
          </a:p>
        </p:txBody>
      </p:sp>
      <p:sp>
        <p:nvSpPr>
          <p:cNvPr id="145" name="Google Shape;145;p1"/>
          <p:cNvSpPr txBox="1"/>
          <p:nvPr/>
        </p:nvSpPr>
        <p:spPr>
          <a:xfrm>
            <a:off x="5678960" y="6434878"/>
            <a:ext cx="35904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US" sz="1900" u="none" cap="none" strike="noStrike">
                <a:solidFill>
                  <a:schemeClr val="lt1"/>
                </a:solidFill>
                <a:latin typeface="Times New Roman"/>
                <a:ea typeface="Times New Roman"/>
                <a:cs typeface="Times New Roman"/>
                <a:sym typeface="Times New Roman"/>
              </a:rPr>
              <a:t>Trainer : Prof. Abhishek Sengupta</a:t>
            </a:r>
            <a:endParaRPr i="0" sz="1900" u="none" cap="none" strike="noStrike">
              <a:solidFill>
                <a:srgbClr val="000000"/>
              </a:solidFill>
              <a:latin typeface="Times New Roman"/>
              <a:ea typeface="Times New Roman"/>
              <a:cs typeface="Times New Roman"/>
              <a:sym typeface="Times New Roman"/>
            </a:endParaRPr>
          </a:p>
        </p:txBody>
      </p:sp>
      <p:sp>
        <p:nvSpPr>
          <p:cNvPr id="146" name="Google Shape;146;p1"/>
          <p:cNvSpPr txBox="1"/>
          <p:nvPr/>
        </p:nvSpPr>
        <p:spPr>
          <a:xfrm>
            <a:off x="3657554" y="335636"/>
            <a:ext cx="5527099" cy="107717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mbria"/>
                <a:ea typeface="Cambria"/>
                <a:cs typeface="Cambria"/>
                <a:sym typeface="Cambria"/>
              </a:rPr>
              <a:t>Capstone-1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mbria"/>
                <a:ea typeface="Cambria"/>
                <a:cs typeface="Cambria"/>
                <a:sym typeface="Cambria"/>
              </a:rPr>
              <a:t>Testing Essential &amp; AUTOSAR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4000">
        <p14:vortex dir="r"/>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500"/>
                                        <p:tgtEl>
                                          <p:spTgt spid="1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2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 calcmode="lin" valueType="num">
                                      <p:cBhvr additive="base">
                                        <p:cTn dur="500"/>
                                        <p:tgtEl>
                                          <p:spTgt spid="1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
          <p:cNvPicPr preferRelativeResize="0"/>
          <p:nvPr/>
        </p:nvPicPr>
        <p:blipFill rotWithShape="1">
          <a:blip r:embed="rId3">
            <a:alphaModFix amt="50000"/>
          </a:blip>
          <a:srcRect b="0" l="0" r="0" t="0"/>
          <a:stretch/>
        </p:blipFill>
        <p:spPr>
          <a:xfrm>
            <a:off x="0" y="0"/>
            <a:ext cx="12192000" cy="6858000"/>
          </a:xfrm>
          <a:prstGeom prst="rect">
            <a:avLst/>
          </a:prstGeom>
          <a:noFill/>
          <a:ln>
            <a:noFill/>
          </a:ln>
        </p:spPr>
      </p:pic>
      <p:sp>
        <p:nvSpPr>
          <p:cNvPr id="152" name="Google Shape;152;p2"/>
          <p:cNvSpPr txBox="1"/>
          <p:nvPr>
            <p:ph type="title"/>
          </p:nvPr>
        </p:nvSpPr>
        <p:spPr>
          <a:xfrm>
            <a:off x="2238348" y="764373"/>
            <a:ext cx="9267852" cy="1293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entury Gothic"/>
              <a:buNone/>
            </a:pPr>
            <a:r>
              <a:rPr lang="en-US"/>
              <a:t>AGENDA</a:t>
            </a:r>
            <a:endParaRPr/>
          </a:p>
        </p:txBody>
      </p:sp>
      <p:sp>
        <p:nvSpPr>
          <p:cNvPr id="153" name="Google Shape;153;p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1. Introduction to Agile Testing Approach</a:t>
            </a:r>
            <a:endParaRPr sz="2600">
              <a:latin typeface="Times New Roman"/>
              <a:ea typeface="Times New Roman"/>
              <a:cs typeface="Times New Roman"/>
              <a:sym typeface="Times New Roman"/>
            </a:endParaRPr>
          </a:p>
          <a:p>
            <a:pPr indent="-254000" lvl="0" marL="228600" rtl="0" algn="l">
              <a:lnSpc>
                <a:spcPct val="90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2. Overview of  AUTOSAR Layered Architecture Setup</a:t>
            </a:r>
            <a:endParaRPr sz="2600">
              <a:latin typeface="Times New Roman"/>
              <a:ea typeface="Times New Roman"/>
              <a:cs typeface="Times New Roman"/>
              <a:sym typeface="Times New Roman"/>
            </a:endParaRPr>
          </a:p>
          <a:p>
            <a:pPr indent="-254000" lvl="0" marL="228600" rtl="0" algn="l">
              <a:lnSpc>
                <a:spcPct val="90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3. Test Case Development and Execution</a:t>
            </a:r>
            <a:endParaRPr sz="2600">
              <a:latin typeface="Times New Roman"/>
              <a:ea typeface="Times New Roman"/>
              <a:cs typeface="Times New Roman"/>
              <a:sym typeface="Times New Roman"/>
            </a:endParaRPr>
          </a:p>
          <a:p>
            <a:pPr indent="-254000" lvl="0" marL="228600" rtl="0" algn="l">
              <a:lnSpc>
                <a:spcPct val="90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4. Functionality Flow Chart and AUTOSAR Configuration</a:t>
            </a:r>
            <a:endParaRPr sz="2600">
              <a:latin typeface="Times New Roman"/>
              <a:ea typeface="Times New Roman"/>
              <a:cs typeface="Times New Roman"/>
              <a:sym typeface="Times New Roman"/>
            </a:endParaRPr>
          </a:p>
          <a:p>
            <a:pPr indent="-254000" lvl="0" marL="228600" rtl="0" algn="l">
              <a:lnSpc>
                <a:spcPct val="90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5. AUTOSAR Simulation and Validation</a:t>
            </a:r>
            <a:endParaRPr sz="2600">
              <a:latin typeface="Times New Roman"/>
              <a:ea typeface="Times New Roman"/>
              <a:cs typeface="Times New Roman"/>
              <a:sym typeface="Times New Roman"/>
            </a:endParaRPr>
          </a:p>
          <a:p>
            <a:pPr indent="-254000" lvl="0" marL="228600" rtl="0" algn="l">
              <a:lnSpc>
                <a:spcPct val="90000"/>
              </a:lnSpc>
              <a:spcBef>
                <a:spcPts val="1000"/>
              </a:spcBef>
              <a:spcAft>
                <a:spcPts val="0"/>
              </a:spcAft>
              <a:buClr>
                <a:schemeClr val="lt1"/>
              </a:buClr>
              <a:buSzPts val="2600"/>
              <a:buFont typeface="Times New Roman"/>
              <a:buChar char="•"/>
            </a:pPr>
            <a:r>
              <a:rPr lang="en-US" sz="2600">
                <a:latin typeface="Times New Roman"/>
                <a:ea typeface="Times New Roman"/>
                <a:cs typeface="Times New Roman"/>
                <a:sym typeface="Times New Roman"/>
              </a:rPr>
              <a:t>6. Testing Methodologies</a:t>
            </a:r>
            <a:endParaRPr sz="2600">
              <a:latin typeface="Times New Roman"/>
              <a:ea typeface="Times New Roman"/>
              <a:cs typeface="Times New Roman"/>
              <a:sym typeface="Times New Roman"/>
            </a:endParaRPr>
          </a:p>
          <a:p>
            <a:pPr indent="-254000" lvl="0" marL="228600" rtl="0" algn="l">
              <a:lnSpc>
                <a:spcPct val="90000"/>
              </a:lnSpc>
              <a:spcBef>
                <a:spcPts val="1000"/>
              </a:spcBef>
              <a:spcAft>
                <a:spcPts val="0"/>
              </a:spcAft>
              <a:buClr>
                <a:schemeClr val="lt1"/>
              </a:buClr>
              <a:buSzPts val="2600"/>
              <a:buFont typeface="Times New Roman"/>
              <a:buChar char="•"/>
            </a:pPr>
            <a:r>
              <a:rPr lang="en-US" sz="2600">
                <a:latin typeface="Times New Roman"/>
                <a:ea typeface="Times New Roman"/>
                <a:cs typeface="Times New Roman"/>
                <a:sym typeface="Times New Roman"/>
              </a:rPr>
              <a:t>7. Traceability and Test Reporting</a:t>
            </a:r>
            <a:endParaRPr sz="2600">
              <a:latin typeface="Times New Roman"/>
              <a:ea typeface="Times New Roman"/>
              <a:cs typeface="Times New Roman"/>
              <a:sym typeface="Times New Roman"/>
            </a:endParaRPr>
          </a:p>
          <a:p>
            <a:pPr indent="-254000" lvl="0" marL="228600" rtl="0" algn="l">
              <a:lnSpc>
                <a:spcPct val="90000"/>
              </a:lnSpc>
              <a:spcBef>
                <a:spcPts val="1000"/>
              </a:spcBef>
              <a:spcAft>
                <a:spcPts val="0"/>
              </a:spcAft>
              <a:buClr>
                <a:schemeClr val="lt1"/>
              </a:buClr>
              <a:buSzPts val="2600"/>
              <a:buFont typeface="Times New Roman"/>
              <a:buChar char="•"/>
            </a:pPr>
            <a:r>
              <a:rPr lang="en-US" sz="2600">
                <a:latin typeface="Times New Roman"/>
                <a:ea typeface="Times New Roman"/>
                <a:cs typeface="Times New Roman"/>
                <a:sym typeface="Times New Roman"/>
              </a:rPr>
              <a:t>8. Conclusion and Q&amp;A</a:t>
            </a:r>
            <a:endParaRPr sz="2600">
              <a:latin typeface="Times New Roman"/>
              <a:ea typeface="Times New Roman"/>
              <a:cs typeface="Times New Roman"/>
              <a:sym typeface="Times New Roman"/>
            </a:endParaRPr>
          </a:p>
        </p:txBody>
      </p:sp>
    </p:spTree>
  </p:cSld>
  <p:clrMapOvr>
    <a:masterClrMapping/>
  </p:clrMapOvr>
  <p:transition spd="slow">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500"/>
                                        <p:tgtEl>
                                          <p:spTgt spid="153">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500"/>
                                        <p:tgtEl>
                                          <p:spTgt spid="153">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Effect filter="fade" transition="in">
                                      <p:cBhvr>
                                        <p:cTn dur="500"/>
                                        <p:tgtEl>
                                          <p:spTgt spid="153">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animEffect filter="fade" transition="in">
                                      <p:cBhvr>
                                        <p:cTn dur="500"/>
                                        <p:tgtEl>
                                          <p:spTgt spid="153">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animEffect filter="fade" transition="in">
                                      <p:cBhvr>
                                        <p:cTn dur="500"/>
                                        <p:tgtEl>
                                          <p:spTgt spid="153">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animEffect filter="fade" transition="in">
                                      <p:cBhvr>
                                        <p:cTn dur="500"/>
                                        <p:tgtEl>
                                          <p:spTgt spid="153">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animEffect filter="fade" transition="in">
                                      <p:cBhvr>
                                        <p:cTn dur="500"/>
                                        <p:tgtEl>
                                          <p:spTgt spid="153">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animEffect filter="fade" transition="in">
                                      <p:cBhvr>
                                        <p:cTn dur="500"/>
                                        <p:tgtEl>
                                          <p:spTgt spid="15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6"/>
          <p:cNvSpPr txBox="1"/>
          <p:nvPr>
            <p:ph type="title"/>
          </p:nvPr>
        </p:nvSpPr>
        <p:spPr>
          <a:xfrm>
            <a:off x="1166778" y="764373"/>
            <a:ext cx="10215634" cy="95011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ECECEC"/>
              </a:buClr>
              <a:buSzPts val="3200"/>
              <a:buFont typeface="Century Gothic"/>
              <a:buNone/>
            </a:pPr>
            <a:r>
              <a:rPr b="1" lang="en-US" sz="3200">
                <a:solidFill>
                  <a:srgbClr val="ECECEC"/>
                </a:solidFill>
                <a:latin typeface="Times New Roman"/>
                <a:ea typeface="Times New Roman"/>
                <a:cs typeface="Times New Roman"/>
                <a:sym typeface="Times New Roman"/>
              </a:rPr>
              <a:t>INTRODUCTION</a:t>
            </a:r>
            <a:r>
              <a:rPr b="1" i="0" lang="en-US" sz="3200">
                <a:solidFill>
                  <a:srgbClr val="ECECEC"/>
                </a:solidFill>
                <a:latin typeface="Times New Roman"/>
                <a:ea typeface="Times New Roman"/>
                <a:cs typeface="Times New Roman"/>
                <a:sym typeface="Times New Roman"/>
              </a:rPr>
              <a:t> OF AGILE TESTING</a:t>
            </a:r>
            <a:endParaRPr b="1" sz="3200">
              <a:latin typeface="Times New Roman"/>
              <a:ea typeface="Times New Roman"/>
              <a:cs typeface="Times New Roman"/>
              <a:sym typeface="Times New Roman"/>
            </a:endParaRPr>
          </a:p>
        </p:txBody>
      </p:sp>
      <p:sp>
        <p:nvSpPr>
          <p:cNvPr id="159" name="Google Shape;159;p16"/>
          <p:cNvSpPr txBox="1"/>
          <p:nvPr>
            <p:ph idx="1" type="body"/>
          </p:nvPr>
        </p:nvSpPr>
        <p:spPr>
          <a:xfrm>
            <a:off x="666712" y="1714488"/>
            <a:ext cx="10839488" cy="500066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1000"/>
              </a:spcBef>
              <a:spcAft>
                <a:spcPts val="0"/>
              </a:spcAft>
              <a:buClr>
                <a:schemeClr val="lt1"/>
              </a:buClr>
              <a:buSzPts val="2000"/>
              <a:buFont typeface="Times New Roman"/>
              <a:buChar char="•"/>
            </a:pPr>
            <a:r>
              <a:rPr lang="en-US" sz="2400">
                <a:latin typeface="Times New Roman"/>
                <a:ea typeface="Times New Roman"/>
                <a:cs typeface="Times New Roman"/>
                <a:sym typeface="Times New Roman"/>
              </a:rPr>
              <a:t>The Agile Testing Approach is a method used in software development that emphasizes testing throughout the entire development cycle, rather than just at the end. It aligns with Agile methodologies, which focus on iterative development, collaboration, and customer feedback. Key practices in Agile Testing include:</a:t>
            </a:r>
            <a:endParaRPr sz="2400">
              <a:latin typeface="Times New Roman"/>
              <a:ea typeface="Times New Roman"/>
              <a:cs typeface="Times New Roman"/>
              <a:sym typeface="Times New Roman"/>
            </a:endParaRPr>
          </a:p>
          <a:p>
            <a:pPr indent="-355600" lvl="0" marL="457200" rtl="0" algn="l">
              <a:lnSpc>
                <a:spcPct val="90000"/>
              </a:lnSpc>
              <a:spcBef>
                <a:spcPts val="1000"/>
              </a:spcBef>
              <a:spcAft>
                <a:spcPts val="0"/>
              </a:spcAft>
              <a:buClr>
                <a:schemeClr val="lt1"/>
              </a:buClr>
              <a:buSzPts val="2000"/>
              <a:buChar char="•"/>
            </a:pPr>
            <a:r>
              <a:rPr b="1" lang="en-US" sz="2400">
                <a:latin typeface="Times New Roman"/>
                <a:ea typeface="Times New Roman"/>
                <a:cs typeface="Times New Roman"/>
                <a:sym typeface="Times New Roman"/>
              </a:rPr>
              <a:t>Sprint Planning</a:t>
            </a:r>
            <a:r>
              <a:rPr lang="en-US" sz="2400">
                <a:latin typeface="Times New Roman"/>
                <a:ea typeface="Times New Roman"/>
                <a:cs typeface="Times New Roman"/>
                <a:sym typeface="Times New Roman"/>
              </a:rPr>
              <a:t>: Defining what needs to be tested during each iteration (or sprint).</a:t>
            </a:r>
            <a:endParaRPr sz="2400">
              <a:latin typeface="Times New Roman"/>
              <a:ea typeface="Times New Roman"/>
              <a:cs typeface="Times New Roman"/>
              <a:sym typeface="Times New Roman"/>
            </a:endParaRPr>
          </a:p>
          <a:p>
            <a:pPr indent="-355600" lvl="0" marL="457200" rtl="0" algn="l">
              <a:lnSpc>
                <a:spcPct val="90000"/>
              </a:lnSpc>
              <a:spcBef>
                <a:spcPts val="1000"/>
              </a:spcBef>
              <a:spcAft>
                <a:spcPts val="0"/>
              </a:spcAft>
              <a:buClr>
                <a:schemeClr val="lt1"/>
              </a:buClr>
              <a:buSzPts val="2000"/>
              <a:buChar char="•"/>
            </a:pPr>
            <a:r>
              <a:rPr b="1" lang="en-US" sz="2400">
                <a:latin typeface="Times New Roman"/>
                <a:ea typeface="Times New Roman"/>
                <a:cs typeface="Times New Roman"/>
                <a:sym typeface="Times New Roman"/>
              </a:rPr>
              <a:t>Continuous Integration (CI)</a:t>
            </a:r>
            <a:r>
              <a:rPr lang="en-US" sz="2400">
                <a:latin typeface="Times New Roman"/>
                <a:ea typeface="Times New Roman"/>
                <a:cs typeface="Times New Roman"/>
                <a:sym typeface="Times New Roman"/>
              </a:rPr>
              <a:t>: Regularly merging code changes into a shared repository and automatically running tests to detect issues early.</a:t>
            </a:r>
            <a:endParaRPr sz="2400">
              <a:latin typeface="Times New Roman"/>
              <a:ea typeface="Times New Roman"/>
              <a:cs typeface="Times New Roman"/>
              <a:sym typeface="Times New Roman"/>
            </a:endParaRPr>
          </a:p>
          <a:p>
            <a:pPr indent="-355600" lvl="0" marL="457200" rtl="0" algn="l">
              <a:lnSpc>
                <a:spcPct val="90000"/>
              </a:lnSpc>
              <a:spcBef>
                <a:spcPts val="1000"/>
              </a:spcBef>
              <a:spcAft>
                <a:spcPts val="0"/>
              </a:spcAft>
              <a:buClr>
                <a:schemeClr val="lt1"/>
              </a:buClr>
              <a:buSzPts val="2000"/>
              <a:buChar char="•"/>
            </a:pPr>
            <a:r>
              <a:rPr b="1" lang="en-US" sz="2400">
                <a:latin typeface="Times New Roman"/>
                <a:ea typeface="Times New Roman"/>
                <a:cs typeface="Times New Roman"/>
                <a:sym typeface="Times New Roman"/>
              </a:rPr>
              <a:t>Test-Driven Development (TDD)</a:t>
            </a:r>
            <a:r>
              <a:rPr lang="en-US" sz="2400">
                <a:latin typeface="Times New Roman"/>
                <a:ea typeface="Times New Roman"/>
                <a:cs typeface="Times New Roman"/>
                <a:sym typeface="Times New Roman"/>
              </a:rPr>
              <a:t>: Writing tests before writing the code to ensure that the software meets the requirements from the start.</a:t>
            </a:r>
            <a:endParaRPr sz="2400">
              <a:latin typeface="Times New Roman"/>
              <a:ea typeface="Times New Roman"/>
              <a:cs typeface="Times New Roman"/>
              <a:sym typeface="Times New Roman"/>
            </a:endParaRPr>
          </a:p>
          <a:p>
            <a:pPr indent="-355600" lvl="0" marL="457200" rtl="0" algn="l">
              <a:lnSpc>
                <a:spcPct val="90000"/>
              </a:lnSpc>
              <a:spcBef>
                <a:spcPts val="1000"/>
              </a:spcBef>
              <a:spcAft>
                <a:spcPts val="0"/>
              </a:spcAft>
              <a:buClr>
                <a:schemeClr val="lt1"/>
              </a:buClr>
              <a:buSzPts val="2000"/>
              <a:buChar char="•"/>
            </a:pPr>
            <a:r>
              <a:rPr b="1" lang="en-US" sz="2400">
                <a:latin typeface="Times New Roman"/>
                <a:ea typeface="Times New Roman"/>
                <a:cs typeface="Times New Roman"/>
                <a:sym typeface="Times New Roman"/>
              </a:rPr>
              <a:t>Sprint Retrospective and Review</a:t>
            </a:r>
            <a:r>
              <a:rPr lang="en-US" sz="2400">
                <a:latin typeface="Times New Roman"/>
                <a:ea typeface="Times New Roman"/>
                <a:cs typeface="Times New Roman"/>
                <a:sym typeface="Times New Roman"/>
              </a:rPr>
              <a:t>: Evaluating the testing process after each sprint to identify improvements and ensure the product meets quality standards.</a:t>
            </a:r>
            <a:endParaRPr sz="2400">
              <a:latin typeface="Times New Roman"/>
              <a:ea typeface="Times New Roman"/>
              <a:cs typeface="Times New Roman"/>
              <a:sym typeface="Times New Roman"/>
            </a:endParaRPr>
          </a:p>
          <a:p>
            <a:pPr indent="-88900" lvl="0" marL="228600" rtl="0" algn="l">
              <a:lnSpc>
                <a:spcPct val="90000"/>
              </a:lnSpc>
              <a:spcBef>
                <a:spcPts val="1000"/>
              </a:spcBef>
              <a:spcAft>
                <a:spcPts val="0"/>
              </a:spcAft>
              <a:buClr>
                <a:schemeClr val="lt1"/>
              </a:buClr>
              <a:buSzPts val="2200"/>
              <a:buNone/>
            </a:pPr>
            <a:r>
              <a:t/>
            </a:r>
            <a:endParaRPr>
              <a:latin typeface="Times New Roman"/>
              <a:ea typeface="Times New Roman"/>
              <a:cs typeface="Times New Roman"/>
              <a:sym typeface="Times New Roman"/>
            </a:endParaRPr>
          </a:p>
        </p:txBody>
      </p:sp>
    </p:spTree>
  </p:cSld>
  <p:clrMapOvr>
    <a:masterClrMapping/>
  </p:clrMapOvr>
  <p:transition spd="slow">
    <p:split orient="vert" dir="in"/>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f802528ed7_0_0"/>
          <p:cNvSpPr txBox="1"/>
          <p:nvPr>
            <p:ph idx="1" type="body"/>
          </p:nvPr>
        </p:nvSpPr>
        <p:spPr>
          <a:xfrm>
            <a:off x="221300" y="2024100"/>
            <a:ext cx="3814800" cy="4024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4400">
                <a:latin typeface="Times New Roman"/>
                <a:ea typeface="Times New Roman"/>
                <a:cs typeface="Times New Roman"/>
                <a:sym typeface="Times New Roman"/>
              </a:rPr>
              <a:t>Key components and flow of the Agile Testing process.</a:t>
            </a:r>
            <a:endParaRPr sz="4400"/>
          </a:p>
        </p:txBody>
      </p:sp>
      <p:pic>
        <p:nvPicPr>
          <p:cNvPr id="165" name="Google Shape;165;g2f802528ed7_0_0"/>
          <p:cNvPicPr preferRelativeResize="0"/>
          <p:nvPr/>
        </p:nvPicPr>
        <p:blipFill rotWithShape="1">
          <a:blip r:embed="rId3">
            <a:alphaModFix/>
          </a:blip>
          <a:srcRect b="0" l="0" r="0" t="0"/>
          <a:stretch/>
        </p:blipFill>
        <p:spPr>
          <a:xfrm>
            <a:off x="4036225" y="975725"/>
            <a:ext cx="7965276" cy="4632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
          <p:cNvSpPr txBox="1"/>
          <p:nvPr>
            <p:ph type="title"/>
          </p:nvPr>
        </p:nvSpPr>
        <p:spPr>
          <a:xfrm>
            <a:off x="0" y="357166"/>
            <a:ext cx="11644266" cy="878677"/>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SzPct val="62500"/>
              <a:buNone/>
            </a:pPr>
            <a:r>
              <a:rPr b="1" lang="en-US" sz="3200">
                <a:latin typeface="Bell MT"/>
                <a:ea typeface="Bell MT"/>
                <a:cs typeface="Bell MT"/>
                <a:sym typeface="Bell MT"/>
              </a:rPr>
              <a:t>     OVERVIEW OF  AUTOSAR LAYER ARCHITECTURE  SETUP</a:t>
            </a:r>
            <a:endParaRPr b="1" sz="3200"/>
          </a:p>
        </p:txBody>
      </p:sp>
      <p:sp>
        <p:nvSpPr>
          <p:cNvPr id="171" name="Google Shape;171;p3"/>
          <p:cNvSpPr txBox="1"/>
          <p:nvPr>
            <p:ph idx="1" type="body"/>
          </p:nvPr>
        </p:nvSpPr>
        <p:spPr>
          <a:xfrm>
            <a:off x="666712" y="1285860"/>
            <a:ext cx="10839488" cy="5214974"/>
          </a:xfrm>
          <a:prstGeom prst="rect">
            <a:avLst/>
          </a:prstGeom>
          <a:noFill/>
          <a:ln>
            <a:noFill/>
          </a:ln>
        </p:spPr>
        <p:txBody>
          <a:bodyPr anchorCtr="0" anchor="t" bIns="45700" lIns="91425" spcFirstLastPara="1" rIns="91425" wrap="square" tIns="45700">
            <a:normAutofit fontScale="77500" lnSpcReduction="20000"/>
          </a:bodyPr>
          <a:lstStyle/>
          <a:p>
            <a:pPr indent="-342900" lvl="0" marL="457200" rtl="0" algn="l">
              <a:lnSpc>
                <a:spcPct val="90000"/>
              </a:lnSpc>
              <a:spcBef>
                <a:spcPts val="1000"/>
              </a:spcBef>
              <a:spcAft>
                <a:spcPts val="0"/>
              </a:spcAft>
              <a:buClr>
                <a:schemeClr val="lt1"/>
              </a:buClr>
              <a:buSzPct val="105571"/>
              <a:buChar char="•"/>
            </a:pPr>
            <a:r>
              <a:rPr lang="en-US"/>
              <a:t>AUTOSAR (Automotive Open System architecture) provides a standardized framework for developing automotive software. Its architecture is layered, which allows for modularity, scalability, and ease of integration. The key layers include:</a:t>
            </a:r>
            <a:endParaRPr/>
          </a:p>
          <a:p>
            <a:pPr indent="-342900" lvl="0" marL="457200" rtl="0" algn="l">
              <a:lnSpc>
                <a:spcPct val="90000"/>
              </a:lnSpc>
              <a:spcBef>
                <a:spcPts val="1000"/>
              </a:spcBef>
              <a:spcAft>
                <a:spcPts val="0"/>
              </a:spcAft>
              <a:buSzPct val="105571"/>
              <a:buChar char="•"/>
            </a:pPr>
            <a:r>
              <a:rPr lang="en-US"/>
              <a:t>Application Layer: Contains the application software components, like ABS control logic.</a:t>
            </a:r>
            <a:endParaRPr/>
          </a:p>
          <a:p>
            <a:pPr indent="-342900" lvl="0" marL="457200" rtl="0" algn="l">
              <a:lnSpc>
                <a:spcPct val="90000"/>
              </a:lnSpc>
              <a:spcBef>
                <a:spcPts val="1000"/>
              </a:spcBef>
              <a:spcAft>
                <a:spcPts val="0"/>
              </a:spcAft>
              <a:buSzPct val="105571"/>
              <a:buChar char="•"/>
            </a:pPr>
            <a:r>
              <a:rPr lang="en-US"/>
              <a:t>RTE (Runtime Environment): Acts as a middleware, facilitating communication between software components and the underlying layers.</a:t>
            </a:r>
            <a:endParaRPr/>
          </a:p>
          <a:p>
            <a:pPr indent="-342900" lvl="0" marL="457200" rtl="0" algn="l">
              <a:lnSpc>
                <a:spcPct val="90000"/>
              </a:lnSpc>
              <a:spcBef>
                <a:spcPts val="1000"/>
              </a:spcBef>
              <a:spcAft>
                <a:spcPts val="0"/>
              </a:spcAft>
              <a:buSzPct val="105571"/>
              <a:buChar char="•"/>
            </a:pPr>
            <a:r>
              <a:rPr lang="en-US"/>
              <a:t>Basic Software (BSW): Comprises services like communication, memory, and operating system functions.</a:t>
            </a:r>
            <a:endParaRPr/>
          </a:p>
          <a:p>
            <a:pPr indent="-342900" lvl="0" marL="457200" rtl="0" algn="l">
              <a:lnSpc>
                <a:spcPct val="90000"/>
              </a:lnSpc>
              <a:spcBef>
                <a:spcPts val="1000"/>
              </a:spcBef>
              <a:spcAft>
                <a:spcPts val="0"/>
              </a:spcAft>
              <a:buSzPct val="105571"/>
              <a:buChar char="•"/>
            </a:pPr>
            <a:r>
              <a:rPr lang="en-US"/>
              <a:t>MCAL (Microcontroller Abstraction Layer): Provides an interface between the microcontroller and the BSW. </a:t>
            </a:r>
            <a:endParaRPr/>
          </a:p>
          <a:p>
            <a:pPr indent="-342900" lvl="0" marL="457200" rtl="0" algn="l">
              <a:lnSpc>
                <a:spcPct val="90000"/>
              </a:lnSpc>
              <a:spcBef>
                <a:spcPts val="1000"/>
              </a:spcBef>
              <a:spcAft>
                <a:spcPts val="0"/>
              </a:spcAft>
              <a:buSzPct val="96774"/>
              <a:buChar char="•"/>
            </a:pPr>
            <a:r>
              <a:rPr lang="en-US" sz="2400"/>
              <a:t>ABS Application: The ABS control logic will reside in the application layer, responsible for monitoring wheel speed and controlling braking force to prevent wheel lockup.</a:t>
            </a:r>
            <a:endParaRPr sz="2000"/>
          </a:p>
          <a:p>
            <a:pPr indent="-342900" lvl="0" marL="457200" rtl="0" algn="l">
              <a:lnSpc>
                <a:spcPct val="90000"/>
              </a:lnSpc>
              <a:spcBef>
                <a:spcPts val="1000"/>
              </a:spcBef>
              <a:spcAft>
                <a:spcPts val="0"/>
              </a:spcAft>
              <a:buSzPct val="96774"/>
              <a:buChar char="•"/>
            </a:pPr>
            <a:r>
              <a:rPr lang="en-US" sz="2400"/>
              <a:t>HMI (Human-Machine Interface): The HMI will allow drivers to interact with the ABS system, displaying information like ABS status, warnings, and diagnostics.</a:t>
            </a:r>
            <a:endParaRPr sz="2000"/>
          </a:p>
          <a:p>
            <a:pPr indent="-342900" lvl="0" marL="457200" rtl="0" algn="l">
              <a:lnSpc>
                <a:spcPct val="90000"/>
              </a:lnSpc>
              <a:spcBef>
                <a:spcPts val="1000"/>
              </a:spcBef>
              <a:spcAft>
                <a:spcPts val="0"/>
              </a:spcAft>
              <a:buSzPct val="96774"/>
              <a:buChar char="•"/>
            </a:pPr>
            <a:r>
              <a:rPr lang="en-US" sz="2400"/>
              <a:t>Communication Flow:</a:t>
            </a:r>
            <a:endParaRPr sz="2000"/>
          </a:p>
          <a:p>
            <a:pPr indent="-342900" lvl="1" marL="914400" rtl="0" algn="l">
              <a:lnSpc>
                <a:spcPct val="90000"/>
              </a:lnSpc>
              <a:spcBef>
                <a:spcPts val="500"/>
              </a:spcBef>
              <a:spcAft>
                <a:spcPts val="0"/>
              </a:spcAft>
              <a:buSzPct val="129032"/>
              <a:buChar char="•"/>
            </a:pPr>
            <a:r>
              <a:rPr lang="en-US"/>
              <a:t>The ABS application sends data to the RTE.</a:t>
            </a:r>
            <a:endParaRPr sz="1800"/>
          </a:p>
          <a:p>
            <a:pPr indent="-342900" lvl="1" marL="914400" rtl="0" algn="l">
              <a:lnSpc>
                <a:spcPct val="90000"/>
              </a:lnSpc>
              <a:spcBef>
                <a:spcPts val="500"/>
              </a:spcBef>
              <a:spcAft>
                <a:spcPts val="0"/>
              </a:spcAft>
              <a:buSzPct val="129032"/>
              <a:buChar char="•"/>
            </a:pPr>
            <a:r>
              <a:rPr lang="en-US"/>
              <a:t>The RTE communicates with the HMI application and other components through standardized AUTOSAR interfaces.</a:t>
            </a:r>
            <a:endParaRPr sz="1800"/>
          </a:p>
          <a:p>
            <a:pPr indent="-342900" lvl="1" marL="914400" rtl="0" algn="l">
              <a:lnSpc>
                <a:spcPct val="90000"/>
              </a:lnSpc>
              <a:spcBef>
                <a:spcPts val="500"/>
              </a:spcBef>
              <a:spcAft>
                <a:spcPts val="0"/>
              </a:spcAft>
              <a:buSzPct val="129032"/>
              <a:buChar char="•"/>
            </a:pPr>
            <a:r>
              <a:rPr lang="en-US"/>
              <a:t>The BSW layer handles the low-level communication, ensuring data is transmitted to and from the ABS ECU (Electronic Control Unit).</a:t>
            </a:r>
            <a:endParaRPr sz="1800"/>
          </a:p>
          <a:p>
            <a:pPr indent="-342900" lvl="0" marL="457200" rtl="0" algn="l">
              <a:lnSpc>
                <a:spcPct val="90000"/>
              </a:lnSpc>
              <a:spcBef>
                <a:spcPts val="1000"/>
              </a:spcBef>
              <a:spcAft>
                <a:spcPts val="0"/>
              </a:spcAft>
              <a:buSzPct val="105571"/>
              <a:buNone/>
            </a:pPr>
            <a:r>
              <a:t/>
            </a:r>
            <a:endParaRPr/>
          </a:p>
          <a:p>
            <a:pPr indent="-342900" lvl="0" marL="457200" rtl="0" algn="l">
              <a:lnSpc>
                <a:spcPct val="90000"/>
              </a:lnSpc>
              <a:spcBef>
                <a:spcPts val="1000"/>
              </a:spcBef>
              <a:spcAft>
                <a:spcPts val="0"/>
              </a:spcAft>
              <a:buSzPct val="105571"/>
              <a:buNone/>
            </a:pPr>
            <a:r>
              <a:t/>
            </a:r>
            <a:endParaRPr/>
          </a:p>
          <a:p>
            <a:pPr indent="-228600" lvl="0" marL="457200" rtl="0" algn="l">
              <a:lnSpc>
                <a:spcPct val="90000"/>
              </a:lnSpc>
              <a:spcBef>
                <a:spcPts val="1000"/>
              </a:spcBef>
              <a:spcAft>
                <a:spcPts val="0"/>
              </a:spcAft>
              <a:buClr>
                <a:schemeClr val="lt1"/>
              </a:buClr>
              <a:buSzPct val="105571"/>
              <a:buNone/>
            </a:pPr>
            <a:r>
              <a:t/>
            </a:r>
            <a:endParaRPr/>
          </a:p>
        </p:txBody>
      </p:sp>
    </p:spTree>
  </p:cSld>
  <p:clrMapOvr>
    <a:masterClrMapping/>
  </p:clrMapOvr>
  <p:transition spd="slow">
    <p:split orient="vert" dir="in"/>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
          <p:cNvSpPr txBox="1"/>
          <p:nvPr>
            <p:ph type="title"/>
          </p:nvPr>
        </p:nvSpPr>
        <p:spPr>
          <a:xfrm>
            <a:off x="1166778" y="214291"/>
            <a:ext cx="10787138" cy="107157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50000"/>
              <a:buNone/>
            </a:pPr>
            <a:r>
              <a:rPr b="1" lang="en-US"/>
              <a:t>TESTCASE DEVELOPMENT AND EXECUTION</a:t>
            </a:r>
            <a:br>
              <a:rPr b="1" lang="en-US"/>
            </a:br>
            <a:endParaRPr b="1"/>
          </a:p>
        </p:txBody>
      </p:sp>
      <p:sp>
        <p:nvSpPr>
          <p:cNvPr id="177" name="Google Shape;177;p4"/>
          <p:cNvSpPr txBox="1"/>
          <p:nvPr>
            <p:ph idx="1" type="body"/>
          </p:nvPr>
        </p:nvSpPr>
        <p:spPr>
          <a:xfrm>
            <a:off x="380960" y="785794"/>
            <a:ext cx="11125240" cy="6072206"/>
          </a:xfrm>
          <a:prstGeom prst="rect">
            <a:avLst/>
          </a:prstGeom>
          <a:noFill/>
          <a:ln>
            <a:noFill/>
          </a:ln>
        </p:spPr>
        <p:txBody>
          <a:bodyPr anchorCtr="0" anchor="t" bIns="45700" lIns="91425" spcFirstLastPara="1" rIns="91425" wrap="square" tIns="45700">
            <a:normAutofit fontScale="70000" lnSpcReduction="20000"/>
          </a:bodyPr>
          <a:lstStyle/>
          <a:p>
            <a:pPr indent="-342900" lvl="0" marL="457200" rtl="0" algn="l">
              <a:lnSpc>
                <a:spcPct val="90000"/>
              </a:lnSpc>
              <a:spcBef>
                <a:spcPts val="1000"/>
              </a:spcBef>
              <a:spcAft>
                <a:spcPts val="0"/>
              </a:spcAft>
              <a:buClr>
                <a:schemeClr val="lt1"/>
              </a:buClr>
              <a:buSzPct val="116883"/>
              <a:buChar char="•"/>
            </a:pPr>
            <a:r>
              <a:rPr b="1" lang="en-US"/>
              <a:t>ABS Functionality</a:t>
            </a:r>
            <a:r>
              <a:rPr lang="en-US"/>
              <a:t>: The ABS should prevent wheel lockup during braking, ensuring vehicle stability and control.</a:t>
            </a:r>
            <a:endParaRPr/>
          </a:p>
          <a:p>
            <a:pPr indent="-342900" lvl="0" marL="457200" rtl="0" algn="l">
              <a:lnSpc>
                <a:spcPct val="90000"/>
              </a:lnSpc>
              <a:spcBef>
                <a:spcPts val="1000"/>
              </a:spcBef>
              <a:spcAft>
                <a:spcPts val="0"/>
              </a:spcAft>
              <a:buClr>
                <a:schemeClr val="lt1"/>
              </a:buClr>
              <a:buSzPct val="116883"/>
              <a:buChar char="•"/>
            </a:pPr>
            <a:r>
              <a:rPr b="1" lang="en-US"/>
              <a:t>AUTOSAR Integration</a:t>
            </a:r>
            <a:r>
              <a:rPr lang="en-US"/>
              <a:t>: The ABS must communicate correctly with other components via AUTOSAR, using standardized interfaces.</a:t>
            </a:r>
            <a:endParaRPr/>
          </a:p>
          <a:p>
            <a:pPr indent="-342900" lvl="0" marL="457200" rtl="0" algn="l">
              <a:lnSpc>
                <a:spcPct val="90000"/>
              </a:lnSpc>
              <a:spcBef>
                <a:spcPts val="1000"/>
              </a:spcBef>
              <a:spcAft>
                <a:spcPts val="0"/>
              </a:spcAft>
              <a:buClr>
                <a:schemeClr val="lt1"/>
              </a:buClr>
              <a:buSzPct val="116883"/>
              <a:buChar char="•"/>
            </a:pPr>
            <a:r>
              <a:rPr b="1" lang="en-US"/>
              <a:t>HMI Interaction</a:t>
            </a:r>
            <a:r>
              <a:rPr lang="en-US"/>
              <a:t>: The driver should receive real-time feedback through the HMI when ABS is engaged.</a:t>
            </a:r>
            <a:endParaRPr/>
          </a:p>
          <a:p>
            <a:pPr indent="-342900" lvl="0" marL="457200" rtl="0" algn="l">
              <a:lnSpc>
                <a:spcPct val="90000"/>
              </a:lnSpc>
              <a:spcBef>
                <a:spcPts val="1000"/>
              </a:spcBef>
              <a:spcAft>
                <a:spcPts val="0"/>
              </a:spcAft>
              <a:buSzPct val="77922"/>
              <a:buNone/>
            </a:pPr>
            <a:r>
              <a:rPr lang="en-US" sz="3300">
                <a:solidFill>
                  <a:srgbClr val="FF0000"/>
                </a:solidFill>
              </a:rPr>
              <a:t>Testcase for ABS</a:t>
            </a:r>
            <a:endParaRPr/>
          </a:p>
          <a:p>
            <a:pPr indent="-342900" lvl="0" marL="457200" rtl="0" algn="l">
              <a:lnSpc>
                <a:spcPct val="90000"/>
              </a:lnSpc>
              <a:spcBef>
                <a:spcPts val="1000"/>
              </a:spcBef>
              <a:spcAft>
                <a:spcPts val="0"/>
              </a:spcAft>
              <a:buClr>
                <a:schemeClr val="lt1"/>
              </a:buClr>
              <a:buSzPct val="107142"/>
              <a:buChar char="•"/>
            </a:pPr>
            <a:r>
              <a:rPr b="1" lang="en-US" sz="2400">
                <a:solidFill>
                  <a:srgbClr val="0070C0"/>
                </a:solidFill>
              </a:rPr>
              <a:t>Test Case  1: ABS Activation on Slippery Surface</a:t>
            </a:r>
            <a:endParaRPr/>
          </a:p>
          <a:p>
            <a:pPr indent="-342900" lvl="0" marL="457200" rtl="0" algn="l">
              <a:lnSpc>
                <a:spcPct val="90000"/>
              </a:lnSpc>
              <a:spcBef>
                <a:spcPts val="1000"/>
              </a:spcBef>
              <a:spcAft>
                <a:spcPts val="0"/>
              </a:spcAft>
              <a:buSzPct val="107142"/>
              <a:buChar char="•"/>
            </a:pPr>
            <a:r>
              <a:rPr lang="en-US" sz="2400"/>
              <a:t>Objective: Verify that the ABS activates when the vehicle is braking on a slippery surface.</a:t>
            </a:r>
            <a:endParaRPr sz="2000"/>
          </a:p>
          <a:p>
            <a:pPr indent="-342900" lvl="0" marL="457200" rtl="0" algn="l">
              <a:lnSpc>
                <a:spcPct val="90000"/>
              </a:lnSpc>
              <a:spcBef>
                <a:spcPts val="1000"/>
              </a:spcBef>
              <a:spcAft>
                <a:spcPts val="0"/>
              </a:spcAft>
              <a:buSzPct val="107142"/>
              <a:buChar char="•"/>
            </a:pPr>
            <a:r>
              <a:rPr lang="en-US" sz="2400"/>
              <a:t>Preconditions: Vehicle is traveling at 50 km/h on an icy or wet road.</a:t>
            </a:r>
            <a:endParaRPr sz="2000"/>
          </a:p>
          <a:p>
            <a:pPr indent="-342900" lvl="0" marL="457200" rtl="0" algn="l">
              <a:lnSpc>
                <a:spcPct val="90000"/>
              </a:lnSpc>
              <a:spcBef>
                <a:spcPts val="1000"/>
              </a:spcBef>
              <a:spcAft>
                <a:spcPts val="0"/>
              </a:spcAft>
              <a:buSzPct val="107142"/>
              <a:buChar char="•"/>
            </a:pPr>
            <a:r>
              <a:rPr lang="en-US" sz="2400"/>
              <a:t>Steps:</a:t>
            </a:r>
            <a:endParaRPr sz="2000"/>
          </a:p>
          <a:p>
            <a:pPr indent="-342900" lvl="1" marL="914400" rtl="0" algn="l">
              <a:lnSpc>
                <a:spcPct val="90000"/>
              </a:lnSpc>
              <a:spcBef>
                <a:spcPts val="500"/>
              </a:spcBef>
              <a:spcAft>
                <a:spcPts val="0"/>
              </a:spcAft>
              <a:buSzPct val="142857"/>
              <a:buChar char="•"/>
            </a:pPr>
            <a:r>
              <a:rPr lang="en-US"/>
              <a:t>Apply full brakes suddenly.</a:t>
            </a:r>
            <a:endParaRPr sz="1800"/>
          </a:p>
          <a:p>
            <a:pPr indent="-342900" lvl="1" marL="914400" rtl="0" algn="l">
              <a:lnSpc>
                <a:spcPct val="90000"/>
              </a:lnSpc>
              <a:spcBef>
                <a:spcPts val="500"/>
              </a:spcBef>
              <a:spcAft>
                <a:spcPts val="0"/>
              </a:spcAft>
              <a:buSzPct val="142857"/>
              <a:buChar char="•"/>
            </a:pPr>
            <a:r>
              <a:rPr lang="en-US"/>
              <a:t>Monitor the ABS warning light and vehicle behavior.</a:t>
            </a:r>
            <a:endParaRPr sz="1800"/>
          </a:p>
          <a:p>
            <a:pPr indent="-342900" lvl="0" marL="457200" rtl="0" algn="l">
              <a:lnSpc>
                <a:spcPct val="90000"/>
              </a:lnSpc>
              <a:spcBef>
                <a:spcPts val="1000"/>
              </a:spcBef>
              <a:spcAft>
                <a:spcPts val="0"/>
              </a:spcAft>
              <a:buSzPct val="107142"/>
              <a:buChar char="•"/>
            </a:pPr>
            <a:r>
              <a:rPr lang="en-US" sz="2400"/>
              <a:t>Expected Result: The ABS should activate, preventing the wheels from locking up, and the vehicle should maintain steerability.</a:t>
            </a:r>
            <a:endParaRPr sz="2000"/>
          </a:p>
          <a:p>
            <a:pPr indent="-342900" lvl="0" marL="457200" rtl="0" algn="l">
              <a:lnSpc>
                <a:spcPct val="90000"/>
              </a:lnSpc>
              <a:spcBef>
                <a:spcPts val="1000"/>
              </a:spcBef>
              <a:spcAft>
                <a:spcPts val="0"/>
              </a:spcAft>
              <a:buClr>
                <a:schemeClr val="lt1"/>
              </a:buClr>
              <a:buSzPct val="107142"/>
              <a:buChar char="•"/>
            </a:pPr>
            <a:r>
              <a:rPr b="1" lang="en-US" sz="2400">
                <a:solidFill>
                  <a:srgbClr val="0070C0"/>
                </a:solidFill>
              </a:rPr>
              <a:t>Test Case 2: ABS Functionality on Dry Surface</a:t>
            </a:r>
            <a:endParaRPr/>
          </a:p>
          <a:p>
            <a:pPr indent="-342900" lvl="0" marL="457200" rtl="0" algn="l">
              <a:lnSpc>
                <a:spcPct val="90000"/>
              </a:lnSpc>
              <a:spcBef>
                <a:spcPts val="1000"/>
              </a:spcBef>
              <a:spcAft>
                <a:spcPts val="0"/>
              </a:spcAft>
              <a:buSzPct val="107142"/>
              <a:buChar char="•"/>
            </a:pPr>
            <a:r>
              <a:rPr lang="en-US" sz="2400"/>
              <a:t>Objective: Verify that the ABS does not activate when the vehicle is braking on a dry surface where wheel lockup is unlikely.</a:t>
            </a:r>
            <a:endParaRPr sz="2000"/>
          </a:p>
          <a:p>
            <a:pPr indent="-342900" lvl="0" marL="457200" rtl="0" algn="l">
              <a:lnSpc>
                <a:spcPct val="90000"/>
              </a:lnSpc>
              <a:spcBef>
                <a:spcPts val="1000"/>
              </a:spcBef>
              <a:spcAft>
                <a:spcPts val="0"/>
              </a:spcAft>
              <a:buSzPct val="107142"/>
              <a:buChar char="•"/>
            </a:pPr>
            <a:r>
              <a:rPr lang="en-US" sz="2400"/>
              <a:t>Preconditions: Vehicle is traveling at 60 km/h on a dry road.</a:t>
            </a:r>
            <a:endParaRPr sz="2000"/>
          </a:p>
          <a:p>
            <a:pPr indent="-342900" lvl="0" marL="457200" rtl="0" algn="l">
              <a:lnSpc>
                <a:spcPct val="90000"/>
              </a:lnSpc>
              <a:spcBef>
                <a:spcPts val="1000"/>
              </a:spcBef>
              <a:spcAft>
                <a:spcPts val="0"/>
              </a:spcAft>
              <a:buSzPct val="107142"/>
              <a:buChar char="•"/>
            </a:pPr>
            <a:r>
              <a:rPr lang="en-US" sz="2400"/>
              <a:t>Steps:</a:t>
            </a:r>
            <a:endParaRPr sz="2000"/>
          </a:p>
          <a:p>
            <a:pPr indent="-342900" lvl="1" marL="914400" rtl="0" algn="l">
              <a:lnSpc>
                <a:spcPct val="90000"/>
              </a:lnSpc>
              <a:spcBef>
                <a:spcPts val="500"/>
              </a:spcBef>
              <a:spcAft>
                <a:spcPts val="0"/>
              </a:spcAft>
              <a:buSzPct val="142857"/>
              <a:buChar char="•"/>
            </a:pPr>
            <a:r>
              <a:rPr lang="en-US"/>
              <a:t>Apply full brakes suddenly.</a:t>
            </a:r>
            <a:endParaRPr sz="1800"/>
          </a:p>
          <a:p>
            <a:pPr indent="-342900" lvl="1" marL="914400" rtl="0" algn="l">
              <a:lnSpc>
                <a:spcPct val="90000"/>
              </a:lnSpc>
              <a:spcBef>
                <a:spcPts val="500"/>
              </a:spcBef>
              <a:spcAft>
                <a:spcPts val="0"/>
              </a:spcAft>
              <a:buSzPct val="142857"/>
              <a:buChar char="•"/>
            </a:pPr>
            <a:r>
              <a:rPr lang="en-US"/>
              <a:t>Observe the ABS warning light and vehicle behavior.</a:t>
            </a:r>
            <a:endParaRPr sz="1800"/>
          </a:p>
          <a:p>
            <a:pPr indent="-342900" lvl="0" marL="457200" rtl="0" algn="l">
              <a:lnSpc>
                <a:spcPct val="90000"/>
              </a:lnSpc>
              <a:spcBef>
                <a:spcPts val="1000"/>
              </a:spcBef>
              <a:spcAft>
                <a:spcPts val="0"/>
              </a:spcAft>
              <a:buSzPct val="107142"/>
              <a:buChar char="•"/>
            </a:pPr>
            <a:r>
              <a:rPr lang="en-US" sz="2400"/>
              <a:t>Expected Result: The ABS should not activate, and the vehicle should stop without the wheels locking up.</a:t>
            </a:r>
            <a:endParaRPr sz="2000"/>
          </a:p>
          <a:p>
            <a:pPr indent="-342900" lvl="0" marL="457200" rtl="0" algn="l">
              <a:lnSpc>
                <a:spcPct val="90000"/>
              </a:lnSpc>
              <a:spcBef>
                <a:spcPts val="1000"/>
              </a:spcBef>
              <a:spcAft>
                <a:spcPts val="0"/>
              </a:spcAft>
              <a:buSzPct val="116883"/>
              <a:buNone/>
            </a:pPr>
            <a:r>
              <a:t/>
            </a:r>
            <a:endParaRPr/>
          </a:p>
          <a:p>
            <a:pPr indent="-342900" lvl="0" marL="457200" rtl="0" algn="l">
              <a:lnSpc>
                <a:spcPct val="90000"/>
              </a:lnSpc>
              <a:spcBef>
                <a:spcPts val="1000"/>
              </a:spcBef>
              <a:spcAft>
                <a:spcPts val="0"/>
              </a:spcAft>
              <a:buSzPct val="116883"/>
              <a:buNone/>
            </a:pPr>
            <a:r>
              <a:t/>
            </a:r>
            <a:endParaRPr/>
          </a:p>
        </p:txBody>
      </p:sp>
    </p:spTree>
  </p:cSld>
  <p:clrMapOvr>
    <a:masterClrMapping/>
  </p:clrMapOvr>
  <p:transition spd="slow">
    <p:split orient="vert" dir="in"/>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5"/>
          <p:cNvSpPr txBox="1"/>
          <p:nvPr>
            <p:ph idx="1" type="body"/>
          </p:nvPr>
        </p:nvSpPr>
        <p:spPr>
          <a:xfrm>
            <a:off x="809588" y="1571612"/>
            <a:ext cx="10820400" cy="5000660"/>
          </a:xfrm>
          <a:prstGeom prst="rect">
            <a:avLst/>
          </a:prstGeom>
          <a:noFill/>
          <a:ln>
            <a:noFill/>
          </a:ln>
        </p:spPr>
        <p:txBody>
          <a:bodyPr anchorCtr="0" anchor="t" bIns="45700" lIns="91425" spcFirstLastPara="1" rIns="91425" wrap="square" tIns="45700">
            <a:normAutofit fontScale="85000" lnSpcReduction="20000"/>
          </a:bodyPr>
          <a:lstStyle/>
          <a:p>
            <a:pPr indent="-342900" lvl="0" marL="457200" rtl="0" algn="l">
              <a:lnSpc>
                <a:spcPct val="90000"/>
              </a:lnSpc>
              <a:spcBef>
                <a:spcPts val="1000"/>
              </a:spcBef>
              <a:spcAft>
                <a:spcPts val="0"/>
              </a:spcAft>
              <a:buClr>
                <a:schemeClr val="lt1"/>
              </a:buClr>
              <a:buSzPct val="88235"/>
              <a:buChar char="•"/>
            </a:pPr>
            <a:r>
              <a:rPr b="1" lang="en-US" sz="2400">
                <a:solidFill>
                  <a:srgbClr val="0070C0"/>
                </a:solidFill>
              </a:rPr>
              <a:t>Test Case  4: ABS Failure Mode</a:t>
            </a:r>
            <a:endParaRPr/>
          </a:p>
          <a:p>
            <a:pPr indent="-342900" lvl="0" marL="457200" rtl="0" algn="l">
              <a:lnSpc>
                <a:spcPct val="90000"/>
              </a:lnSpc>
              <a:spcBef>
                <a:spcPts val="1000"/>
              </a:spcBef>
              <a:spcAft>
                <a:spcPts val="0"/>
              </a:spcAft>
              <a:buSzPct val="88235"/>
              <a:buChar char="•"/>
            </a:pPr>
            <a:r>
              <a:rPr lang="en-US" sz="2400"/>
              <a:t>Objective: Verify the vehicle's behavior when ABS fails.</a:t>
            </a:r>
            <a:endParaRPr sz="2000"/>
          </a:p>
          <a:p>
            <a:pPr indent="-342900" lvl="0" marL="457200" rtl="0" algn="l">
              <a:lnSpc>
                <a:spcPct val="90000"/>
              </a:lnSpc>
              <a:spcBef>
                <a:spcPts val="1000"/>
              </a:spcBef>
              <a:spcAft>
                <a:spcPts val="0"/>
              </a:spcAft>
              <a:buSzPct val="88235"/>
              <a:buChar char="•"/>
            </a:pPr>
            <a:r>
              <a:rPr lang="en-US" sz="2400"/>
              <a:t>Preconditions: Simulate an ABS failure (e.g., by disconnecting the ABS sensor).</a:t>
            </a:r>
            <a:endParaRPr sz="2000"/>
          </a:p>
          <a:p>
            <a:pPr indent="-342900" lvl="0" marL="457200" rtl="0" algn="l">
              <a:lnSpc>
                <a:spcPct val="90000"/>
              </a:lnSpc>
              <a:spcBef>
                <a:spcPts val="1000"/>
              </a:spcBef>
              <a:spcAft>
                <a:spcPts val="0"/>
              </a:spcAft>
              <a:buSzPct val="88235"/>
              <a:buChar char="•"/>
            </a:pPr>
            <a:r>
              <a:rPr lang="en-US" sz="2400"/>
              <a:t>Steps:</a:t>
            </a:r>
            <a:endParaRPr sz="2000"/>
          </a:p>
          <a:p>
            <a:pPr indent="-342900" lvl="1" marL="914400" rtl="0" algn="l">
              <a:lnSpc>
                <a:spcPct val="90000"/>
              </a:lnSpc>
              <a:spcBef>
                <a:spcPts val="500"/>
              </a:spcBef>
              <a:spcAft>
                <a:spcPts val="0"/>
              </a:spcAft>
              <a:buSzPct val="117647"/>
              <a:buChar char="•"/>
            </a:pPr>
            <a:r>
              <a:rPr lang="en-US"/>
              <a:t>Attempt to brake normally at various speeds.</a:t>
            </a:r>
            <a:endParaRPr sz="1800"/>
          </a:p>
          <a:p>
            <a:pPr indent="-342900" lvl="1" marL="914400" rtl="0" algn="l">
              <a:lnSpc>
                <a:spcPct val="90000"/>
              </a:lnSpc>
              <a:spcBef>
                <a:spcPts val="500"/>
              </a:spcBef>
              <a:spcAft>
                <a:spcPts val="0"/>
              </a:spcAft>
              <a:buSzPct val="117647"/>
              <a:buChar char="•"/>
            </a:pPr>
            <a:r>
              <a:rPr lang="en-US"/>
              <a:t>Observe the ABS warning light and vehicle behavior.</a:t>
            </a:r>
            <a:endParaRPr sz="1800"/>
          </a:p>
          <a:p>
            <a:pPr indent="-342900" lvl="0" marL="457200" rtl="0" algn="l">
              <a:lnSpc>
                <a:spcPct val="90000"/>
              </a:lnSpc>
              <a:spcBef>
                <a:spcPts val="1000"/>
              </a:spcBef>
              <a:spcAft>
                <a:spcPts val="0"/>
              </a:spcAft>
              <a:buSzPct val="88235"/>
              <a:buChar char="•"/>
            </a:pPr>
            <a:r>
              <a:rPr lang="en-US" sz="2400"/>
              <a:t>Expected Result: The ABS warning light should illuminate, indicating a system failure, and the vehicle should revert to standard braking behavior without ABS.</a:t>
            </a:r>
            <a:endParaRPr sz="2000"/>
          </a:p>
          <a:p>
            <a:pPr indent="-342900" lvl="0" marL="457200" rtl="0" algn="l">
              <a:lnSpc>
                <a:spcPct val="90000"/>
              </a:lnSpc>
              <a:spcBef>
                <a:spcPts val="1000"/>
              </a:spcBef>
              <a:spcAft>
                <a:spcPts val="0"/>
              </a:spcAft>
              <a:buClr>
                <a:schemeClr val="lt1"/>
              </a:buClr>
              <a:buSzPct val="88235"/>
              <a:buChar char="•"/>
            </a:pPr>
            <a:r>
              <a:rPr b="1" lang="en-US" sz="2400">
                <a:solidFill>
                  <a:srgbClr val="0070C0"/>
                </a:solidFill>
              </a:rPr>
              <a:t>Test Case  5: ABS Response During Cornering</a:t>
            </a:r>
            <a:endParaRPr/>
          </a:p>
          <a:p>
            <a:pPr indent="-342900" lvl="0" marL="457200" rtl="0" algn="l">
              <a:lnSpc>
                <a:spcPct val="90000"/>
              </a:lnSpc>
              <a:spcBef>
                <a:spcPts val="1000"/>
              </a:spcBef>
              <a:spcAft>
                <a:spcPts val="0"/>
              </a:spcAft>
              <a:buSzPct val="88235"/>
              <a:buChar char="•"/>
            </a:pPr>
            <a:r>
              <a:rPr lang="en-US" sz="2400"/>
              <a:t>Objective: Verify the ABS functionality when braking during a turn.</a:t>
            </a:r>
            <a:endParaRPr sz="2000"/>
          </a:p>
          <a:p>
            <a:pPr indent="-342900" lvl="0" marL="457200" rtl="0" algn="l">
              <a:lnSpc>
                <a:spcPct val="90000"/>
              </a:lnSpc>
              <a:spcBef>
                <a:spcPts val="1000"/>
              </a:spcBef>
              <a:spcAft>
                <a:spcPts val="0"/>
              </a:spcAft>
              <a:buSzPct val="88235"/>
              <a:buChar char="•"/>
            </a:pPr>
            <a:r>
              <a:rPr lang="en-US" sz="2400"/>
              <a:t>Preconditions: Vehicle is traveling at 40 km/h on a curved, slippery road.</a:t>
            </a:r>
            <a:endParaRPr sz="2000"/>
          </a:p>
          <a:p>
            <a:pPr indent="-342900" lvl="0" marL="457200" rtl="0" algn="l">
              <a:lnSpc>
                <a:spcPct val="90000"/>
              </a:lnSpc>
              <a:spcBef>
                <a:spcPts val="1000"/>
              </a:spcBef>
              <a:spcAft>
                <a:spcPts val="0"/>
              </a:spcAft>
              <a:buSzPct val="88235"/>
              <a:buChar char="•"/>
            </a:pPr>
            <a:r>
              <a:rPr lang="en-US" sz="2400"/>
              <a:t>Steps:</a:t>
            </a:r>
            <a:endParaRPr sz="2000"/>
          </a:p>
          <a:p>
            <a:pPr indent="-342900" lvl="1" marL="914400" rtl="0" algn="l">
              <a:lnSpc>
                <a:spcPct val="90000"/>
              </a:lnSpc>
              <a:spcBef>
                <a:spcPts val="500"/>
              </a:spcBef>
              <a:spcAft>
                <a:spcPts val="0"/>
              </a:spcAft>
              <a:buSzPct val="117647"/>
              <a:buChar char="•"/>
            </a:pPr>
            <a:r>
              <a:rPr lang="en-US"/>
              <a:t>Apply brakes during the turn.</a:t>
            </a:r>
            <a:endParaRPr sz="1800"/>
          </a:p>
          <a:p>
            <a:pPr indent="-342900" lvl="1" marL="914400" rtl="0" algn="l">
              <a:lnSpc>
                <a:spcPct val="90000"/>
              </a:lnSpc>
              <a:spcBef>
                <a:spcPts val="500"/>
              </a:spcBef>
              <a:spcAft>
                <a:spcPts val="0"/>
              </a:spcAft>
              <a:buSzPct val="117647"/>
              <a:buChar char="•"/>
            </a:pPr>
            <a:r>
              <a:rPr lang="en-US"/>
              <a:t>Monitor the ABS warning light and vehicle behavior.</a:t>
            </a:r>
            <a:endParaRPr sz="1800"/>
          </a:p>
          <a:p>
            <a:pPr indent="-342900" lvl="0" marL="457200" rtl="0" algn="l">
              <a:lnSpc>
                <a:spcPct val="90000"/>
              </a:lnSpc>
              <a:spcBef>
                <a:spcPts val="1000"/>
              </a:spcBef>
              <a:spcAft>
                <a:spcPts val="0"/>
              </a:spcAft>
              <a:buSzPct val="88235"/>
              <a:buChar char="•"/>
            </a:pPr>
            <a:r>
              <a:rPr lang="en-US" sz="2400"/>
              <a:t>Expected Result: The ABS should activate to prevent wheel lockup, maintaining vehicle control and stability through the turn.</a:t>
            </a:r>
            <a:endParaRPr sz="2000"/>
          </a:p>
          <a:p>
            <a:pPr indent="-228600" lvl="0" marL="457200" rtl="0" algn="l">
              <a:lnSpc>
                <a:spcPct val="90000"/>
              </a:lnSpc>
              <a:spcBef>
                <a:spcPts val="1000"/>
              </a:spcBef>
              <a:spcAft>
                <a:spcPts val="0"/>
              </a:spcAft>
              <a:buClr>
                <a:schemeClr val="lt1"/>
              </a:buClr>
              <a:buSzPct val="96256"/>
              <a:buNone/>
            </a:pPr>
            <a:r>
              <a:t/>
            </a:r>
            <a:endParaRPr/>
          </a:p>
        </p:txBody>
      </p:sp>
    </p:spTree>
  </p:cSld>
  <p:clrMapOvr>
    <a:masterClrMapping/>
  </p:clrMapOvr>
  <p:transition spd="slow">
    <p:split orient="vert" dir="in"/>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txBox="1"/>
          <p:nvPr>
            <p:ph type="title"/>
          </p:nvPr>
        </p:nvSpPr>
        <p:spPr>
          <a:xfrm>
            <a:off x="2452662" y="714356"/>
            <a:ext cx="8905980" cy="664363"/>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90000"/>
              </a:lnSpc>
              <a:spcBef>
                <a:spcPts val="0"/>
              </a:spcBef>
              <a:spcAft>
                <a:spcPts val="0"/>
              </a:spcAft>
              <a:buSzPct val="50000"/>
              <a:buNone/>
            </a:pPr>
            <a:r>
              <a:rPr b="1" lang="en-US">
                <a:latin typeface="Bell MT"/>
                <a:ea typeface="Bell MT"/>
                <a:cs typeface="Bell MT"/>
                <a:sym typeface="Bell MT"/>
              </a:rPr>
              <a:t>FUNCTIONALITY OF FLOW CHART </a:t>
            </a:r>
            <a:endParaRPr b="1"/>
          </a:p>
        </p:txBody>
      </p:sp>
      <p:sp>
        <p:nvSpPr>
          <p:cNvPr id="188" name="Google Shape;188;p6"/>
          <p:cNvSpPr txBox="1"/>
          <p:nvPr>
            <p:ph idx="1" type="body"/>
          </p:nvPr>
        </p:nvSpPr>
        <p:spPr>
          <a:xfrm>
            <a:off x="685800" y="1643050"/>
            <a:ext cx="10820400" cy="4857784"/>
          </a:xfrm>
          <a:prstGeom prst="rect">
            <a:avLst/>
          </a:prstGeom>
          <a:noFill/>
          <a:ln>
            <a:noFill/>
          </a:ln>
        </p:spPr>
        <p:txBody>
          <a:bodyPr anchorCtr="0" anchor="t" bIns="45700" lIns="91425" spcFirstLastPara="1" rIns="91425" wrap="square" tIns="45700">
            <a:normAutofit fontScale="85000" lnSpcReduction="20000"/>
          </a:bodyPr>
          <a:lstStyle/>
          <a:p>
            <a:pPr indent="-342900" lvl="0" marL="457200" rtl="0" algn="l">
              <a:lnSpc>
                <a:spcPct val="90000"/>
              </a:lnSpc>
              <a:spcBef>
                <a:spcPts val="1000"/>
              </a:spcBef>
              <a:spcAft>
                <a:spcPts val="0"/>
              </a:spcAft>
              <a:buClr>
                <a:schemeClr val="lt1"/>
              </a:buClr>
              <a:buSzPct val="96256"/>
              <a:buChar char="•"/>
            </a:pPr>
            <a:r>
              <a:rPr b="1" lang="en-US"/>
              <a:t>Initiation of ABS:</a:t>
            </a:r>
            <a:r>
              <a:rPr lang="en-US"/>
              <a:t> The ABS system is active when the vehicle is in motion, typically controlled by the ECU (Electronic Control Unit).</a:t>
            </a:r>
            <a:endParaRPr/>
          </a:p>
          <a:p>
            <a:pPr indent="-342900" lvl="0" marL="457200" rtl="0" algn="l">
              <a:lnSpc>
                <a:spcPct val="90000"/>
              </a:lnSpc>
              <a:spcBef>
                <a:spcPts val="1000"/>
              </a:spcBef>
              <a:spcAft>
                <a:spcPts val="0"/>
              </a:spcAft>
              <a:buClr>
                <a:schemeClr val="lt1"/>
              </a:buClr>
              <a:buSzPct val="96256"/>
              <a:buChar char="•"/>
            </a:pPr>
            <a:r>
              <a:rPr b="1" lang="en-US"/>
              <a:t>Input:</a:t>
            </a:r>
            <a:r>
              <a:rPr lang="en-US"/>
              <a:t> Each wheel is equipped with speed sensors that continuously monitor the rotational speed of the wheels.</a:t>
            </a:r>
            <a:endParaRPr/>
          </a:p>
          <a:p>
            <a:pPr indent="-342900" lvl="0" marL="457200" rtl="0" algn="l">
              <a:lnSpc>
                <a:spcPct val="90000"/>
              </a:lnSpc>
              <a:spcBef>
                <a:spcPts val="1000"/>
              </a:spcBef>
              <a:spcAft>
                <a:spcPts val="0"/>
              </a:spcAft>
              <a:buClr>
                <a:schemeClr val="lt1"/>
              </a:buClr>
              <a:buSzPct val="96256"/>
              <a:buChar char="•"/>
            </a:pPr>
            <a:r>
              <a:rPr b="1" lang="en-US"/>
              <a:t>Data Collection:</a:t>
            </a:r>
            <a:r>
              <a:rPr lang="en-US"/>
              <a:t> The ABS controller gathers real-time data from these sensors to detect any discrepancies.</a:t>
            </a:r>
            <a:endParaRPr/>
          </a:p>
          <a:p>
            <a:pPr indent="-342900" lvl="0" marL="457200" rtl="0" algn="l">
              <a:lnSpc>
                <a:spcPct val="90000"/>
              </a:lnSpc>
              <a:spcBef>
                <a:spcPts val="1000"/>
              </a:spcBef>
              <a:spcAft>
                <a:spcPts val="0"/>
              </a:spcAft>
              <a:buClr>
                <a:schemeClr val="lt1"/>
              </a:buClr>
              <a:buSzPct val="96256"/>
              <a:buChar char="•"/>
            </a:pPr>
            <a:r>
              <a:rPr b="1" lang="en-US"/>
              <a:t>Comparison:</a:t>
            </a:r>
            <a:r>
              <a:rPr lang="en-US"/>
              <a:t> The system compares the speed of each wheel to detect any that are decelerating much faster than others.</a:t>
            </a:r>
            <a:endParaRPr/>
          </a:p>
          <a:p>
            <a:pPr indent="-342900" lvl="0" marL="457200" rtl="0" algn="l">
              <a:lnSpc>
                <a:spcPct val="90000"/>
              </a:lnSpc>
              <a:spcBef>
                <a:spcPts val="1000"/>
              </a:spcBef>
              <a:spcAft>
                <a:spcPts val="0"/>
              </a:spcAft>
              <a:buClr>
                <a:schemeClr val="lt1"/>
              </a:buClr>
              <a:buSzPct val="96256"/>
              <a:buChar char="•"/>
            </a:pPr>
            <a:r>
              <a:rPr b="1" lang="en-US"/>
              <a:t>Action:</a:t>
            </a:r>
            <a:r>
              <a:rPr lang="en-US"/>
              <a:t> If a wheel is detected to be at risk of locking, the ABS control unit activates.</a:t>
            </a:r>
            <a:endParaRPr/>
          </a:p>
          <a:p>
            <a:pPr indent="-342900" lvl="0" marL="457200" rtl="0" algn="l">
              <a:lnSpc>
                <a:spcPct val="90000"/>
              </a:lnSpc>
              <a:spcBef>
                <a:spcPts val="1000"/>
              </a:spcBef>
              <a:spcAft>
                <a:spcPts val="0"/>
              </a:spcAft>
              <a:buClr>
                <a:schemeClr val="lt1"/>
              </a:buClr>
              <a:buSzPct val="96256"/>
              <a:buChar char="•"/>
            </a:pPr>
            <a:r>
              <a:rPr b="1" lang="en-US"/>
              <a:t>Signal:</a:t>
            </a:r>
            <a:r>
              <a:rPr lang="en-US"/>
              <a:t> The control unit sends a signal to the hydraulic modulator to adjust brake pressure on the affected wheel(s).</a:t>
            </a:r>
            <a:endParaRPr/>
          </a:p>
          <a:p>
            <a:pPr indent="-342900" lvl="0" marL="457200" rtl="0" algn="l">
              <a:lnSpc>
                <a:spcPct val="90000"/>
              </a:lnSpc>
              <a:spcBef>
                <a:spcPts val="1000"/>
              </a:spcBef>
              <a:spcAft>
                <a:spcPts val="0"/>
              </a:spcAft>
              <a:buClr>
                <a:schemeClr val="lt1"/>
              </a:buClr>
              <a:buSzPct val="96256"/>
              <a:buChar char="•"/>
            </a:pPr>
            <a:r>
              <a:rPr b="1" lang="en-US"/>
              <a:t>Continuous Monitoring:</a:t>
            </a:r>
            <a:r>
              <a:rPr lang="en-US"/>
              <a:t> While modulating the brake pressure, the ABS continues to monitor wheel speeds.</a:t>
            </a:r>
            <a:endParaRPr/>
          </a:p>
          <a:p>
            <a:pPr indent="-342900" lvl="0" marL="457200" rtl="0" algn="l">
              <a:lnSpc>
                <a:spcPct val="90000"/>
              </a:lnSpc>
              <a:spcBef>
                <a:spcPts val="1000"/>
              </a:spcBef>
              <a:spcAft>
                <a:spcPts val="0"/>
              </a:spcAft>
              <a:buClr>
                <a:schemeClr val="lt1"/>
              </a:buClr>
              <a:buSzPct val="96256"/>
              <a:buChar char="•"/>
            </a:pPr>
            <a:r>
              <a:rPr b="1" lang="en-US"/>
              <a:t>Adjustment:</a:t>
            </a:r>
            <a:r>
              <a:rPr lang="en-US"/>
              <a:t> The system keeps adjusting the brake pressure dynamically to ensure no wheel locks up while maintaining effective braking.</a:t>
            </a:r>
            <a:endParaRPr/>
          </a:p>
          <a:p>
            <a:pPr indent="-342900" lvl="0" marL="457200" rtl="0" algn="l">
              <a:lnSpc>
                <a:spcPct val="90000"/>
              </a:lnSpc>
              <a:spcBef>
                <a:spcPts val="1000"/>
              </a:spcBef>
              <a:spcAft>
                <a:spcPts val="0"/>
              </a:spcAft>
              <a:buClr>
                <a:schemeClr val="lt1"/>
              </a:buClr>
              <a:buSzPct val="96256"/>
              <a:buChar char="•"/>
            </a:pPr>
            <a:r>
              <a:rPr b="1" lang="en-US"/>
              <a:t>Ready State:</a:t>
            </a:r>
            <a:r>
              <a:rPr lang="en-US"/>
              <a:t> The ABS system resets itself and returns to a monitoring state, ready to activate again if another lockup situation is detected.</a:t>
            </a:r>
            <a:endParaRPr/>
          </a:p>
          <a:p>
            <a:pPr indent="-228600" lvl="0" marL="457200" rtl="0" algn="l">
              <a:lnSpc>
                <a:spcPct val="90000"/>
              </a:lnSpc>
              <a:spcBef>
                <a:spcPts val="1000"/>
              </a:spcBef>
              <a:spcAft>
                <a:spcPts val="0"/>
              </a:spcAft>
              <a:buClr>
                <a:schemeClr val="lt1"/>
              </a:buClr>
              <a:buSzPct val="96256"/>
              <a:buNone/>
            </a:pPr>
            <a:r>
              <a:t/>
            </a:r>
            <a:endParaRPr/>
          </a:p>
        </p:txBody>
      </p:sp>
    </p:spTree>
  </p:cSld>
  <p:clrMapOvr>
    <a:masterClrMapping/>
  </p:clrMapOvr>
  <p:transition spd="slow">
    <p:split orient="vert" dir="in"/>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1800"/>
              <a:buNone/>
            </a:pPr>
            <a:r>
              <a:t/>
            </a:r>
            <a:endParaRPr/>
          </a:p>
        </p:txBody>
      </p:sp>
      <p:pic>
        <p:nvPicPr>
          <p:cNvPr descr="flowchart for abs.png" id="194" name="Google Shape;194;p7"/>
          <p:cNvPicPr preferRelativeResize="0"/>
          <p:nvPr/>
        </p:nvPicPr>
        <p:blipFill rotWithShape="1">
          <a:blip r:embed="rId3">
            <a:alphaModFix/>
          </a:blip>
          <a:srcRect b="0" l="0" r="0" t="0"/>
          <a:stretch/>
        </p:blipFill>
        <p:spPr>
          <a:xfrm>
            <a:off x="2024034" y="714356"/>
            <a:ext cx="9644130" cy="5948385"/>
          </a:xfrm>
          <a:prstGeom prst="rect">
            <a:avLst/>
          </a:prstGeom>
          <a:noFill/>
          <a:ln>
            <a:noFill/>
          </a:ln>
        </p:spPr>
      </p:pic>
    </p:spTree>
  </p:cSld>
  <p:clrMapOvr>
    <a:masterClrMapping/>
  </p:clrMapOvr>
  <p:transition spd="slow">
    <p:split orient="vert" dir="in"/>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00"/>
              <a:buNone/>
            </a:pPr>
            <a:r>
              <a:rPr b="1" lang="en-US"/>
              <a:t>AUTOSAR CONFIGURATION</a:t>
            </a:r>
            <a:endParaRPr b="1"/>
          </a:p>
        </p:txBody>
      </p:sp>
      <p:sp>
        <p:nvSpPr>
          <p:cNvPr id="200" name="Google Shape;200;p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l">
              <a:lnSpc>
                <a:spcPct val="90000"/>
              </a:lnSpc>
              <a:spcBef>
                <a:spcPts val="1000"/>
              </a:spcBef>
              <a:spcAft>
                <a:spcPts val="0"/>
              </a:spcAft>
              <a:buSzPct val="88452"/>
              <a:buChar char="•"/>
            </a:pPr>
            <a:r>
              <a:rPr lang="en-US"/>
              <a:t>ECU Configuration: Configure the ECUs responsible for ABS and HMI. This involves setting up communication protocols, memory allocation, and task scheduling.</a:t>
            </a:r>
            <a:endParaRPr/>
          </a:p>
          <a:p>
            <a:pPr indent="-342900" lvl="0" marL="457200" rtl="0" algn="l">
              <a:lnSpc>
                <a:spcPct val="90000"/>
              </a:lnSpc>
              <a:spcBef>
                <a:spcPts val="1000"/>
              </a:spcBef>
              <a:spcAft>
                <a:spcPts val="0"/>
              </a:spcAft>
              <a:buSzPct val="88452"/>
              <a:buChar char="•"/>
            </a:pPr>
            <a:r>
              <a:rPr lang="en-US"/>
              <a:t>Signal Configuration: Define the signals that will be exchanged between ABS, HMI, and other systems. Configure these signals in the COM module of the BSW.</a:t>
            </a:r>
            <a:endParaRPr/>
          </a:p>
          <a:p>
            <a:pPr indent="-342900" lvl="0" marL="457200" rtl="0" algn="l">
              <a:lnSpc>
                <a:spcPct val="90000"/>
              </a:lnSpc>
              <a:spcBef>
                <a:spcPts val="1000"/>
              </a:spcBef>
              <a:spcAft>
                <a:spcPts val="0"/>
              </a:spcAft>
              <a:buSzPct val="88452"/>
              <a:buChar char="•"/>
            </a:pPr>
            <a:r>
              <a:rPr lang="en-US"/>
              <a:t>RTE Configuration: Finalize the RTE configuration to ensure all SWCs communicate correctly with each other.</a:t>
            </a:r>
            <a:endParaRPr/>
          </a:p>
          <a:p>
            <a:pPr indent="-342900" lvl="0" marL="457200" rtl="0" algn="l">
              <a:lnSpc>
                <a:spcPct val="90000"/>
              </a:lnSpc>
              <a:spcBef>
                <a:spcPts val="1000"/>
              </a:spcBef>
              <a:spcAft>
                <a:spcPts val="0"/>
              </a:spcAft>
              <a:buSzPct val="88452"/>
              <a:buChar char="•"/>
            </a:pPr>
            <a:r>
              <a:rPr b="1" lang="en-US"/>
              <a:t>AUTOSAR Compliance</a:t>
            </a:r>
            <a:r>
              <a:rPr lang="en-US"/>
              <a:t>: Ensure the system must be compliant with AUTOSAR standards, particularly for safety-critical components.</a:t>
            </a:r>
            <a:endParaRPr/>
          </a:p>
          <a:p>
            <a:pPr indent="-342900" lvl="0" marL="457200" rtl="0" algn="l">
              <a:lnSpc>
                <a:spcPct val="90000"/>
              </a:lnSpc>
              <a:spcBef>
                <a:spcPts val="1000"/>
              </a:spcBef>
              <a:spcAft>
                <a:spcPts val="0"/>
              </a:spcAft>
              <a:buSzPct val="88452"/>
              <a:buChar char="•"/>
            </a:pPr>
            <a:r>
              <a:rPr b="1" lang="en-US"/>
              <a:t>Microcontroller Abstraction Layer (MCAL)</a:t>
            </a:r>
            <a:r>
              <a:rPr lang="en-US"/>
              <a:t>: Configure the MCAL to abstract the hardware-specific features of the ABS, such as reading wheel speed sensors and controlling actuators.</a:t>
            </a:r>
            <a:endParaRPr/>
          </a:p>
          <a:p>
            <a:pPr indent="-342900" lvl="0" marL="457200" rtl="0" algn="l">
              <a:lnSpc>
                <a:spcPct val="90000"/>
              </a:lnSpc>
              <a:spcBef>
                <a:spcPts val="1000"/>
              </a:spcBef>
              <a:spcAft>
                <a:spcPts val="0"/>
              </a:spcAft>
              <a:buSzPct val="88452"/>
              <a:buChar char="•"/>
            </a:pPr>
            <a:r>
              <a:rPr b="1" lang="en-US"/>
              <a:t>ECU Abstraction Layer</a:t>
            </a:r>
            <a:r>
              <a:rPr lang="en-US"/>
              <a:t>: Ensure this layer is configured to manage communication between the application software and the hardware.</a:t>
            </a:r>
            <a:endParaRPr/>
          </a:p>
          <a:p>
            <a:pPr indent="-342900" lvl="0" marL="457200" rtl="0" algn="l">
              <a:lnSpc>
                <a:spcPct val="90000"/>
              </a:lnSpc>
              <a:spcBef>
                <a:spcPts val="1000"/>
              </a:spcBef>
              <a:spcAft>
                <a:spcPts val="0"/>
              </a:spcAft>
              <a:buSzPct val="88452"/>
              <a:buNone/>
            </a:pPr>
            <a:r>
              <a:t/>
            </a:r>
            <a:endParaRPr/>
          </a:p>
        </p:txBody>
      </p:sp>
    </p:spTree>
  </p:cSld>
  <p:clrMapOvr>
    <a:masterClrMapping/>
  </p:clrMapOvr>
  <p:transition spd="slow">
    <p:split orient="vert" dir="in"/>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1800"/>
              <a:buNone/>
            </a:pPr>
            <a:r>
              <a:t/>
            </a:r>
            <a:endParaRPr/>
          </a:p>
        </p:txBody>
      </p:sp>
      <p:pic>
        <p:nvPicPr>
          <p:cNvPr descr="Screenshot_4.png" id="206" name="Google Shape;206;p9"/>
          <p:cNvPicPr preferRelativeResize="0"/>
          <p:nvPr/>
        </p:nvPicPr>
        <p:blipFill rotWithShape="1">
          <a:blip r:embed="rId3">
            <a:alphaModFix/>
          </a:blip>
          <a:srcRect b="0" l="0" r="0" t="0"/>
          <a:stretch/>
        </p:blipFill>
        <p:spPr>
          <a:xfrm>
            <a:off x="2024034" y="785794"/>
            <a:ext cx="9715568" cy="5586756"/>
          </a:xfrm>
          <a:prstGeom prst="rect">
            <a:avLst/>
          </a:prstGeom>
          <a:noFill/>
          <a:ln>
            <a:noFill/>
          </a:ln>
        </p:spPr>
      </p:pic>
    </p:spTree>
  </p:cSld>
  <p:clrMapOvr>
    <a:masterClrMapping/>
  </p:clrMapOvr>
  <p:transition spd="slow">
    <p:split orient="vert" dir="in"/>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title"/>
          </p:nvPr>
        </p:nvSpPr>
        <p:spPr>
          <a:xfrm>
            <a:off x="1523968" y="500042"/>
            <a:ext cx="9982232"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1800"/>
              <a:buNone/>
            </a:pPr>
            <a:r>
              <a:rPr b="1" lang="en-US"/>
              <a:t>AUTOSAR SIMULATION AND VALIDATION</a:t>
            </a:r>
            <a:br>
              <a:rPr lang="en-US"/>
            </a:br>
            <a:endParaRPr/>
          </a:p>
        </p:txBody>
      </p:sp>
      <p:sp>
        <p:nvSpPr>
          <p:cNvPr id="212" name="Google Shape;212;p10"/>
          <p:cNvSpPr txBox="1"/>
          <p:nvPr>
            <p:ph idx="1" type="body"/>
          </p:nvPr>
        </p:nvSpPr>
        <p:spPr>
          <a:xfrm>
            <a:off x="685800" y="1857364"/>
            <a:ext cx="10820400" cy="464347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Clr>
                <a:schemeClr val="lt1"/>
              </a:buClr>
              <a:buSzPts val="1800"/>
              <a:buChar char="•"/>
            </a:pPr>
            <a:r>
              <a:rPr b="1" lang="en-US"/>
              <a:t>HMI Integration:</a:t>
            </a:r>
            <a:r>
              <a:rPr lang="en-US"/>
              <a:t> If your project involves an HMI, simulate user interactions with the interface and how it impacts the underlying AUTOSAR components.</a:t>
            </a:r>
            <a:endParaRPr/>
          </a:p>
          <a:p>
            <a:pPr indent="-342900" lvl="0" marL="457200" rtl="0" algn="l">
              <a:lnSpc>
                <a:spcPct val="90000"/>
              </a:lnSpc>
              <a:spcBef>
                <a:spcPts val="1000"/>
              </a:spcBef>
              <a:spcAft>
                <a:spcPts val="0"/>
              </a:spcAft>
              <a:buClr>
                <a:schemeClr val="lt1"/>
              </a:buClr>
              <a:buSzPts val="1800"/>
              <a:buChar char="•"/>
            </a:pPr>
            <a:r>
              <a:rPr b="1" lang="en-US"/>
              <a:t>ABS Simulation:</a:t>
            </a:r>
            <a:r>
              <a:rPr lang="en-US"/>
              <a:t> For an ABS system, simulate various driving conditions (e.g., different road surfaces, braking scenarios) and validate how the ABS software component interacts with sensors and actuators.</a:t>
            </a:r>
            <a:endParaRPr/>
          </a:p>
          <a:p>
            <a:pPr indent="-342900" lvl="0" marL="457200" rtl="0" algn="l">
              <a:lnSpc>
                <a:spcPct val="90000"/>
              </a:lnSpc>
              <a:spcBef>
                <a:spcPts val="1000"/>
              </a:spcBef>
              <a:spcAft>
                <a:spcPts val="0"/>
              </a:spcAft>
              <a:buClr>
                <a:schemeClr val="lt1"/>
              </a:buClr>
              <a:buSzPts val="1800"/>
              <a:buChar char="•"/>
            </a:pPr>
            <a:r>
              <a:rPr b="1" lang="en-US"/>
              <a:t>Requirement Traceability:</a:t>
            </a:r>
            <a:r>
              <a:rPr lang="en-US"/>
              <a:t> Ensure that all system requirements are traced to the implemented SWCs and validated through test cases.</a:t>
            </a:r>
            <a:endParaRPr/>
          </a:p>
          <a:p>
            <a:pPr indent="-342900" lvl="0" marL="457200" rtl="0" algn="l">
              <a:lnSpc>
                <a:spcPct val="90000"/>
              </a:lnSpc>
              <a:spcBef>
                <a:spcPts val="1000"/>
              </a:spcBef>
              <a:spcAft>
                <a:spcPts val="0"/>
              </a:spcAft>
              <a:buClr>
                <a:schemeClr val="lt1"/>
              </a:buClr>
              <a:buSzPts val="1800"/>
              <a:buChar char="•"/>
            </a:pPr>
            <a:r>
              <a:rPr b="1" lang="en-US"/>
              <a:t>Automated Testing:</a:t>
            </a:r>
            <a:r>
              <a:rPr lang="en-US"/>
              <a:t> Use tools like CANoe, CAPL, or Python scripts for automated testing of the AUTOSAR system. This helps in running regression tests and ensures consistent validation across different builds.</a:t>
            </a:r>
            <a:endParaRPr/>
          </a:p>
          <a:p>
            <a:pPr indent="-342900" lvl="0" marL="457200" rtl="0" algn="l">
              <a:lnSpc>
                <a:spcPct val="90000"/>
              </a:lnSpc>
              <a:spcBef>
                <a:spcPts val="1000"/>
              </a:spcBef>
              <a:spcAft>
                <a:spcPts val="0"/>
              </a:spcAft>
              <a:buClr>
                <a:schemeClr val="lt1"/>
              </a:buClr>
              <a:buSzPts val="1800"/>
              <a:buChar char="•"/>
            </a:pPr>
            <a:r>
              <a:rPr b="1" lang="en-US"/>
              <a:t>Test Reports and Documentation:</a:t>
            </a:r>
            <a:r>
              <a:rPr lang="en-US"/>
              <a:t> Generate detailed test reports that document the test cases, results, and any issues encountered. This includes the test plan, test matrix, and coverage analysis.</a:t>
            </a:r>
            <a:endParaRPr/>
          </a:p>
        </p:txBody>
      </p:sp>
    </p:spTree>
  </p:cSld>
  <p:clrMapOvr>
    <a:masterClrMapping/>
  </p:clrMapOvr>
  <p:transition spd="slow">
    <p:split orient="vert" dir="in"/>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2895600" y="764373"/>
            <a:ext cx="8610600" cy="950115"/>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00"/>
              <a:buNone/>
            </a:pPr>
            <a:r>
              <a:rPr lang="en-US">
                <a:latin typeface="Bell MT"/>
                <a:ea typeface="Bell MT"/>
                <a:cs typeface="Bell MT"/>
                <a:sym typeface="Bell MT"/>
              </a:rPr>
              <a:t>TESTING METHODOLOGIES</a:t>
            </a:r>
            <a:endParaRPr/>
          </a:p>
        </p:txBody>
      </p:sp>
      <p:sp>
        <p:nvSpPr>
          <p:cNvPr id="218" name="Google Shape;218;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None/>
            </a:pPr>
            <a:r>
              <a:t/>
            </a:r>
            <a:endParaRPr/>
          </a:p>
          <a:p>
            <a:pPr indent="-342900" lvl="0" marL="457200" rtl="0" algn="l">
              <a:lnSpc>
                <a:spcPct val="90000"/>
              </a:lnSpc>
              <a:spcBef>
                <a:spcPts val="1000"/>
              </a:spcBef>
              <a:spcAft>
                <a:spcPts val="0"/>
              </a:spcAft>
              <a:buClr>
                <a:schemeClr val="lt1"/>
              </a:buClr>
              <a:buSzPts val="1800"/>
              <a:buChar char="•"/>
            </a:pPr>
            <a:r>
              <a:rPr lang="en-US"/>
              <a:t>Unit  testing</a:t>
            </a:r>
            <a:endParaRPr/>
          </a:p>
          <a:p>
            <a:pPr indent="-342900" lvl="0" marL="457200" rtl="0" algn="l">
              <a:lnSpc>
                <a:spcPct val="90000"/>
              </a:lnSpc>
              <a:spcBef>
                <a:spcPts val="1000"/>
              </a:spcBef>
              <a:spcAft>
                <a:spcPts val="0"/>
              </a:spcAft>
              <a:buClr>
                <a:schemeClr val="lt1"/>
              </a:buClr>
              <a:buSzPts val="1800"/>
              <a:buChar char="•"/>
            </a:pPr>
            <a:r>
              <a:rPr lang="en-US"/>
              <a:t>Integration testing</a:t>
            </a:r>
            <a:endParaRPr/>
          </a:p>
          <a:p>
            <a:pPr indent="-342900" lvl="0" marL="457200" rtl="0" algn="l">
              <a:lnSpc>
                <a:spcPct val="90000"/>
              </a:lnSpc>
              <a:spcBef>
                <a:spcPts val="1000"/>
              </a:spcBef>
              <a:spcAft>
                <a:spcPts val="0"/>
              </a:spcAft>
              <a:buClr>
                <a:schemeClr val="lt1"/>
              </a:buClr>
              <a:buSzPts val="1800"/>
              <a:buChar char="•"/>
            </a:pPr>
            <a:r>
              <a:rPr lang="en-US"/>
              <a:t>Agile testing</a:t>
            </a:r>
            <a:endParaRPr/>
          </a:p>
          <a:p>
            <a:pPr indent="-342900" lvl="0" marL="457200" rtl="0" algn="l">
              <a:lnSpc>
                <a:spcPct val="90000"/>
              </a:lnSpc>
              <a:spcBef>
                <a:spcPts val="1000"/>
              </a:spcBef>
              <a:spcAft>
                <a:spcPts val="0"/>
              </a:spcAft>
              <a:buClr>
                <a:schemeClr val="lt1"/>
              </a:buClr>
              <a:buSzPts val="1800"/>
              <a:buChar char="•"/>
            </a:pPr>
            <a:r>
              <a:rPr lang="en-US"/>
              <a:t>Performance testing</a:t>
            </a:r>
            <a:endParaRPr/>
          </a:p>
          <a:p>
            <a:pPr indent="-342900" lvl="0" marL="457200" rtl="0" algn="l">
              <a:lnSpc>
                <a:spcPct val="90000"/>
              </a:lnSpc>
              <a:spcBef>
                <a:spcPts val="1000"/>
              </a:spcBef>
              <a:spcAft>
                <a:spcPts val="0"/>
              </a:spcAft>
              <a:buClr>
                <a:schemeClr val="lt1"/>
              </a:buClr>
              <a:buSzPts val="1800"/>
              <a:buChar char="•"/>
            </a:pPr>
            <a:r>
              <a:rPr lang="en-US"/>
              <a:t>Regression testing</a:t>
            </a:r>
            <a:endParaRPr/>
          </a:p>
          <a:p>
            <a:pPr indent="-342900" lvl="0" marL="457200" rtl="0" algn="l">
              <a:lnSpc>
                <a:spcPct val="90000"/>
              </a:lnSpc>
              <a:spcBef>
                <a:spcPts val="1000"/>
              </a:spcBef>
              <a:spcAft>
                <a:spcPts val="0"/>
              </a:spcAft>
              <a:buClr>
                <a:schemeClr val="lt1"/>
              </a:buClr>
              <a:buSzPts val="1800"/>
              <a:buChar char="•"/>
            </a:pPr>
            <a:r>
              <a:rPr lang="en-US"/>
              <a:t>User acceptance testing</a:t>
            </a:r>
            <a:endParaRPr/>
          </a:p>
          <a:p>
            <a:pPr indent="-342900" lvl="0" marL="457200" rtl="0" algn="l">
              <a:lnSpc>
                <a:spcPct val="90000"/>
              </a:lnSpc>
              <a:spcBef>
                <a:spcPts val="1000"/>
              </a:spcBef>
              <a:spcAft>
                <a:spcPts val="0"/>
              </a:spcAft>
              <a:buClr>
                <a:schemeClr val="lt1"/>
              </a:buClr>
              <a:buSzPts val="1800"/>
              <a:buChar char="•"/>
            </a:pPr>
            <a:r>
              <a:rPr lang="en-US"/>
              <a:t>System testing</a:t>
            </a:r>
            <a:endParaRPr/>
          </a:p>
          <a:p>
            <a:pPr indent="-342900" lvl="0" marL="457200" rtl="0" algn="l">
              <a:lnSpc>
                <a:spcPct val="90000"/>
              </a:lnSpc>
              <a:spcBef>
                <a:spcPts val="1000"/>
              </a:spcBef>
              <a:spcAft>
                <a:spcPts val="0"/>
              </a:spcAft>
              <a:buClr>
                <a:schemeClr val="lt1"/>
              </a:buClr>
              <a:buSzPts val="1800"/>
              <a:buChar char="•"/>
            </a:pPr>
            <a:r>
              <a:rPr lang="en-US"/>
              <a:t>Exploratory Testing</a:t>
            </a:r>
            <a:endParaRPr/>
          </a:p>
          <a:p>
            <a:pPr indent="-228600" lvl="0" marL="457200" rtl="0" algn="l">
              <a:lnSpc>
                <a:spcPct val="90000"/>
              </a:lnSpc>
              <a:spcBef>
                <a:spcPts val="1000"/>
              </a:spcBef>
              <a:spcAft>
                <a:spcPts val="0"/>
              </a:spcAft>
              <a:buClr>
                <a:schemeClr val="lt1"/>
              </a:buClr>
              <a:buSzPts val="1800"/>
              <a:buNone/>
            </a:pPr>
            <a:r>
              <a:t/>
            </a:r>
            <a:endParaRPr/>
          </a:p>
        </p:txBody>
      </p:sp>
    </p:spTree>
  </p:cSld>
  <p:clrMapOvr>
    <a:masterClrMapping/>
  </p:clrMapOvr>
  <p:transition spd="slow">
    <p:split orient="vert" dir="in"/>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type="title"/>
          </p:nvPr>
        </p:nvSpPr>
        <p:spPr>
          <a:xfrm>
            <a:off x="2524100" y="428605"/>
            <a:ext cx="8982100" cy="1143008"/>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00"/>
              <a:buNone/>
            </a:pPr>
            <a:r>
              <a:rPr b="1" lang="en-US"/>
              <a:t>TRACEABILTY MATRIX </a:t>
            </a:r>
            <a:endParaRPr b="1"/>
          </a:p>
        </p:txBody>
      </p:sp>
      <p:sp>
        <p:nvSpPr>
          <p:cNvPr id="224" name="Google Shape;224;p12"/>
          <p:cNvSpPr txBox="1"/>
          <p:nvPr>
            <p:ph idx="1" type="body"/>
          </p:nvPr>
        </p:nvSpPr>
        <p:spPr>
          <a:xfrm>
            <a:off x="685800" y="1428736"/>
            <a:ext cx="10820400" cy="5429264"/>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just">
              <a:lnSpc>
                <a:spcPct val="90000"/>
              </a:lnSpc>
              <a:spcBef>
                <a:spcPts val="1000"/>
              </a:spcBef>
              <a:spcAft>
                <a:spcPts val="0"/>
              </a:spcAft>
              <a:buSzPct val="88452"/>
              <a:buNone/>
            </a:pPr>
            <a:r>
              <a:rPr lang="en-US"/>
              <a:t>     A Traceability Matrix for an Anti-lock Braking System (ABS) is a document that maps and traces the relationship between requirements, test cases, and other artifacts (such as design documents, code, etc.) throughout the lifecycle of the project. The purpose of a Traceability Matrix is to ensure that all requirements are covered by test cases and that all tests can be traced back to their corresponding requirements. This helps in identifying any gaps in testing and ensuring comprehensive coverage.</a:t>
            </a:r>
            <a:endParaRPr/>
          </a:p>
          <a:p>
            <a:pPr indent="-342900" lvl="0" marL="457200" rtl="0" algn="l">
              <a:lnSpc>
                <a:spcPct val="90000"/>
              </a:lnSpc>
              <a:spcBef>
                <a:spcPts val="1000"/>
              </a:spcBef>
              <a:spcAft>
                <a:spcPts val="0"/>
              </a:spcAft>
              <a:buSzPct val="88452"/>
              <a:buNone/>
            </a:pPr>
            <a:r>
              <a:rPr b="1" lang="en-US"/>
              <a:t>Components of a Traceability Matrix for ABS</a:t>
            </a:r>
            <a:endParaRPr/>
          </a:p>
          <a:p>
            <a:pPr indent="-342900" lvl="0" marL="457200" rtl="0" algn="l">
              <a:lnSpc>
                <a:spcPct val="90000"/>
              </a:lnSpc>
              <a:spcBef>
                <a:spcPts val="1000"/>
              </a:spcBef>
              <a:spcAft>
                <a:spcPts val="0"/>
              </a:spcAft>
              <a:buSzPct val="88452"/>
              <a:buChar char="•"/>
            </a:pPr>
            <a:r>
              <a:rPr lang="en-US"/>
              <a:t>Requirement ID: A unique identifier for each requirement related to the ABS.</a:t>
            </a:r>
            <a:endParaRPr/>
          </a:p>
          <a:p>
            <a:pPr indent="-342900" lvl="0" marL="457200" rtl="0" algn="l">
              <a:lnSpc>
                <a:spcPct val="90000"/>
              </a:lnSpc>
              <a:spcBef>
                <a:spcPts val="1000"/>
              </a:spcBef>
              <a:spcAft>
                <a:spcPts val="0"/>
              </a:spcAft>
              <a:buSzPct val="88452"/>
              <a:buChar char="•"/>
            </a:pPr>
            <a:r>
              <a:rPr lang="en-US"/>
              <a:t>Requirement Description: A detailed description of the ABS requirement.</a:t>
            </a:r>
            <a:endParaRPr/>
          </a:p>
          <a:p>
            <a:pPr indent="-342900" lvl="0" marL="457200" rtl="0" algn="l">
              <a:lnSpc>
                <a:spcPct val="90000"/>
              </a:lnSpc>
              <a:spcBef>
                <a:spcPts val="1000"/>
              </a:spcBef>
              <a:spcAft>
                <a:spcPts val="0"/>
              </a:spcAft>
              <a:buSzPct val="88452"/>
              <a:buChar char="•"/>
            </a:pPr>
            <a:r>
              <a:rPr lang="en-US"/>
              <a:t>Design Specification ID: The identifier for the design document or specification that    fulfills the requirement.</a:t>
            </a:r>
            <a:endParaRPr/>
          </a:p>
          <a:p>
            <a:pPr indent="-342900" lvl="0" marL="457200" rtl="0" algn="l">
              <a:lnSpc>
                <a:spcPct val="90000"/>
              </a:lnSpc>
              <a:spcBef>
                <a:spcPts val="1000"/>
              </a:spcBef>
              <a:spcAft>
                <a:spcPts val="0"/>
              </a:spcAft>
              <a:buSzPct val="88452"/>
              <a:buChar char="•"/>
            </a:pPr>
            <a:r>
              <a:rPr lang="en-US"/>
              <a:t>Test Case ID: The identifier for the test case that verifies the requirement.</a:t>
            </a:r>
            <a:endParaRPr/>
          </a:p>
          <a:p>
            <a:pPr indent="-342900" lvl="0" marL="457200" rtl="0" algn="l">
              <a:lnSpc>
                <a:spcPct val="90000"/>
              </a:lnSpc>
              <a:spcBef>
                <a:spcPts val="1000"/>
              </a:spcBef>
              <a:spcAft>
                <a:spcPts val="0"/>
              </a:spcAft>
              <a:buSzPct val="88452"/>
              <a:buChar char="•"/>
            </a:pPr>
            <a:r>
              <a:rPr lang="en-US"/>
              <a:t>Test Case Description: A brief description of the test case.</a:t>
            </a:r>
            <a:endParaRPr/>
          </a:p>
          <a:p>
            <a:pPr indent="-342900" lvl="0" marL="457200" rtl="0" algn="l">
              <a:lnSpc>
                <a:spcPct val="90000"/>
              </a:lnSpc>
              <a:spcBef>
                <a:spcPts val="1000"/>
              </a:spcBef>
              <a:spcAft>
                <a:spcPts val="0"/>
              </a:spcAft>
              <a:buSzPct val="88452"/>
              <a:buChar char="•"/>
            </a:pPr>
            <a:r>
              <a:rPr lang="en-US"/>
              <a:t>Status: Indicates whether the requirement has been met, such as "Passed," "Failed," "In Progress," etc.</a:t>
            </a:r>
            <a:endParaRPr/>
          </a:p>
          <a:p>
            <a:pPr indent="-342900" lvl="0" marL="457200" rtl="0" algn="l">
              <a:lnSpc>
                <a:spcPct val="90000"/>
              </a:lnSpc>
              <a:spcBef>
                <a:spcPts val="1000"/>
              </a:spcBef>
              <a:spcAft>
                <a:spcPts val="0"/>
              </a:spcAft>
              <a:buSzPct val="88452"/>
              <a:buChar char="•"/>
            </a:pPr>
            <a:r>
              <a:rPr lang="en-US"/>
              <a:t>Comments: Any additional information, such as dependencies, issues, or remarks.</a:t>
            </a:r>
            <a:endParaRPr/>
          </a:p>
          <a:p>
            <a:pPr indent="-342900" lvl="0" marL="457200" rtl="0" algn="l">
              <a:lnSpc>
                <a:spcPct val="90000"/>
              </a:lnSpc>
              <a:spcBef>
                <a:spcPts val="1000"/>
              </a:spcBef>
              <a:spcAft>
                <a:spcPts val="0"/>
              </a:spcAft>
              <a:buSzPct val="88452"/>
              <a:buNone/>
            </a:pPr>
            <a:r>
              <a:t/>
            </a:r>
            <a:endParaRPr/>
          </a:p>
        </p:txBody>
      </p:sp>
    </p:spTree>
  </p:cSld>
  <p:clrMapOvr>
    <a:masterClrMapping/>
  </p:clrMapOvr>
  <p:transition spd="slow">
    <p:split orient="vert" dir="in"/>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1800"/>
              <a:buNone/>
            </a:pPr>
            <a:r>
              <a:t/>
            </a:r>
            <a:endParaRPr/>
          </a:p>
        </p:txBody>
      </p:sp>
      <p:pic>
        <p:nvPicPr>
          <p:cNvPr descr="trace.png" id="230" name="Google Shape;230;p13"/>
          <p:cNvPicPr preferRelativeResize="0"/>
          <p:nvPr/>
        </p:nvPicPr>
        <p:blipFill rotWithShape="1">
          <a:blip r:embed="rId3">
            <a:alphaModFix/>
          </a:blip>
          <a:srcRect b="0" l="0" r="0" t="0"/>
          <a:stretch/>
        </p:blipFill>
        <p:spPr>
          <a:xfrm>
            <a:off x="484991" y="571480"/>
            <a:ext cx="11222017" cy="5857916"/>
          </a:xfrm>
          <a:prstGeom prst="rect">
            <a:avLst/>
          </a:prstGeom>
          <a:noFill/>
          <a:ln>
            <a:noFill/>
          </a:ln>
        </p:spPr>
      </p:pic>
    </p:spTree>
  </p:cSld>
  <p:clrMapOvr>
    <a:masterClrMapping/>
  </p:clrMapOvr>
  <p:transition spd="slow">
    <p:split orient="vert" dir="in"/>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SzPts val="1800"/>
              <a:buNone/>
            </a:pPr>
            <a:r>
              <a:rPr b="1" lang="en-US"/>
              <a:t>CONCLUSION</a:t>
            </a:r>
            <a:endParaRPr b="1"/>
          </a:p>
        </p:txBody>
      </p:sp>
      <p:sp>
        <p:nvSpPr>
          <p:cNvPr id="236" name="Google Shape;236;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None/>
            </a:pPr>
            <a:r>
              <a:rPr lang="en-US"/>
              <a:t>    The successful completion of this capstone project demonstrates the effectiveness of an integrated approach to developing and testing automotive systems with AUTOSAR. By combining HMI integration, comprehensive simulations, and a well-structured testing process, we have ensured that the ABS system is reliable, safe, and ready for real-world deployment. The project not only highlights the importance of rigorous testing in the automotive industry but also sets a benchmark for future developments in AUTOSAR-integrated systems.</a:t>
            </a:r>
            <a:endParaRPr/>
          </a:p>
          <a:p>
            <a:pPr indent="-342900" lvl="0" marL="457200" rtl="0" algn="l">
              <a:lnSpc>
                <a:spcPct val="90000"/>
              </a:lnSpc>
              <a:spcBef>
                <a:spcPts val="1000"/>
              </a:spcBef>
              <a:spcAft>
                <a:spcPts val="0"/>
              </a:spcAft>
              <a:buSzPts val="1800"/>
              <a:buNone/>
            </a:pPr>
            <a:r>
              <a:t/>
            </a:r>
            <a:endParaRPr/>
          </a:p>
        </p:txBody>
      </p:sp>
    </p:spTree>
  </p:cSld>
  <p:clrMapOvr>
    <a:masterClrMapping/>
  </p:clrMapOvr>
  <p:transition spd="slow">
    <p:split orient="vert" dir="in"/>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7"/>
          <p:cNvPicPr preferRelativeResize="0"/>
          <p:nvPr/>
        </p:nvPicPr>
        <p:blipFill rotWithShape="1">
          <a:blip r:embed="rId3">
            <a:alphaModFix/>
          </a:blip>
          <a:srcRect b="0" l="0" r="0" t="0"/>
          <a:stretch/>
        </p:blipFill>
        <p:spPr>
          <a:xfrm>
            <a:off x="0" y="1837773"/>
            <a:ext cx="12192000" cy="6348972"/>
          </a:xfrm>
          <a:prstGeom prst="rect">
            <a:avLst/>
          </a:prstGeom>
          <a:noFill/>
          <a:ln>
            <a:noFill/>
          </a:ln>
        </p:spPr>
      </p:pic>
      <p:sp>
        <p:nvSpPr>
          <p:cNvPr id="242" name="Google Shape;242;p17"/>
          <p:cNvSpPr txBox="1"/>
          <p:nvPr>
            <p:ph type="title"/>
          </p:nvPr>
        </p:nvSpPr>
        <p:spPr>
          <a:xfrm>
            <a:off x="1790700" y="2889009"/>
            <a:ext cx="8610600" cy="1293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7200"/>
              <a:buFont typeface="Algerian"/>
              <a:buNone/>
            </a:pPr>
            <a:r>
              <a:rPr lang="en-US" sz="7200">
                <a:latin typeface="Algerian"/>
                <a:ea typeface="Algerian"/>
                <a:cs typeface="Algerian"/>
                <a:sym typeface="Algerian"/>
              </a:rPr>
              <a:t>THANK YOU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2024-06-03T10:32:55Z</dcterms:created>
  <dc:creator>Hrushikesh Pawar</dc:creator>
</cp:coreProperties>
</file>